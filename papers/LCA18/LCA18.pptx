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0.jpg" ContentType="image/jpeg"/>
  <Override PartName="/ppt/media/image11.jpg" ContentType="image/jpeg"/>
  <Override PartName="/ppt/notesSlides/notesSlide3.xml" ContentType="application/vnd.openxmlformats-officedocument.presentationml.notesSlide+xml"/>
  <Override PartName="/ppt/media/image17.jpg" ContentType="image/jpeg"/>
  <Override PartName="/ppt/media/image18.jpg" ContentType="image/jpeg"/>
  <Override PartName="/ppt/media/image19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459" r:id="rId3"/>
    <p:sldId id="474" r:id="rId4"/>
    <p:sldId id="470" r:id="rId5"/>
    <p:sldId id="472" r:id="rId6"/>
    <p:sldId id="462" r:id="rId7"/>
    <p:sldId id="408" r:id="rId8"/>
    <p:sldId id="410" r:id="rId9"/>
    <p:sldId id="411" r:id="rId10"/>
    <p:sldId id="465" r:id="rId11"/>
    <p:sldId id="412" r:id="rId12"/>
    <p:sldId id="466" r:id="rId13"/>
    <p:sldId id="475" r:id="rId14"/>
    <p:sldId id="467" r:id="rId15"/>
    <p:sldId id="476" r:id="rId16"/>
    <p:sldId id="478" r:id="rId17"/>
    <p:sldId id="468" r:id="rId18"/>
    <p:sldId id="382" r:id="rId19"/>
    <p:sldId id="458" r:id="rId20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  <a:srgbClr val="003D6C"/>
    <a:srgbClr val="009051"/>
    <a:srgbClr val="FF8AD8"/>
    <a:srgbClr val="73FB79"/>
    <a:srgbClr val="A84FCF"/>
    <a:srgbClr val="54E9F0"/>
    <a:srgbClr val="FFFFB9"/>
    <a:srgbClr val="FF7E79"/>
    <a:srgbClr val="76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226" autoAdjust="0"/>
    <p:restoredTop sz="86372" autoAdjust="0"/>
  </p:normalViewPr>
  <p:slideViewPr>
    <p:cSldViewPr snapToGrid="0" snapToObjects="1">
      <p:cViewPr varScale="1">
        <p:scale>
          <a:sx n="118" d="100"/>
          <a:sy n="118" d="100"/>
        </p:scale>
        <p:origin x="92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88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C7C49-CCBF-FF42-B6B5-8B936E956DE2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3FFCBF-045D-F844-8916-9035996F79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757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4841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1288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6507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2982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0527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8991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143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213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5908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5032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2687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9603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1000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3677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8814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46345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29062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FFCBF-045D-F844-8916-9035996F79D6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780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9999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015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2940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8558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355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042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339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504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04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669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B2AFFF8-0597-5846-8B2F-6C5E83C0639F}" type="datetimeFigureOut">
              <a:rPr lang="it-IT" smtClean="0"/>
              <a:t>26/10/18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5907CA4-FE82-2F4C-B4C6-45BD75C4E73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4572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NO_BAS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ttore 1 2">
            <a:extLst>
              <a:ext uri="{FF2B5EF4-FFF2-40B4-BE49-F238E27FC236}">
                <a16:creationId xmlns:a16="http://schemas.microsoft.com/office/drawing/2014/main" id="{6B9D5561-0C8D-C546-A772-44657A69E962}"/>
              </a:ext>
            </a:extLst>
          </p:cNvPr>
          <p:cNvCxnSpPr/>
          <p:nvPr userDrawn="1"/>
        </p:nvCxnSpPr>
        <p:spPr>
          <a:xfrm>
            <a:off x="259842" y="922780"/>
            <a:ext cx="8285019" cy="0"/>
          </a:xfrm>
          <a:prstGeom prst="line">
            <a:avLst/>
          </a:prstGeom>
          <a:ln w="25400" cap="rnd" cmpd="sng">
            <a:solidFill>
              <a:srgbClr val="003D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magine 3">
            <a:extLst>
              <a:ext uri="{FF2B5EF4-FFF2-40B4-BE49-F238E27FC236}">
                <a16:creationId xmlns:a16="http://schemas.microsoft.com/office/drawing/2014/main" id="{EB887A2E-D906-914D-A4D1-187A04FD3E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6" y="6376512"/>
            <a:ext cx="451081" cy="433636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8EB8FB46-3B0B-9F4E-B4D0-C053F74A5E58}"/>
              </a:ext>
            </a:extLst>
          </p:cNvPr>
          <p:cNvSpPr/>
          <p:nvPr userDrawn="1"/>
        </p:nvSpPr>
        <p:spPr>
          <a:xfrm>
            <a:off x="7409230" y="6508157"/>
            <a:ext cx="173477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it-IT" sz="1500" b="1" dirty="0">
                <a:solidFill>
                  <a:srgbClr val="003D6C"/>
                </a:solidFill>
                <a:latin typeface="Myriad Pro" charset="0"/>
                <a:ea typeface="Myriad Pro" charset="0"/>
                <a:cs typeface="Myriad Pro" charset="0"/>
              </a:rPr>
              <a:t>STAG</a:t>
            </a:r>
            <a:r>
              <a:rPr lang="it-IT" sz="1500" dirty="0">
                <a:solidFill>
                  <a:srgbClr val="003D6C"/>
                </a:solidFill>
                <a:latin typeface="Myriad Pro" charset="0"/>
                <a:ea typeface="Myriad Pro" charset="0"/>
                <a:cs typeface="Myriad Pro" charset="0"/>
              </a:rPr>
              <a:t> 2018, Brescia</a:t>
            </a:r>
            <a:endParaRPr lang="it-IT" sz="1500" dirty="0">
              <a:latin typeface="Myriad Pro" charset="0"/>
              <a:ea typeface="Myriad Pro" charset="0"/>
              <a:cs typeface="Myriad Pro" charset="0"/>
            </a:endParaRPr>
          </a:p>
        </p:txBody>
      </p:sp>
      <p:sp>
        <p:nvSpPr>
          <p:cNvPr id="10" name="Segnaposto testo 8">
            <a:extLst>
              <a:ext uri="{FF2B5EF4-FFF2-40B4-BE49-F238E27FC236}">
                <a16:creationId xmlns:a16="http://schemas.microsoft.com/office/drawing/2014/main" id="{C97F526D-D655-B14B-9851-41FBE8BF39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7286" y="156301"/>
            <a:ext cx="8284511" cy="692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rgbClr val="003D6C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FD5FA787-0826-4F4B-AF68-264D73AE1E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745" y="1069322"/>
            <a:ext cx="8297863" cy="1711325"/>
          </a:xfrm>
          <a:prstGeom prst="rect">
            <a:avLst/>
          </a:prstGeom>
        </p:spPr>
        <p:txBody>
          <a:bodyPr/>
          <a:lstStyle>
            <a:lvl1pPr marL="342900" indent="-342900">
              <a:buSzPct val="60000"/>
              <a:buFont typeface="Lucida Grande" panose="020B0600040502020204" pitchFamily="34" charset="0"/>
              <a:buChar char="▶"/>
              <a:defRPr sz="2300">
                <a:solidFill>
                  <a:srgbClr val="003D6C"/>
                </a:solidFill>
                <a:latin typeface="Myriad Pro" panose="020B0503030403020204" pitchFamily="34" charset="0"/>
              </a:defRPr>
            </a:lvl1pPr>
            <a:lvl2pPr marL="742950" indent="-285750">
              <a:buSzPct val="60000"/>
              <a:buFont typeface="Lucida Grande" panose="020B0600040502020204" pitchFamily="34" charset="0"/>
              <a:buChar char="▶"/>
              <a:defRPr sz="2000" i="1">
                <a:solidFill>
                  <a:srgbClr val="003D6C"/>
                </a:solidFill>
                <a:latin typeface="Myriad Pro" panose="020B0503030403020204" pitchFamily="34" charset="0"/>
              </a:defRPr>
            </a:lvl2pPr>
            <a:lvl3pPr marL="1143000" indent="-228600">
              <a:buSzPct val="60000"/>
              <a:buFont typeface="Lucida Grande" panose="020B0600040502020204" pitchFamily="34" charset="0"/>
              <a:buChar char="▶"/>
              <a:defRPr sz="1800" i="1">
                <a:solidFill>
                  <a:srgbClr val="003D6C"/>
                </a:solidFill>
                <a:latin typeface="Myriad Pro" panose="020B0503030403020204" pitchFamily="34" charset="0"/>
              </a:defRPr>
            </a:lvl3pPr>
          </a:lstStyle>
          <a:p>
            <a:r>
              <a:rPr lang="it-IT" dirty="0"/>
              <a:t>First </a:t>
            </a:r>
            <a:r>
              <a:rPr lang="it-IT" dirty="0" err="1"/>
              <a:t>level</a:t>
            </a:r>
            <a:endParaRPr lang="it-IT" dirty="0"/>
          </a:p>
          <a:p>
            <a:pPr lvl="1"/>
            <a:r>
              <a:rPr lang="it-IT" dirty="0"/>
              <a:t>Second </a:t>
            </a:r>
            <a:r>
              <a:rPr lang="it-IT" dirty="0" err="1"/>
              <a:t>level</a:t>
            </a:r>
            <a:endParaRPr lang="it-IT" dirty="0"/>
          </a:p>
          <a:p>
            <a:pPr lvl="2"/>
            <a:r>
              <a:rPr lang="it-IT" dirty="0"/>
              <a:t>Third </a:t>
            </a:r>
            <a:r>
              <a:rPr lang="it-IT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59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80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pn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emf"/><Relationship Id="rId11" Type="http://schemas.openxmlformats.org/officeDocument/2006/relationships/image" Target="../media/image20.png"/><Relationship Id="rId5" Type="http://schemas.openxmlformats.org/officeDocument/2006/relationships/image" Target="../media/image14.emf"/><Relationship Id="rId10" Type="http://schemas.openxmlformats.org/officeDocument/2006/relationships/image" Target="../media/image19.jpg"/><Relationship Id="rId4" Type="http://schemas.openxmlformats.org/officeDocument/2006/relationships/image" Target="../media/image13.emf"/><Relationship Id="rId9" Type="http://schemas.openxmlformats.org/officeDocument/2006/relationships/image" Target="../media/image1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-1" y="66851"/>
            <a:ext cx="30082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i="1" dirty="0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rPr>
              <a:t>M. </a:t>
            </a:r>
            <a:r>
              <a:rPr lang="it-IT" sz="2800" b="1" i="1" dirty="0" err="1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rPr>
              <a:t>Livesu</a:t>
            </a:r>
            <a:endParaRPr lang="it-IT" sz="2800" b="1" i="1" dirty="0">
              <a:solidFill>
                <a:srgbClr val="003D6C"/>
              </a:solidFill>
              <a:latin typeface="Myriad Pro Semibold" panose="020B0503030403020204" pitchFamily="34" charset="0"/>
              <a:cs typeface="Candara"/>
            </a:endParaRPr>
          </a:p>
          <a:p>
            <a:r>
              <a:rPr lang="it-IT" sz="2800" b="1" i="1" dirty="0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rPr>
              <a:t>D. </a:t>
            </a:r>
            <a:r>
              <a:rPr lang="it-IT" sz="2800" b="1" i="1" dirty="0" err="1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rPr>
              <a:t>Cabiddu</a:t>
            </a:r>
            <a:endParaRPr lang="it-IT" sz="2800" b="1" i="1" dirty="0">
              <a:solidFill>
                <a:srgbClr val="003D6C"/>
              </a:solidFill>
              <a:latin typeface="Myriad Pro Semibold" panose="020B0503030403020204" pitchFamily="34" charset="0"/>
              <a:cs typeface="Candara"/>
            </a:endParaRPr>
          </a:p>
          <a:p>
            <a:r>
              <a:rPr lang="it-IT" sz="2800" b="1" i="1" dirty="0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rPr>
              <a:t>M. </a:t>
            </a:r>
            <a:r>
              <a:rPr lang="it-IT" sz="2800" b="1" i="1" dirty="0" err="1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rPr>
              <a:t>Attene</a:t>
            </a:r>
            <a:endParaRPr lang="it-IT" sz="2800" b="1" i="1" dirty="0">
              <a:solidFill>
                <a:srgbClr val="003D6C"/>
              </a:solidFill>
              <a:latin typeface="Myriad Pro Semibold" panose="020B0503030403020204" pitchFamily="34" charset="0"/>
              <a:cs typeface="Candara"/>
            </a:endParaRP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31" y="6209856"/>
            <a:ext cx="2950475" cy="50579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CD607FC-3CED-FE43-AC95-420489E2A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533" y="129088"/>
            <a:ext cx="2300537" cy="248079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E588B00-1A9B-E143-9DDA-6977C24CE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788" y="563470"/>
            <a:ext cx="3384209" cy="22119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4C42372-A167-3A4E-A24E-81FB7CF9B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61" y="4234862"/>
            <a:ext cx="2303809" cy="248079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625F15A6-3A24-6E45-8D16-5F5AC0676E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9789" y="4734019"/>
            <a:ext cx="3384209" cy="2123981"/>
          </a:xfrm>
          <a:prstGeom prst="rect">
            <a:avLst/>
          </a:prstGeom>
        </p:spPr>
      </p:pic>
      <p:sp>
        <p:nvSpPr>
          <p:cNvPr id="25" name="Rettangolo 24">
            <a:extLst>
              <a:ext uri="{FF2B5EF4-FFF2-40B4-BE49-F238E27FC236}">
                <a16:creationId xmlns:a16="http://schemas.microsoft.com/office/drawing/2014/main" id="{BB412216-6576-7544-AB96-F7EDF1C2EE5C}"/>
              </a:ext>
            </a:extLst>
          </p:cNvPr>
          <p:cNvSpPr/>
          <p:nvPr/>
        </p:nvSpPr>
        <p:spPr>
          <a:xfrm>
            <a:off x="0" y="2901507"/>
            <a:ext cx="9144000" cy="1166191"/>
          </a:xfrm>
          <a:prstGeom prst="rect">
            <a:avLst/>
          </a:prstGeom>
          <a:solidFill>
            <a:srgbClr val="003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3002122"/>
            <a:ext cx="9144000" cy="947408"/>
          </a:xfrm>
        </p:spPr>
        <p:txBody>
          <a:bodyPr>
            <a:noAutofit/>
          </a:bodyPr>
          <a:lstStyle/>
          <a:p>
            <a:r>
              <a:rPr lang="it-IT" sz="3300" b="1" dirty="0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  <a:t>Slice2mesh: </a:t>
            </a:r>
            <a:r>
              <a:rPr lang="it-IT" sz="3300" b="1" dirty="0" err="1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  <a:t>meshing</a:t>
            </a:r>
            <a:r>
              <a:rPr lang="it-IT" sz="3300" b="1" dirty="0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  <a:t> </a:t>
            </a:r>
            <a:r>
              <a:rPr lang="it-IT" sz="3300" b="1" dirty="0" err="1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  <a:t>sliced</a:t>
            </a:r>
            <a:r>
              <a:rPr lang="it-IT" sz="3300" b="1" dirty="0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  <a:t> data</a:t>
            </a:r>
            <a:br>
              <a:rPr lang="it-IT" sz="3300" b="1" dirty="0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</a:br>
            <a:r>
              <a:rPr lang="it-IT" sz="3300" b="1" dirty="0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  <a:t>for the </a:t>
            </a:r>
            <a:r>
              <a:rPr lang="it-IT" sz="3300" b="1" dirty="0" err="1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  <a:t>simulation</a:t>
            </a:r>
            <a:r>
              <a:rPr lang="it-IT" sz="3300" b="1" dirty="0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  <a:t> of AM </a:t>
            </a:r>
            <a:r>
              <a:rPr lang="it-IT" sz="3300" b="1" dirty="0" err="1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  <a:t>processes</a:t>
            </a:r>
            <a:r>
              <a:rPr lang="it-IT" sz="3300" b="1" dirty="0">
                <a:solidFill>
                  <a:schemeClr val="bg1"/>
                </a:solidFill>
                <a:latin typeface="Myriad Pro Semibold" panose="020B0503030403020204" pitchFamily="34" charset="0"/>
                <a:cs typeface="DecoType Naskh" pitchFamily="2" charset="-7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7004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7" y="155771"/>
            <a:ext cx="2398413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Motivation</a:t>
            </a:r>
            <a:endParaRPr lang="it-IT" sz="3500" b="1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sp>
        <p:nvSpPr>
          <p:cNvPr id="2" name="CasellaDiTesto 1"/>
          <p:cNvSpPr txBox="1"/>
          <p:nvPr/>
        </p:nvSpPr>
        <p:spPr>
          <a:xfrm>
            <a:off x="-264660" y="1080918"/>
            <a:ext cx="8138000" cy="8002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Simulation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of AM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processes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mean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to</a:t>
            </a:r>
          </a:p>
          <a:p>
            <a:pPr marL="1371600" lvl="2" indent="-457200">
              <a:buSzPct val="60000"/>
              <a:buFont typeface="Lucida Grande"/>
              <a:buChar char="▶"/>
            </a:pP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AABB1991-1C72-6348-9833-A4004656F3EB}"/>
              </a:ext>
            </a:extLst>
          </p:cNvPr>
          <p:cNvGrpSpPr/>
          <p:nvPr/>
        </p:nvGrpSpPr>
        <p:grpSpPr>
          <a:xfrm>
            <a:off x="627620" y="1784407"/>
            <a:ext cx="3518833" cy="3545779"/>
            <a:chOff x="627620" y="1784407"/>
            <a:chExt cx="3518833" cy="3545779"/>
          </a:xfrm>
        </p:grpSpPr>
        <p:pic>
          <p:nvPicPr>
            <p:cNvPr id="8" name="Picture 2" descr="Risultati immagini per dmls failure crack">
              <a:extLst>
                <a:ext uri="{FF2B5EF4-FFF2-40B4-BE49-F238E27FC236}">
                  <a16:creationId xmlns:a16="http://schemas.microsoft.com/office/drawing/2014/main" id="{785F1FBB-DF3D-8241-8B28-0919CFA7F4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73" r="8210" b="16729"/>
            <a:stretch/>
          </p:blipFill>
          <p:spPr bwMode="auto">
            <a:xfrm>
              <a:off x="627620" y="1784407"/>
              <a:ext cx="3518833" cy="2953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DD5776F0-F432-2C4B-965E-41F719CEC185}"/>
                </a:ext>
              </a:extLst>
            </p:cNvPr>
            <p:cNvSpPr txBox="1"/>
            <p:nvPr/>
          </p:nvSpPr>
          <p:spPr>
            <a:xfrm>
              <a:off x="956195" y="4853132"/>
              <a:ext cx="2861681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5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PREVENT FAILURES</a:t>
              </a:r>
            </a:p>
          </p:txBody>
        </p: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09182C76-423C-654B-B62F-016841306A6D}"/>
              </a:ext>
            </a:extLst>
          </p:cNvPr>
          <p:cNvGrpSpPr/>
          <p:nvPr/>
        </p:nvGrpSpPr>
        <p:grpSpPr>
          <a:xfrm>
            <a:off x="4895878" y="1757189"/>
            <a:ext cx="3648983" cy="3572996"/>
            <a:chOff x="4895878" y="1757189"/>
            <a:chExt cx="3648983" cy="3572996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941F6650-2F80-BE4A-8B4E-4DA4C04E907F}"/>
                </a:ext>
              </a:extLst>
            </p:cNvPr>
            <p:cNvGrpSpPr/>
            <p:nvPr/>
          </p:nvGrpSpPr>
          <p:grpSpPr>
            <a:xfrm>
              <a:off x="4895878" y="1757189"/>
              <a:ext cx="3648983" cy="2980638"/>
              <a:chOff x="4740791" y="3218655"/>
              <a:chExt cx="4189121" cy="3421847"/>
            </a:xfrm>
          </p:grpSpPr>
          <p:sp>
            <p:nvSpPr>
              <p:cNvPr id="13" name="object 4">
                <a:extLst>
                  <a:ext uri="{FF2B5EF4-FFF2-40B4-BE49-F238E27FC236}">
                    <a16:creationId xmlns:a16="http://schemas.microsoft.com/office/drawing/2014/main" id="{73C5F324-5DEF-D346-AE70-7427EAF05A5A}"/>
                  </a:ext>
                </a:extLst>
              </p:cNvPr>
              <p:cNvSpPr/>
              <p:nvPr/>
            </p:nvSpPr>
            <p:spPr>
              <a:xfrm>
                <a:off x="4795156" y="4689172"/>
                <a:ext cx="4018547" cy="1951330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>
                <a:defPPr>
                  <a:defRPr lang="nb-NO"/>
                </a:defPPr>
                <a:lvl1pPr marL="0" algn="l" defTabSz="914263" rtl="0" eaLnBrk="1" latinLnBrk="0" hangingPunct="1">
                  <a:defRPr sz="17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31" algn="l" defTabSz="914263" rtl="0" eaLnBrk="1" latinLnBrk="0" hangingPunct="1">
                  <a:defRPr sz="17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263" algn="l" defTabSz="914263" rtl="0" eaLnBrk="1" latinLnBrk="0" hangingPunct="1">
                  <a:defRPr sz="17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394" algn="l" defTabSz="914263" rtl="0" eaLnBrk="1" latinLnBrk="0" hangingPunct="1">
                  <a:defRPr sz="17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525" algn="l" defTabSz="914263" rtl="0" eaLnBrk="1" latinLnBrk="0" hangingPunct="1">
                  <a:defRPr sz="17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657" algn="l" defTabSz="914263" rtl="0" eaLnBrk="1" latinLnBrk="0" hangingPunct="1">
                  <a:defRPr sz="17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2789" algn="l" defTabSz="914263" rtl="0" eaLnBrk="1" latinLnBrk="0" hangingPunct="1">
                  <a:defRPr sz="17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199920" algn="l" defTabSz="914263" rtl="0" eaLnBrk="1" latinLnBrk="0" hangingPunct="1">
                  <a:defRPr sz="17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051" algn="l" defTabSz="914263" rtl="0" eaLnBrk="1" latinLnBrk="0" hangingPunct="1">
                  <a:defRPr sz="179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dirty="0"/>
              </a:p>
            </p:txBody>
          </p:sp>
          <p:pic>
            <p:nvPicPr>
              <p:cNvPr id="14" name="Picture 2" descr="C:\Users\Michele\Desktop\WORKING\LORTEK\disp.png">
                <a:extLst>
                  <a:ext uri="{FF2B5EF4-FFF2-40B4-BE49-F238E27FC236}">
                    <a16:creationId xmlns:a16="http://schemas.microsoft.com/office/drawing/2014/main" id="{AE70D6AD-ED44-5A4D-94F1-240FC0D7C1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457" t="49036" b="8219"/>
              <a:stretch/>
            </p:blipFill>
            <p:spPr bwMode="auto">
              <a:xfrm>
                <a:off x="4740791" y="3218655"/>
                <a:ext cx="943336" cy="14340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Users\Michele\Desktop\WORKING\LORTEK\disp.png">
                <a:extLst>
                  <a:ext uri="{FF2B5EF4-FFF2-40B4-BE49-F238E27FC236}">
                    <a16:creationId xmlns:a16="http://schemas.microsoft.com/office/drawing/2014/main" id="{279BF2FE-0062-BD47-9085-BECD879F26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696" t="15588" r="13148" b="48570"/>
              <a:stretch/>
            </p:blipFill>
            <p:spPr bwMode="auto">
              <a:xfrm>
                <a:off x="5684127" y="3452493"/>
                <a:ext cx="3245785" cy="11552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BE006F5E-D549-6D4B-9144-5098B9DC4270}"/>
                </a:ext>
              </a:extLst>
            </p:cNvPr>
            <p:cNvSpPr txBox="1"/>
            <p:nvPr/>
          </p:nvSpPr>
          <p:spPr>
            <a:xfrm>
              <a:off x="5365955" y="4853131"/>
              <a:ext cx="26549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5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PREDICT QUALITY</a:t>
              </a:r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DE1AF80-D5A7-B840-8A62-5518F23C59A4}"/>
              </a:ext>
            </a:extLst>
          </p:cNvPr>
          <p:cNvSpPr txBox="1"/>
          <p:nvPr/>
        </p:nvSpPr>
        <p:spPr>
          <a:xfrm>
            <a:off x="-264661" y="5524172"/>
            <a:ext cx="9117113" cy="8002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300" b="1" dirty="0" err="1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Cost</a:t>
            </a:r>
            <a:r>
              <a:rPr lang="it-IT" sz="2300" b="1" dirty="0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: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failure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waste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of time and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material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300" b="1" dirty="0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Fidelity: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objects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should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be design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compliant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79348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:a16="http://schemas.microsoft.com/office/drawing/2014/main" id="{3E5E0275-0591-3045-A2DF-BC5F8AB6FF5D}"/>
              </a:ext>
            </a:extLst>
          </p:cNvPr>
          <p:cNvGrpSpPr/>
          <p:nvPr/>
        </p:nvGrpSpPr>
        <p:grpSpPr>
          <a:xfrm>
            <a:off x="399673" y="3037014"/>
            <a:ext cx="2079394" cy="3064855"/>
            <a:chOff x="399673" y="3037014"/>
            <a:chExt cx="2079394" cy="3064855"/>
          </a:xfrm>
        </p:grpSpPr>
        <p:sp>
          <p:nvSpPr>
            <p:cNvPr id="29" name="Ovale 28">
              <a:extLst>
                <a:ext uri="{FF2B5EF4-FFF2-40B4-BE49-F238E27FC236}">
                  <a16:creationId xmlns:a16="http://schemas.microsoft.com/office/drawing/2014/main" id="{AEEEF5F3-C907-584E-AE51-A04C37CAE875}"/>
                </a:ext>
              </a:extLst>
            </p:cNvPr>
            <p:cNvSpPr/>
            <p:nvPr/>
          </p:nvSpPr>
          <p:spPr>
            <a:xfrm>
              <a:off x="409298" y="3037014"/>
              <a:ext cx="2069769" cy="206976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rgbClr val="003D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0" name="Connettore 1 29">
              <a:extLst>
                <a:ext uri="{FF2B5EF4-FFF2-40B4-BE49-F238E27FC236}">
                  <a16:creationId xmlns:a16="http://schemas.microsoft.com/office/drawing/2014/main" id="{A363E5CF-3359-F840-AED7-490BA0A0A1B3}"/>
                </a:ext>
              </a:extLst>
            </p:cNvPr>
            <p:cNvCxnSpPr>
              <a:cxnSpLocks/>
            </p:cNvCxnSpPr>
            <p:nvPr/>
          </p:nvCxnSpPr>
          <p:spPr>
            <a:xfrm>
              <a:off x="399673" y="5145527"/>
              <a:ext cx="1986845" cy="0"/>
            </a:xfrm>
            <a:prstGeom prst="line">
              <a:avLst/>
            </a:prstGeom>
            <a:ln w="63500" cap="rnd" cmpd="sng">
              <a:solidFill>
                <a:srgbClr val="003D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CasellaDiTesto 36">
              <a:extLst>
                <a:ext uri="{FF2B5EF4-FFF2-40B4-BE49-F238E27FC236}">
                  <a16:creationId xmlns:a16="http://schemas.microsoft.com/office/drawing/2014/main" id="{BFD5ACBE-3B71-8D4E-9028-2D5D2327D8E4}"/>
                </a:ext>
              </a:extLst>
            </p:cNvPr>
            <p:cNvSpPr txBox="1"/>
            <p:nvPr/>
          </p:nvSpPr>
          <p:spPr>
            <a:xfrm>
              <a:off x="809086" y="5393983"/>
              <a:ext cx="12731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0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DYNAMIC</a:t>
              </a:r>
            </a:p>
            <a:p>
              <a:pPr algn="ctr"/>
              <a:r>
                <a:rPr lang="it-IT" sz="20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DOMAIN</a:t>
              </a:r>
            </a:p>
          </p:txBody>
        </p:sp>
      </p:grpSp>
      <p:sp>
        <p:nvSpPr>
          <p:cNvPr id="4" name="Rettangolo 3"/>
          <p:cNvSpPr/>
          <p:nvPr/>
        </p:nvSpPr>
        <p:spPr>
          <a:xfrm>
            <a:off x="259297" y="155771"/>
            <a:ext cx="47339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A </a:t>
            </a:r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meshing</a:t>
            </a:r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 </a:t>
            </a:r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perspective</a:t>
            </a:r>
            <a:endParaRPr lang="it-IT" sz="3500" b="1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sp>
        <p:nvSpPr>
          <p:cNvPr id="2" name="CasellaDiTesto 1"/>
          <p:cNvSpPr txBox="1"/>
          <p:nvPr/>
        </p:nvSpPr>
        <p:spPr>
          <a:xfrm>
            <a:off x="-264661" y="1080918"/>
            <a:ext cx="8809521" cy="8002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Simulating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AM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requires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 discrete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representation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of the domain</a:t>
            </a:r>
          </a:p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Three major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requirements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FBD2D4BA-ECBC-CA48-B492-2CABFF4829F7}"/>
              </a:ext>
            </a:extLst>
          </p:cNvPr>
          <p:cNvSpPr/>
          <p:nvPr/>
        </p:nvSpPr>
        <p:spPr>
          <a:xfrm>
            <a:off x="817791" y="4761535"/>
            <a:ext cx="1201118" cy="345247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2A85C0F1-DE1F-3147-A242-2DCE6D5D0C0D}"/>
              </a:ext>
            </a:extLst>
          </p:cNvPr>
          <p:cNvSpPr/>
          <p:nvPr/>
        </p:nvSpPr>
        <p:spPr>
          <a:xfrm>
            <a:off x="538821" y="4415814"/>
            <a:ext cx="1847697" cy="345247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2F1887E7-E967-D64F-89C8-4137F3E7FD18}"/>
              </a:ext>
            </a:extLst>
          </p:cNvPr>
          <p:cNvSpPr/>
          <p:nvPr/>
        </p:nvSpPr>
        <p:spPr>
          <a:xfrm>
            <a:off x="399673" y="4070567"/>
            <a:ext cx="2091933" cy="345247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438AA752-FC4D-7244-8FB0-E309EE30B805}"/>
              </a:ext>
            </a:extLst>
          </p:cNvPr>
          <p:cNvSpPr/>
          <p:nvPr/>
        </p:nvSpPr>
        <p:spPr>
          <a:xfrm>
            <a:off x="399672" y="3725319"/>
            <a:ext cx="2091934" cy="345247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C2A33385-7391-8145-BB1E-9D6E94CD23F4}"/>
              </a:ext>
            </a:extLst>
          </p:cNvPr>
          <p:cNvSpPr/>
          <p:nvPr/>
        </p:nvSpPr>
        <p:spPr>
          <a:xfrm>
            <a:off x="538821" y="3380941"/>
            <a:ext cx="1847697" cy="345247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0498C6C6-DB5E-8045-BFDF-9F5E454BA667}"/>
              </a:ext>
            </a:extLst>
          </p:cNvPr>
          <p:cNvSpPr/>
          <p:nvPr/>
        </p:nvSpPr>
        <p:spPr>
          <a:xfrm>
            <a:off x="817791" y="3037014"/>
            <a:ext cx="1201117" cy="345247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1A7975C2-C363-CB4E-AB77-901A3D338284}"/>
              </a:ext>
            </a:extLst>
          </p:cNvPr>
          <p:cNvGrpSpPr/>
          <p:nvPr/>
        </p:nvGrpSpPr>
        <p:grpSpPr>
          <a:xfrm>
            <a:off x="6327754" y="2895067"/>
            <a:ext cx="2478579" cy="3206802"/>
            <a:chOff x="3326768" y="2391244"/>
            <a:chExt cx="2478579" cy="3206802"/>
          </a:xfrm>
        </p:grpSpPr>
        <p:pic>
          <p:nvPicPr>
            <p:cNvPr id="39" name="Immagine 38">
              <a:extLst>
                <a:ext uri="{FF2B5EF4-FFF2-40B4-BE49-F238E27FC236}">
                  <a16:creationId xmlns:a16="http://schemas.microsoft.com/office/drawing/2014/main" id="{10CD8095-8E4E-194B-AA7A-9FF5C784D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6768" y="2391244"/>
              <a:ext cx="2478579" cy="2331498"/>
            </a:xfrm>
            <a:prstGeom prst="rect">
              <a:avLst/>
            </a:prstGeom>
          </p:spPr>
        </p:pic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188F46AF-ACEF-C346-B036-A352EF303B82}"/>
                </a:ext>
              </a:extLst>
            </p:cNvPr>
            <p:cNvSpPr txBox="1"/>
            <p:nvPr/>
          </p:nvSpPr>
          <p:spPr>
            <a:xfrm>
              <a:off x="3758784" y="4890160"/>
              <a:ext cx="161454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0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LOCAL</a:t>
              </a:r>
            </a:p>
            <a:p>
              <a:pPr algn="ctr"/>
              <a:r>
                <a:rPr lang="it-IT" sz="20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REFINEMENT</a:t>
              </a:r>
            </a:p>
          </p:txBody>
        </p:sp>
      </p:grp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047BCE48-E339-3D43-BB4C-5E884D60BFE9}"/>
              </a:ext>
            </a:extLst>
          </p:cNvPr>
          <p:cNvGrpSpPr/>
          <p:nvPr/>
        </p:nvGrpSpPr>
        <p:grpSpPr>
          <a:xfrm>
            <a:off x="3174197" y="2679165"/>
            <a:ext cx="2470966" cy="3422704"/>
            <a:chOff x="6427447" y="2175342"/>
            <a:chExt cx="2470966" cy="3422704"/>
          </a:xfrm>
        </p:grpSpPr>
        <p:pic>
          <p:nvPicPr>
            <p:cNvPr id="43" name="Immagine 42">
              <a:extLst>
                <a:ext uri="{FF2B5EF4-FFF2-40B4-BE49-F238E27FC236}">
                  <a16:creationId xmlns:a16="http://schemas.microsoft.com/office/drawing/2014/main" id="{E6FE0483-2C22-654C-93FE-7BFE29877C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5413" r="50000" b="10587"/>
            <a:stretch/>
          </p:blipFill>
          <p:spPr>
            <a:xfrm>
              <a:off x="6427447" y="2175342"/>
              <a:ext cx="2470966" cy="2612148"/>
            </a:xfrm>
            <a:prstGeom prst="rect">
              <a:avLst/>
            </a:prstGeom>
          </p:spPr>
        </p:pic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9A1F788D-5A46-BC40-96E7-8BE344673A2F}"/>
                </a:ext>
              </a:extLst>
            </p:cNvPr>
            <p:cNvSpPr txBox="1"/>
            <p:nvPr/>
          </p:nvSpPr>
          <p:spPr>
            <a:xfrm>
              <a:off x="6957448" y="4890160"/>
              <a:ext cx="141096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0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SUPPORT</a:t>
              </a:r>
            </a:p>
            <a:p>
              <a:pPr algn="ctr"/>
              <a:r>
                <a:rPr lang="it-IT" sz="20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SYNTHESIS</a:t>
              </a:r>
            </a:p>
          </p:txBody>
        </p: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3EC7589E-F701-E34F-8DFF-20217B8486D9}"/>
              </a:ext>
            </a:extLst>
          </p:cNvPr>
          <p:cNvGrpSpPr/>
          <p:nvPr/>
        </p:nvGrpSpPr>
        <p:grpSpPr>
          <a:xfrm>
            <a:off x="45136" y="2276263"/>
            <a:ext cx="5875604" cy="3917368"/>
            <a:chOff x="45136" y="1597526"/>
            <a:chExt cx="5875604" cy="4801891"/>
          </a:xfrm>
        </p:grpSpPr>
        <p:sp>
          <p:nvSpPr>
            <p:cNvPr id="23" name="Freeform 496">
              <a:extLst>
                <a:ext uri="{FF2B5EF4-FFF2-40B4-BE49-F238E27FC236}">
                  <a16:creationId xmlns:a16="http://schemas.microsoft.com/office/drawing/2014/main" id="{0A94DF71-87E8-CD4C-9137-6CAF3E12C6C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5136" y="2149911"/>
              <a:ext cx="5875604" cy="4249506"/>
            </a:xfrm>
            <a:custGeom>
              <a:avLst/>
              <a:gdLst>
                <a:gd name="T0" fmla="*/ 453 w 579"/>
                <a:gd name="T1" fmla="*/ 2 h 1040"/>
                <a:gd name="T2" fmla="*/ 400 w 579"/>
                <a:gd name="T3" fmla="*/ 2 h 1040"/>
                <a:gd name="T4" fmla="*/ 281 w 579"/>
                <a:gd name="T5" fmla="*/ 14 h 1040"/>
                <a:gd name="T6" fmla="*/ 134 w 579"/>
                <a:gd name="T7" fmla="*/ 19 h 1040"/>
                <a:gd name="T8" fmla="*/ 59 w 579"/>
                <a:gd name="T9" fmla="*/ 29 h 1040"/>
                <a:gd name="T10" fmla="*/ 59 w 579"/>
                <a:gd name="T11" fmla="*/ 28 h 1040"/>
                <a:gd name="T12" fmla="*/ 59 w 579"/>
                <a:gd name="T13" fmla="*/ 26 h 1040"/>
                <a:gd name="T14" fmla="*/ 59 w 579"/>
                <a:gd name="T15" fmla="*/ 26 h 1040"/>
                <a:gd name="T16" fmla="*/ 59 w 579"/>
                <a:gd name="T17" fmla="*/ 27 h 1040"/>
                <a:gd name="T18" fmla="*/ 59 w 579"/>
                <a:gd name="T19" fmla="*/ 33 h 1040"/>
                <a:gd name="T20" fmla="*/ 57 w 579"/>
                <a:gd name="T21" fmla="*/ 26 h 1040"/>
                <a:gd name="T22" fmla="*/ 57 w 579"/>
                <a:gd name="T23" fmla="*/ 28 h 1040"/>
                <a:gd name="T24" fmla="*/ 56 w 579"/>
                <a:gd name="T25" fmla="*/ 31 h 1040"/>
                <a:gd name="T26" fmla="*/ 56 w 579"/>
                <a:gd name="T27" fmla="*/ 33 h 1040"/>
                <a:gd name="T28" fmla="*/ 54 w 579"/>
                <a:gd name="T29" fmla="*/ 36 h 1040"/>
                <a:gd name="T30" fmla="*/ 59 w 579"/>
                <a:gd name="T31" fmla="*/ 31 h 1040"/>
                <a:gd name="T32" fmla="*/ 59 w 579"/>
                <a:gd name="T33" fmla="*/ 31 h 1040"/>
                <a:gd name="T34" fmla="*/ 55 w 579"/>
                <a:gd name="T35" fmla="*/ 28 h 1040"/>
                <a:gd name="T36" fmla="*/ 55 w 579"/>
                <a:gd name="T37" fmla="*/ 27 h 1040"/>
                <a:gd name="T38" fmla="*/ 578 w 579"/>
                <a:gd name="T39" fmla="*/ 337 h 1040"/>
                <a:gd name="T40" fmla="*/ 566 w 579"/>
                <a:gd name="T41" fmla="*/ 998 h 1040"/>
                <a:gd name="T42" fmla="*/ 324 w 579"/>
                <a:gd name="T43" fmla="*/ 1039 h 1040"/>
                <a:gd name="T44" fmla="*/ 51 w 579"/>
                <a:gd name="T45" fmla="*/ 1020 h 1040"/>
                <a:gd name="T46" fmla="*/ 17 w 579"/>
                <a:gd name="T47" fmla="*/ 996 h 1040"/>
                <a:gd name="T48" fmla="*/ 0 w 579"/>
                <a:gd name="T49" fmla="*/ 657 h 1040"/>
                <a:gd name="T50" fmla="*/ 5 w 579"/>
                <a:gd name="T51" fmla="*/ 350 h 1040"/>
                <a:gd name="T52" fmla="*/ 9 w 579"/>
                <a:gd name="T53" fmla="*/ 238 h 1040"/>
                <a:gd name="T54" fmla="*/ 16 w 579"/>
                <a:gd name="T55" fmla="*/ 68 h 1040"/>
                <a:gd name="T56" fmla="*/ 16 w 579"/>
                <a:gd name="T57" fmla="*/ 62 h 1040"/>
                <a:gd name="T58" fmla="*/ 16 w 579"/>
                <a:gd name="T59" fmla="*/ 57 h 1040"/>
                <a:gd name="T60" fmla="*/ 21 w 579"/>
                <a:gd name="T61" fmla="*/ 50 h 1040"/>
                <a:gd name="T62" fmla="*/ 30 w 579"/>
                <a:gd name="T63" fmla="*/ 49 h 1040"/>
                <a:gd name="T64" fmla="*/ 35 w 579"/>
                <a:gd name="T65" fmla="*/ 57 h 1040"/>
                <a:gd name="T66" fmla="*/ 34 w 579"/>
                <a:gd name="T67" fmla="*/ 63 h 1040"/>
                <a:gd name="T68" fmla="*/ 33 w 579"/>
                <a:gd name="T69" fmla="*/ 69 h 1040"/>
                <a:gd name="T70" fmla="*/ 17 w 579"/>
                <a:gd name="T71" fmla="*/ 482 h 1040"/>
                <a:gd name="T72" fmla="*/ 18 w 579"/>
                <a:gd name="T73" fmla="*/ 806 h 1040"/>
                <a:gd name="T74" fmla="*/ 33 w 579"/>
                <a:gd name="T75" fmla="*/ 996 h 1040"/>
                <a:gd name="T76" fmla="*/ 279 w 579"/>
                <a:gd name="T77" fmla="*/ 1025 h 1040"/>
                <a:gd name="T78" fmla="*/ 539 w 579"/>
                <a:gd name="T79" fmla="*/ 1001 h 1040"/>
                <a:gd name="T80" fmla="*/ 554 w 579"/>
                <a:gd name="T81" fmla="*/ 938 h 1040"/>
                <a:gd name="T82" fmla="*/ 565 w 579"/>
                <a:gd name="T83" fmla="*/ 292 h 1040"/>
                <a:gd name="T84" fmla="*/ 552 w 579"/>
                <a:gd name="T85" fmla="*/ 39 h 1040"/>
                <a:gd name="T86" fmla="*/ 378 w 579"/>
                <a:gd name="T87" fmla="*/ 13 h 1040"/>
                <a:gd name="T88" fmla="*/ 245 w 579"/>
                <a:gd name="T89" fmla="*/ 18 h 1040"/>
                <a:gd name="T90" fmla="*/ 60 w 579"/>
                <a:gd name="T91" fmla="*/ 33 h 1040"/>
                <a:gd name="T92" fmla="*/ 59 w 579"/>
                <a:gd name="T93" fmla="*/ 33 h 1040"/>
                <a:gd name="T94" fmla="*/ 258 w 579"/>
                <a:gd name="T95" fmla="*/ 14 h 1040"/>
                <a:gd name="T96" fmla="*/ 295 w 579"/>
                <a:gd name="T97" fmla="*/ 10 h 1040"/>
                <a:gd name="T98" fmla="*/ 200 w 579"/>
                <a:gd name="T99" fmla="*/ 15 h 1040"/>
                <a:gd name="T100" fmla="*/ 349 w 579"/>
                <a:gd name="T101" fmla="*/ 6 h 1040"/>
                <a:gd name="T102" fmla="*/ 194 w 579"/>
                <a:gd name="T103" fmla="*/ 14 h 1040"/>
                <a:gd name="T104" fmla="*/ 254 w 579"/>
                <a:gd name="T105" fmla="*/ 9 h 1040"/>
                <a:gd name="T106" fmla="*/ 62 w 579"/>
                <a:gd name="T107" fmla="*/ 26 h 1040"/>
                <a:gd name="T108" fmla="*/ 257 w 579"/>
                <a:gd name="T109" fmla="*/ 8 h 1040"/>
                <a:gd name="T110" fmla="*/ 325 w 579"/>
                <a:gd name="T111" fmla="*/ 4 h 1040"/>
                <a:gd name="T112" fmla="*/ 462 w 579"/>
                <a:gd name="T113" fmla="*/ 4 h 1040"/>
                <a:gd name="T114" fmla="*/ 570 w 579"/>
                <a:gd name="T115" fmla="*/ 67 h 1040"/>
                <a:gd name="T116" fmla="*/ 578 w 579"/>
                <a:gd name="T117" fmla="*/ 280 h 1040"/>
                <a:gd name="T118" fmla="*/ 251 w 579"/>
                <a:gd name="T119" fmla="*/ 9 h 1040"/>
                <a:gd name="T120" fmla="*/ 324 w 579"/>
                <a:gd name="T121" fmla="*/ 5 h 1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9" h="1040">
                  <a:moveTo>
                    <a:pt x="559" y="90"/>
                  </a:moveTo>
                  <a:cubicBezTo>
                    <a:pt x="558" y="80"/>
                    <a:pt x="558" y="80"/>
                    <a:pt x="558" y="80"/>
                  </a:cubicBezTo>
                  <a:cubicBezTo>
                    <a:pt x="558" y="81"/>
                    <a:pt x="558" y="87"/>
                    <a:pt x="559" y="90"/>
                  </a:cubicBezTo>
                  <a:close/>
                  <a:moveTo>
                    <a:pt x="453" y="2"/>
                  </a:moveTo>
                  <a:cubicBezTo>
                    <a:pt x="452" y="2"/>
                    <a:pt x="461" y="3"/>
                    <a:pt x="464" y="3"/>
                  </a:cubicBezTo>
                  <a:cubicBezTo>
                    <a:pt x="461" y="3"/>
                    <a:pt x="458" y="2"/>
                    <a:pt x="453" y="2"/>
                  </a:cubicBezTo>
                  <a:close/>
                  <a:moveTo>
                    <a:pt x="436" y="1"/>
                  </a:moveTo>
                  <a:cubicBezTo>
                    <a:pt x="439" y="1"/>
                    <a:pt x="447" y="2"/>
                    <a:pt x="448" y="2"/>
                  </a:cubicBezTo>
                  <a:cubicBezTo>
                    <a:pt x="446" y="1"/>
                    <a:pt x="436" y="1"/>
                    <a:pt x="436" y="1"/>
                  </a:cubicBezTo>
                  <a:close/>
                  <a:moveTo>
                    <a:pt x="400" y="2"/>
                  </a:moveTo>
                  <a:cubicBezTo>
                    <a:pt x="396" y="2"/>
                    <a:pt x="389" y="2"/>
                    <a:pt x="388" y="2"/>
                  </a:cubicBezTo>
                  <a:cubicBezTo>
                    <a:pt x="391" y="2"/>
                    <a:pt x="398" y="2"/>
                    <a:pt x="400" y="2"/>
                  </a:cubicBezTo>
                  <a:close/>
                  <a:moveTo>
                    <a:pt x="358" y="1"/>
                  </a:moveTo>
                  <a:cubicBezTo>
                    <a:pt x="367" y="0"/>
                    <a:pt x="374" y="0"/>
                    <a:pt x="378" y="0"/>
                  </a:cubicBezTo>
                  <a:cubicBezTo>
                    <a:pt x="371" y="0"/>
                    <a:pt x="361" y="0"/>
                    <a:pt x="358" y="1"/>
                  </a:cubicBezTo>
                  <a:close/>
                  <a:moveTo>
                    <a:pt x="281" y="14"/>
                  </a:moveTo>
                  <a:cubicBezTo>
                    <a:pt x="288" y="14"/>
                    <a:pt x="309" y="12"/>
                    <a:pt x="320" y="12"/>
                  </a:cubicBezTo>
                  <a:cubicBezTo>
                    <a:pt x="308" y="12"/>
                    <a:pt x="293" y="13"/>
                    <a:pt x="281" y="14"/>
                  </a:cubicBezTo>
                  <a:close/>
                  <a:moveTo>
                    <a:pt x="278" y="9"/>
                  </a:moveTo>
                  <a:cubicBezTo>
                    <a:pt x="268" y="10"/>
                    <a:pt x="268" y="10"/>
                    <a:pt x="268" y="10"/>
                  </a:cubicBezTo>
                  <a:cubicBezTo>
                    <a:pt x="263" y="10"/>
                    <a:pt x="237" y="12"/>
                    <a:pt x="239" y="12"/>
                  </a:cubicBezTo>
                  <a:cubicBezTo>
                    <a:pt x="256" y="10"/>
                    <a:pt x="279" y="9"/>
                    <a:pt x="292" y="9"/>
                  </a:cubicBezTo>
                  <a:cubicBezTo>
                    <a:pt x="287" y="9"/>
                    <a:pt x="283" y="9"/>
                    <a:pt x="278" y="9"/>
                  </a:cubicBezTo>
                  <a:close/>
                  <a:moveTo>
                    <a:pt x="134" y="19"/>
                  </a:moveTo>
                  <a:cubicBezTo>
                    <a:pt x="127" y="20"/>
                    <a:pt x="127" y="20"/>
                    <a:pt x="127" y="20"/>
                  </a:cubicBezTo>
                  <a:cubicBezTo>
                    <a:pt x="127" y="20"/>
                    <a:pt x="127" y="20"/>
                    <a:pt x="128" y="20"/>
                  </a:cubicBezTo>
                  <a:cubicBezTo>
                    <a:pt x="133" y="19"/>
                    <a:pt x="134" y="19"/>
                    <a:pt x="134" y="19"/>
                  </a:cubicBezTo>
                  <a:close/>
                  <a:moveTo>
                    <a:pt x="59" y="28"/>
                  </a:moveTo>
                  <a:cubicBezTo>
                    <a:pt x="59" y="28"/>
                    <a:pt x="59" y="28"/>
                    <a:pt x="59" y="28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29"/>
                    <a:pt x="60" y="28"/>
                    <a:pt x="60" y="28"/>
                  </a:cubicBezTo>
                  <a:cubicBezTo>
                    <a:pt x="68" y="27"/>
                    <a:pt x="68" y="27"/>
                    <a:pt x="68" y="27"/>
                  </a:cubicBezTo>
                  <a:lnTo>
                    <a:pt x="59" y="28"/>
                  </a:lnTo>
                  <a:close/>
                  <a:moveTo>
                    <a:pt x="59" y="28"/>
                  </a:moveTo>
                  <a:cubicBezTo>
                    <a:pt x="59" y="28"/>
                    <a:pt x="59" y="28"/>
                    <a:pt x="59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59" y="28"/>
                    <a:pt x="59" y="28"/>
                    <a:pt x="59" y="28"/>
                  </a:cubicBezTo>
                  <a:close/>
                  <a:moveTo>
                    <a:pt x="58" y="29"/>
                  </a:moveTo>
                  <a:cubicBezTo>
                    <a:pt x="59" y="29"/>
                    <a:pt x="59" y="29"/>
                    <a:pt x="59" y="28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8" y="29"/>
                    <a:pt x="58" y="29"/>
                    <a:pt x="58" y="29"/>
                  </a:cubicBezTo>
                  <a:close/>
                  <a:moveTo>
                    <a:pt x="59" y="26"/>
                  </a:moveTo>
                  <a:cubicBezTo>
                    <a:pt x="59" y="26"/>
                    <a:pt x="59" y="26"/>
                    <a:pt x="59" y="26"/>
                  </a:cubicBezTo>
                  <a:cubicBezTo>
                    <a:pt x="59" y="26"/>
                    <a:pt x="60" y="26"/>
                    <a:pt x="60" y="26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9" y="26"/>
                    <a:pt x="59" y="26"/>
                    <a:pt x="59" y="26"/>
                  </a:cubicBezTo>
                  <a:close/>
                  <a:moveTo>
                    <a:pt x="59" y="32"/>
                  </a:moveTo>
                  <a:cubicBezTo>
                    <a:pt x="59" y="32"/>
                    <a:pt x="60" y="32"/>
                    <a:pt x="60" y="32"/>
                  </a:cubicBezTo>
                  <a:cubicBezTo>
                    <a:pt x="60" y="32"/>
                    <a:pt x="59" y="32"/>
                    <a:pt x="59" y="32"/>
                  </a:cubicBezTo>
                  <a:close/>
                  <a:moveTo>
                    <a:pt x="59" y="27"/>
                  </a:move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9" y="27"/>
                    <a:pt x="59" y="27"/>
                  </a:cubicBezTo>
                  <a:close/>
                  <a:moveTo>
                    <a:pt x="58" y="26"/>
                  </a:moveTo>
                  <a:cubicBezTo>
                    <a:pt x="59" y="26"/>
                    <a:pt x="59" y="26"/>
                    <a:pt x="59" y="26"/>
                  </a:cubicBezTo>
                  <a:cubicBezTo>
                    <a:pt x="59" y="26"/>
                    <a:pt x="58" y="26"/>
                    <a:pt x="58" y="26"/>
                  </a:cubicBezTo>
                  <a:close/>
                  <a:moveTo>
                    <a:pt x="59" y="34"/>
                  </a:moveTo>
                  <a:cubicBezTo>
                    <a:pt x="59" y="34"/>
                    <a:pt x="59" y="34"/>
                    <a:pt x="59" y="33"/>
                  </a:cubicBezTo>
                  <a:cubicBezTo>
                    <a:pt x="59" y="33"/>
                    <a:pt x="59" y="33"/>
                    <a:pt x="59" y="34"/>
                  </a:cubicBezTo>
                  <a:close/>
                  <a:moveTo>
                    <a:pt x="59" y="32"/>
                  </a:moveTo>
                  <a:cubicBezTo>
                    <a:pt x="59" y="32"/>
                    <a:pt x="58" y="32"/>
                    <a:pt x="58" y="32"/>
                  </a:cubicBezTo>
                  <a:cubicBezTo>
                    <a:pt x="58" y="32"/>
                    <a:pt x="59" y="32"/>
                    <a:pt x="59" y="32"/>
                  </a:cubicBezTo>
                  <a:close/>
                  <a:moveTo>
                    <a:pt x="58" y="26"/>
                  </a:moveTo>
                  <a:cubicBezTo>
                    <a:pt x="58" y="26"/>
                    <a:pt x="58" y="26"/>
                    <a:pt x="57" y="26"/>
                  </a:cubicBezTo>
                  <a:cubicBezTo>
                    <a:pt x="58" y="26"/>
                    <a:pt x="58" y="27"/>
                    <a:pt x="58" y="26"/>
                  </a:cubicBezTo>
                  <a:close/>
                  <a:moveTo>
                    <a:pt x="57" y="29"/>
                  </a:moveTo>
                  <a:cubicBezTo>
                    <a:pt x="58" y="29"/>
                    <a:pt x="58" y="29"/>
                    <a:pt x="58" y="29"/>
                  </a:cubicBezTo>
                  <a:cubicBezTo>
                    <a:pt x="58" y="29"/>
                    <a:pt x="57" y="29"/>
                    <a:pt x="57" y="29"/>
                  </a:cubicBezTo>
                  <a:close/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6" y="31"/>
                  </a:moveTo>
                  <a:cubicBezTo>
                    <a:pt x="57" y="31"/>
                    <a:pt x="57" y="31"/>
                    <a:pt x="56" y="31"/>
                  </a:cubicBezTo>
                  <a:close/>
                  <a:moveTo>
                    <a:pt x="55" y="33"/>
                  </a:moveTo>
                  <a:cubicBezTo>
                    <a:pt x="56" y="33"/>
                    <a:pt x="56" y="33"/>
                    <a:pt x="56" y="33"/>
                  </a:cubicBezTo>
                  <a:cubicBezTo>
                    <a:pt x="56" y="33"/>
                    <a:pt x="56" y="33"/>
                    <a:pt x="55" y="33"/>
                  </a:cubicBezTo>
                  <a:close/>
                  <a:moveTo>
                    <a:pt x="56" y="34"/>
                  </a:moveTo>
                  <a:cubicBezTo>
                    <a:pt x="56" y="34"/>
                    <a:pt x="56" y="34"/>
                    <a:pt x="56" y="33"/>
                  </a:cubicBezTo>
                  <a:lnTo>
                    <a:pt x="56" y="34"/>
                  </a:lnTo>
                  <a:close/>
                  <a:moveTo>
                    <a:pt x="56" y="36"/>
                  </a:moveTo>
                  <a:cubicBezTo>
                    <a:pt x="56" y="36"/>
                    <a:pt x="55" y="36"/>
                    <a:pt x="55" y="36"/>
                  </a:cubicBezTo>
                  <a:cubicBezTo>
                    <a:pt x="56" y="36"/>
                    <a:pt x="56" y="36"/>
                    <a:pt x="56" y="36"/>
                  </a:cubicBezTo>
                  <a:close/>
                  <a:moveTo>
                    <a:pt x="54" y="36"/>
                  </a:moveTo>
                  <a:cubicBezTo>
                    <a:pt x="54" y="36"/>
                    <a:pt x="54" y="36"/>
                    <a:pt x="54" y="36"/>
                  </a:cubicBezTo>
                  <a:close/>
                  <a:moveTo>
                    <a:pt x="192" y="23"/>
                  </a:moveTo>
                  <a:cubicBezTo>
                    <a:pt x="199" y="23"/>
                    <a:pt x="208" y="22"/>
                    <a:pt x="214" y="22"/>
                  </a:cubicBezTo>
                  <a:cubicBezTo>
                    <a:pt x="222" y="21"/>
                    <a:pt x="222" y="21"/>
                    <a:pt x="222" y="21"/>
                  </a:cubicBezTo>
                  <a:cubicBezTo>
                    <a:pt x="210" y="22"/>
                    <a:pt x="200" y="22"/>
                    <a:pt x="192" y="23"/>
                  </a:cubicBezTo>
                  <a:close/>
                  <a:moveTo>
                    <a:pt x="59" y="31"/>
                  </a:moveTo>
                  <a:cubicBezTo>
                    <a:pt x="59" y="31"/>
                    <a:pt x="59" y="31"/>
                    <a:pt x="59" y="31"/>
                  </a:cubicBezTo>
                  <a:cubicBezTo>
                    <a:pt x="59" y="31"/>
                    <a:pt x="60" y="31"/>
                    <a:pt x="60" y="31"/>
                  </a:cubicBezTo>
                  <a:cubicBezTo>
                    <a:pt x="59" y="31"/>
                    <a:pt x="58" y="31"/>
                    <a:pt x="57" y="31"/>
                  </a:cubicBezTo>
                  <a:cubicBezTo>
                    <a:pt x="58" y="31"/>
                    <a:pt x="58" y="31"/>
                    <a:pt x="59" y="31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9" y="31"/>
                    <a:pt x="59" y="31"/>
                    <a:pt x="59" y="31"/>
                  </a:cubicBezTo>
                  <a:close/>
                  <a:moveTo>
                    <a:pt x="58" y="27"/>
                  </a:moveTo>
                  <a:cubicBezTo>
                    <a:pt x="58" y="27"/>
                    <a:pt x="58" y="27"/>
                    <a:pt x="58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9" y="27"/>
                    <a:pt x="58" y="27"/>
                    <a:pt x="58" y="27"/>
                  </a:cubicBezTo>
                  <a:close/>
                  <a:moveTo>
                    <a:pt x="55" y="28"/>
                  </a:move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6" y="28"/>
                    <a:pt x="56" y="27"/>
                  </a:cubicBezTo>
                  <a:cubicBezTo>
                    <a:pt x="56" y="27"/>
                    <a:pt x="56" y="28"/>
                    <a:pt x="56" y="28"/>
                  </a:cubicBezTo>
                  <a:cubicBezTo>
                    <a:pt x="57" y="27"/>
                    <a:pt x="58" y="28"/>
                    <a:pt x="58" y="27"/>
                  </a:cubicBezTo>
                  <a:cubicBezTo>
                    <a:pt x="57" y="27"/>
                    <a:pt x="56" y="27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28"/>
                    <a:pt x="54" y="27"/>
                    <a:pt x="54" y="28"/>
                  </a:cubicBezTo>
                  <a:cubicBezTo>
                    <a:pt x="54" y="28"/>
                    <a:pt x="54" y="28"/>
                    <a:pt x="55" y="28"/>
                  </a:cubicBezTo>
                  <a:close/>
                  <a:moveTo>
                    <a:pt x="56" y="34"/>
                  </a:moveTo>
                  <a:cubicBezTo>
                    <a:pt x="56" y="34"/>
                    <a:pt x="56" y="34"/>
                    <a:pt x="56" y="34"/>
                  </a:cubicBezTo>
                  <a:cubicBezTo>
                    <a:pt x="56" y="34"/>
                    <a:pt x="56" y="34"/>
                    <a:pt x="56" y="34"/>
                  </a:cubicBezTo>
                  <a:close/>
                  <a:moveTo>
                    <a:pt x="578" y="337"/>
                  </a:moveTo>
                  <a:cubicBezTo>
                    <a:pt x="579" y="495"/>
                    <a:pt x="576" y="661"/>
                    <a:pt x="571" y="820"/>
                  </a:cubicBezTo>
                  <a:cubicBezTo>
                    <a:pt x="568" y="940"/>
                    <a:pt x="568" y="940"/>
                    <a:pt x="568" y="940"/>
                  </a:cubicBezTo>
                  <a:cubicBezTo>
                    <a:pt x="567" y="952"/>
                    <a:pt x="567" y="963"/>
                    <a:pt x="567" y="974"/>
                  </a:cubicBezTo>
                  <a:cubicBezTo>
                    <a:pt x="566" y="994"/>
                    <a:pt x="566" y="994"/>
                    <a:pt x="566" y="994"/>
                  </a:cubicBezTo>
                  <a:cubicBezTo>
                    <a:pt x="566" y="995"/>
                    <a:pt x="566" y="995"/>
                    <a:pt x="566" y="995"/>
                  </a:cubicBezTo>
                  <a:cubicBezTo>
                    <a:pt x="566" y="996"/>
                    <a:pt x="566" y="997"/>
                    <a:pt x="566" y="998"/>
                  </a:cubicBezTo>
                  <a:cubicBezTo>
                    <a:pt x="565" y="999"/>
                    <a:pt x="565" y="1000"/>
                    <a:pt x="564" y="1001"/>
                  </a:cubicBezTo>
                  <a:cubicBezTo>
                    <a:pt x="563" y="1004"/>
                    <a:pt x="560" y="1006"/>
                    <a:pt x="559" y="1007"/>
                  </a:cubicBezTo>
                  <a:cubicBezTo>
                    <a:pt x="555" y="1010"/>
                    <a:pt x="552" y="1011"/>
                    <a:pt x="548" y="1013"/>
                  </a:cubicBezTo>
                  <a:cubicBezTo>
                    <a:pt x="535" y="1019"/>
                    <a:pt x="521" y="1021"/>
                    <a:pt x="507" y="1024"/>
                  </a:cubicBezTo>
                  <a:cubicBezTo>
                    <a:pt x="479" y="1029"/>
                    <a:pt x="452" y="1031"/>
                    <a:pt x="431" y="1033"/>
                  </a:cubicBezTo>
                  <a:cubicBezTo>
                    <a:pt x="397" y="1036"/>
                    <a:pt x="360" y="1038"/>
                    <a:pt x="324" y="1039"/>
                  </a:cubicBezTo>
                  <a:cubicBezTo>
                    <a:pt x="309" y="1039"/>
                    <a:pt x="295" y="1039"/>
                    <a:pt x="281" y="1039"/>
                  </a:cubicBezTo>
                  <a:cubicBezTo>
                    <a:pt x="264" y="1040"/>
                    <a:pt x="264" y="1040"/>
                    <a:pt x="264" y="1040"/>
                  </a:cubicBezTo>
                  <a:cubicBezTo>
                    <a:pt x="241" y="1040"/>
                    <a:pt x="217" y="1039"/>
                    <a:pt x="193" y="1038"/>
                  </a:cubicBezTo>
                  <a:cubicBezTo>
                    <a:pt x="179" y="1037"/>
                    <a:pt x="168" y="1037"/>
                    <a:pt x="156" y="1036"/>
                  </a:cubicBezTo>
                  <a:cubicBezTo>
                    <a:pt x="135" y="1034"/>
                    <a:pt x="112" y="1032"/>
                    <a:pt x="87" y="1028"/>
                  </a:cubicBezTo>
                  <a:cubicBezTo>
                    <a:pt x="75" y="1026"/>
                    <a:pt x="63" y="1024"/>
                    <a:pt x="51" y="1020"/>
                  </a:cubicBezTo>
                  <a:cubicBezTo>
                    <a:pt x="45" y="1019"/>
                    <a:pt x="39" y="1017"/>
                    <a:pt x="33" y="1013"/>
                  </a:cubicBezTo>
                  <a:cubicBezTo>
                    <a:pt x="30" y="1012"/>
                    <a:pt x="27" y="1010"/>
                    <a:pt x="24" y="1007"/>
                  </a:cubicBezTo>
                  <a:cubicBezTo>
                    <a:pt x="22" y="1006"/>
                    <a:pt x="21" y="1004"/>
                    <a:pt x="19" y="1002"/>
                  </a:cubicBezTo>
                  <a:cubicBezTo>
                    <a:pt x="19" y="1001"/>
                    <a:pt x="18" y="1000"/>
                    <a:pt x="18" y="999"/>
                  </a:cubicBezTo>
                  <a:cubicBezTo>
                    <a:pt x="18" y="999"/>
                    <a:pt x="18" y="998"/>
                    <a:pt x="17" y="997"/>
                  </a:cubicBezTo>
                  <a:cubicBezTo>
                    <a:pt x="17" y="997"/>
                    <a:pt x="17" y="996"/>
                    <a:pt x="17" y="996"/>
                  </a:cubicBezTo>
                  <a:cubicBezTo>
                    <a:pt x="15" y="984"/>
                    <a:pt x="14" y="971"/>
                    <a:pt x="13" y="960"/>
                  </a:cubicBezTo>
                  <a:cubicBezTo>
                    <a:pt x="11" y="941"/>
                    <a:pt x="11" y="941"/>
                    <a:pt x="11" y="941"/>
                  </a:cubicBezTo>
                  <a:cubicBezTo>
                    <a:pt x="9" y="920"/>
                    <a:pt x="7" y="891"/>
                    <a:pt x="6" y="869"/>
                  </a:cubicBezTo>
                  <a:cubicBezTo>
                    <a:pt x="5" y="857"/>
                    <a:pt x="5" y="845"/>
                    <a:pt x="4" y="833"/>
                  </a:cubicBezTo>
                  <a:cubicBezTo>
                    <a:pt x="3" y="807"/>
                    <a:pt x="2" y="783"/>
                    <a:pt x="2" y="762"/>
                  </a:cubicBezTo>
                  <a:cubicBezTo>
                    <a:pt x="1" y="735"/>
                    <a:pt x="0" y="691"/>
                    <a:pt x="0" y="657"/>
                  </a:cubicBezTo>
                  <a:cubicBezTo>
                    <a:pt x="0" y="655"/>
                    <a:pt x="0" y="654"/>
                    <a:pt x="0" y="653"/>
                  </a:cubicBezTo>
                  <a:cubicBezTo>
                    <a:pt x="0" y="628"/>
                    <a:pt x="0" y="603"/>
                    <a:pt x="0" y="579"/>
                  </a:cubicBezTo>
                  <a:cubicBezTo>
                    <a:pt x="0" y="575"/>
                    <a:pt x="0" y="575"/>
                    <a:pt x="0" y="572"/>
                  </a:cubicBezTo>
                  <a:cubicBezTo>
                    <a:pt x="1" y="540"/>
                    <a:pt x="1" y="540"/>
                    <a:pt x="1" y="540"/>
                  </a:cubicBezTo>
                  <a:cubicBezTo>
                    <a:pt x="2" y="493"/>
                    <a:pt x="2" y="459"/>
                    <a:pt x="3" y="420"/>
                  </a:cubicBezTo>
                  <a:cubicBezTo>
                    <a:pt x="3" y="398"/>
                    <a:pt x="4" y="373"/>
                    <a:pt x="5" y="350"/>
                  </a:cubicBezTo>
                  <a:cubicBezTo>
                    <a:pt x="5" y="331"/>
                    <a:pt x="5" y="331"/>
                    <a:pt x="5" y="331"/>
                  </a:cubicBezTo>
                  <a:cubicBezTo>
                    <a:pt x="6" y="316"/>
                    <a:pt x="6" y="316"/>
                    <a:pt x="6" y="316"/>
                  </a:cubicBezTo>
                  <a:cubicBezTo>
                    <a:pt x="6" y="302"/>
                    <a:pt x="6" y="302"/>
                    <a:pt x="6" y="302"/>
                  </a:cubicBezTo>
                  <a:cubicBezTo>
                    <a:pt x="7" y="281"/>
                    <a:pt x="7" y="281"/>
                    <a:pt x="7" y="281"/>
                  </a:cubicBezTo>
                  <a:cubicBezTo>
                    <a:pt x="8" y="260"/>
                    <a:pt x="8" y="260"/>
                    <a:pt x="8" y="260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10" y="220"/>
                    <a:pt x="10" y="203"/>
                    <a:pt x="11" y="181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04"/>
                    <a:pt x="14" y="104"/>
                    <a:pt x="14" y="104"/>
                  </a:cubicBezTo>
                  <a:cubicBezTo>
                    <a:pt x="15" y="89"/>
                    <a:pt x="15" y="89"/>
                    <a:pt x="15" y="89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7"/>
                    <a:pt x="16" y="67"/>
                    <a:pt x="16" y="66"/>
                  </a:cubicBezTo>
                  <a:cubicBezTo>
                    <a:pt x="16" y="66"/>
                    <a:pt x="17" y="64"/>
                    <a:pt x="16" y="63"/>
                  </a:cubicBezTo>
                  <a:cubicBezTo>
                    <a:pt x="16" y="63"/>
                    <a:pt x="16" y="63"/>
                    <a:pt x="15" y="63"/>
                  </a:cubicBezTo>
                  <a:cubicBezTo>
                    <a:pt x="15" y="63"/>
                    <a:pt x="16" y="63"/>
                    <a:pt x="16" y="62"/>
                  </a:cubicBezTo>
                  <a:cubicBezTo>
                    <a:pt x="16" y="62"/>
                    <a:pt x="16" y="61"/>
                    <a:pt x="16" y="60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6" y="57"/>
                    <a:pt x="16" y="57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7" y="57"/>
                    <a:pt x="17" y="55"/>
                    <a:pt x="17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53"/>
                    <a:pt x="18" y="52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20" y="51"/>
                    <a:pt x="20" y="50"/>
                  </a:cubicBezTo>
                  <a:cubicBezTo>
                    <a:pt x="20" y="50"/>
                    <a:pt x="20" y="50"/>
                    <a:pt x="21" y="50"/>
                  </a:cubicBezTo>
                  <a:cubicBezTo>
                    <a:pt x="21" y="50"/>
                    <a:pt x="21" y="50"/>
                    <a:pt x="22" y="49"/>
                  </a:cubicBezTo>
                  <a:cubicBezTo>
                    <a:pt x="22" y="49"/>
                    <a:pt x="22" y="49"/>
                    <a:pt x="23" y="49"/>
                  </a:cubicBezTo>
                  <a:cubicBezTo>
                    <a:pt x="23" y="48"/>
                    <a:pt x="24" y="49"/>
                    <a:pt x="24" y="48"/>
                  </a:cubicBezTo>
                  <a:cubicBezTo>
                    <a:pt x="25" y="48"/>
                    <a:pt x="26" y="48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9"/>
                    <a:pt x="29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50"/>
                    <a:pt x="31" y="50"/>
                    <a:pt x="31" y="50"/>
                  </a:cubicBezTo>
                  <a:cubicBezTo>
                    <a:pt x="32" y="51"/>
                    <a:pt x="33" y="52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4"/>
                    <a:pt x="34" y="54"/>
                    <a:pt x="34" y="55"/>
                  </a:cubicBezTo>
                  <a:cubicBezTo>
                    <a:pt x="35" y="55"/>
                    <a:pt x="35" y="56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8"/>
                    <a:pt x="35" y="58"/>
                    <a:pt x="35" y="59"/>
                  </a:cubicBezTo>
                  <a:cubicBezTo>
                    <a:pt x="35" y="59"/>
                    <a:pt x="35" y="60"/>
                    <a:pt x="35" y="60"/>
                  </a:cubicBezTo>
                  <a:cubicBezTo>
                    <a:pt x="35" y="60"/>
                    <a:pt x="35" y="61"/>
                    <a:pt x="35" y="61"/>
                  </a:cubicBezTo>
                  <a:cubicBezTo>
                    <a:pt x="35" y="61"/>
                    <a:pt x="35" y="62"/>
                    <a:pt x="34" y="62"/>
                  </a:cubicBezTo>
                  <a:cubicBezTo>
                    <a:pt x="35" y="62"/>
                    <a:pt x="35" y="63"/>
                    <a:pt x="34" y="63"/>
                  </a:cubicBezTo>
                  <a:cubicBezTo>
                    <a:pt x="34" y="63"/>
                    <a:pt x="34" y="63"/>
                    <a:pt x="33" y="63"/>
                  </a:cubicBezTo>
                  <a:cubicBezTo>
                    <a:pt x="33" y="64"/>
                    <a:pt x="35" y="65"/>
                    <a:pt x="34" y="65"/>
                  </a:cubicBezTo>
                  <a:cubicBezTo>
                    <a:pt x="33" y="65"/>
                    <a:pt x="33" y="66"/>
                    <a:pt x="33" y="67"/>
                  </a:cubicBezTo>
                  <a:cubicBezTo>
                    <a:pt x="33" y="68"/>
                    <a:pt x="33" y="68"/>
                    <a:pt x="33" y="68"/>
                  </a:cubicBezTo>
                  <a:cubicBezTo>
                    <a:pt x="33" y="69"/>
                    <a:pt x="33" y="69"/>
                    <a:pt x="33" y="69"/>
                  </a:cubicBezTo>
                  <a:cubicBezTo>
                    <a:pt x="33" y="69"/>
                    <a:pt x="33" y="69"/>
                    <a:pt x="33" y="69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95"/>
                    <a:pt x="31" y="114"/>
                    <a:pt x="29" y="131"/>
                  </a:cubicBezTo>
                  <a:cubicBezTo>
                    <a:pt x="29" y="146"/>
                    <a:pt x="28" y="161"/>
                    <a:pt x="27" y="176"/>
                  </a:cubicBezTo>
                  <a:cubicBezTo>
                    <a:pt x="25" y="222"/>
                    <a:pt x="24" y="268"/>
                    <a:pt x="22" y="313"/>
                  </a:cubicBezTo>
                  <a:cubicBezTo>
                    <a:pt x="19" y="397"/>
                    <a:pt x="19" y="397"/>
                    <a:pt x="19" y="397"/>
                  </a:cubicBezTo>
                  <a:cubicBezTo>
                    <a:pt x="17" y="482"/>
                    <a:pt x="17" y="482"/>
                    <a:pt x="17" y="482"/>
                  </a:cubicBezTo>
                  <a:cubicBezTo>
                    <a:pt x="16" y="531"/>
                    <a:pt x="16" y="531"/>
                    <a:pt x="16" y="531"/>
                  </a:cubicBezTo>
                  <a:cubicBezTo>
                    <a:pt x="16" y="546"/>
                    <a:pt x="16" y="546"/>
                    <a:pt x="16" y="546"/>
                  </a:cubicBezTo>
                  <a:cubicBezTo>
                    <a:pt x="15" y="593"/>
                    <a:pt x="15" y="593"/>
                    <a:pt x="15" y="593"/>
                  </a:cubicBezTo>
                  <a:cubicBezTo>
                    <a:pt x="15" y="608"/>
                    <a:pt x="15" y="622"/>
                    <a:pt x="15" y="639"/>
                  </a:cubicBezTo>
                  <a:cubicBezTo>
                    <a:pt x="15" y="682"/>
                    <a:pt x="16" y="742"/>
                    <a:pt x="18" y="796"/>
                  </a:cubicBezTo>
                  <a:cubicBezTo>
                    <a:pt x="18" y="806"/>
                    <a:pt x="18" y="806"/>
                    <a:pt x="18" y="806"/>
                  </a:cubicBezTo>
                  <a:cubicBezTo>
                    <a:pt x="19" y="841"/>
                    <a:pt x="21" y="874"/>
                    <a:pt x="23" y="905"/>
                  </a:cubicBezTo>
                  <a:cubicBezTo>
                    <a:pt x="24" y="924"/>
                    <a:pt x="26" y="946"/>
                    <a:pt x="28" y="968"/>
                  </a:cubicBezTo>
                  <a:cubicBezTo>
                    <a:pt x="30" y="985"/>
                    <a:pt x="30" y="985"/>
                    <a:pt x="30" y="985"/>
                  </a:cubicBezTo>
                  <a:cubicBezTo>
                    <a:pt x="31" y="993"/>
                    <a:pt x="31" y="993"/>
                    <a:pt x="31" y="993"/>
                  </a:cubicBezTo>
                  <a:cubicBezTo>
                    <a:pt x="32" y="995"/>
                    <a:pt x="32" y="994"/>
                    <a:pt x="32" y="995"/>
                  </a:cubicBezTo>
                  <a:cubicBezTo>
                    <a:pt x="32" y="995"/>
                    <a:pt x="32" y="996"/>
                    <a:pt x="33" y="996"/>
                  </a:cubicBezTo>
                  <a:cubicBezTo>
                    <a:pt x="35" y="999"/>
                    <a:pt x="39" y="1001"/>
                    <a:pt x="44" y="1003"/>
                  </a:cubicBezTo>
                  <a:cubicBezTo>
                    <a:pt x="48" y="1005"/>
                    <a:pt x="53" y="1006"/>
                    <a:pt x="58" y="1008"/>
                  </a:cubicBezTo>
                  <a:cubicBezTo>
                    <a:pt x="75" y="1012"/>
                    <a:pt x="93" y="1015"/>
                    <a:pt x="111" y="1017"/>
                  </a:cubicBezTo>
                  <a:cubicBezTo>
                    <a:pt x="129" y="1019"/>
                    <a:pt x="147" y="1021"/>
                    <a:pt x="165" y="1022"/>
                  </a:cubicBezTo>
                  <a:cubicBezTo>
                    <a:pt x="192" y="1024"/>
                    <a:pt x="221" y="1025"/>
                    <a:pt x="249" y="1025"/>
                  </a:cubicBezTo>
                  <a:cubicBezTo>
                    <a:pt x="259" y="1025"/>
                    <a:pt x="270" y="1025"/>
                    <a:pt x="279" y="1025"/>
                  </a:cubicBezTo>
                  <a:cubicBezTo>
                    <a:pt x="294" y="1025"/>
                    <a:pt x="309" y="1025"/>
                    <a:pt x="323" y="1025"/>
                  </a:cubicBezTo>
                  <a:cubicBezTo>
                    <a:pt x="350" y="1024"/>
                    <a:pt x="376" y="1023"/>
                    <a:pt x="403" y="1021"/>
                  </a:cubicBezTo>
                  <a:cubicBezTo>
                    <a:pt x="426" y="1020"/>
                    <a:pt x="451" y="1018"/>
                    <a:pt x="475" y="1014"/>
                  </a:cubicBezTo>
                  <a:cubicBezTo>
                    <a:pt x="483" y="1013"/>
                    <a:pt x="492" y="1012"/>
                    <a:pt x="501" y="1011"/>
                  </a:cubicBezTo>
                  <a:cubicBezTo>
                    <a:pt x="507" y="1010"/>
                    <a:pt x="512" y="1009"/>
                    <a:pt x="517" y="1007"/>
                  </a:cubicBezTo>
                  <a:cubicBezTo>
                    <a:pt x="524" y="1006"/>
                    <a:pt x="532" y="1004"/>
                    <a:pt x="539" y="1001"/>
                  </a:cubicBezTo>
                  <a:cubicBezTo>
                    <a:pt x="543" y="1000"/>
                    <a:pt x="546" y="999"/>
                    <a:pt x="549" y="997"/>
                  </a:cubicBezTo>
                  <a:cubicBezTo>
                    <a:pt x="550" y="996"/>
                    <a:pt x="550" y="996"/>
                    <a:pt x="551" y="995"/>
                  </a:cubicBezTo>
                  <a:cubicBezTo>
                    <a:pt x="551" y="995"/>
                    <a:pt x="551" y="995"/>
                    <a:pt x="551" y="995"/>
                  </a:cubicBezTo>
                  <a:cubicBezTo>
                    <a:pt x="552" y="995"/>
                    <a:pt x="552" y="994"/>
                    <a:pt x="552" y="994"/>
                  </a:cubicBezTo>
                  <a:cubicBezTo>
                    <a:pt x="552" y="992"/>
                    <a:pt x="552" y="992"/>
                    <a:pt x="552" y="992"/>
                  </a:cubicBezTo>
                  <a:cubicBezTo>
                    <a:pt x="554" y="938"/>
                    <a:pt x="554" y="938"/>
                    <a:pt x="554" y="938"/>
                  </a:cubicBezTo>
                  <a:cubicBezTo>
                    <a:pt x="555" y="890"/>
                    <a:pt x="557" y="845"/>
                    <a:pt x="558" y="793"/>
                  </a:cubicBezTo>
                  <a:cubicBezTo>
                    <a:pt x="559" y="754"/>
                    <a:pt x="560" y="713"/>
                    <a:pt x="561" y="669"/>
                  </a:cubicBezTo>
                  <a:cubicBezTo>
                    <a:pt x="562" y="615"/>
                    <a:pt x="563" y="557"/>
                    <a:pt x="564" y="499"/>
                  </a:cubicBezTo>
                  <a:cubicBezTo>
                    <a:pt x="565" y="437"/>
                    <a:pt x="565" y="375"/>
                    <a:pt x="565" y="314"/>
                  </a:cubicBezTo>
                  <a:cubicBezTo>
                    <a:pt x="565" y="312"/>
                    <a:pt x="565" y="309"/>
                    <a:pt x="565" y="304"/>
                  </a:cubicBezTo>
                  <a:cubicBezTo>
                    <a:pt x="565" y="298"/>
                    <a:pt x="565" y="300"/>
                    <a:pt x="565" y="292"/>
                  </a:cubicBezTo>
                  <a:cubicBezTo>
                    <a:pt x="565" y="287"/>
                    <a:pt x="565" y="290"/>
                    <a:pt x="565" y="286"/>
                  </a:cubicBezTo>
                  <a:cubicBezTo>
                    <a:pt x="565" y="233"/>
                    <a:pt x="564" y="181"/>
                    <a:pt x="562" y="133"/>
                  </a:cubicBezTo>
                  <a:cubicBezTo>
                    <a:pt x="561" y="124"/>
                    <a:pt x="562" y="132"/>
                    <a:pt x="562" y="126"/>
                  </a:cubicBezTo>
                  <a:cubicBezTo>
                    <a:pt x="561" y="112"/>
                    <a:pt x="560" y="94"/>
                    <a:pt x="558" y="76"/>
                  </a:cubicBezTo>
                  <a:cubicBezTo>
                    <a:pt x="558" y="67"/>
                    <a:pt x="557" y="58"/>
                    <a:pt x="555" y="50"/>
                  </a:cubicBezTo>
                  <a:cubicBezTo>
                    <a:pt x="554" y="45"/>
                    <a:pt x="553" y="41"/>
                    <a:pt x="552" y="39"/>
                  </a:cubicBezTo>
                  <a:cubicBezTo>
                    <a:pt x="550" y="37"/>
                    <a:pt x="547" y="35"/>
                    <a:pt x="544" y="33"/>
                  </a:cubicBezTo>
                  <a:cubicBezTo>
                    <a:pt x="534" y="26"/>
                    <a:pt x="518" y="23"/>
                    <a:pt x="505" y="20"/>
                  </a:cubicBezTo>
                  <a:cubicBezTo>
                    <a:pt x="501" y="20"/>
                    <a:pt x="503" y="20"/>
                    <a:pt x="500" y="20"/>
                  </a:cubicBezTo>
                  <a:cubicBezTo>
                    <a:pt x="496" y="19"/>
                    <a:pt x="499" y="19"/>
                    <a:pt x="495" y="19"/>
                  </a:cubicBezTo>
                  <a:cubicBezTo>
                    <a:pt x="495" y="19"/>
                    <a:pt x="487" y="18"/>
                    <a:pt x="484" y="17"/>
                  </a:cubicBezTo>
                  <a:cubicBezTo>
                    <a:pt x="449" y="13"/>
                    <a:pt x="414" y="13"/>
                    <a:pt x="378" y="13"/>
                  </a:cubicBezTo>
                  <a:cubicBezTo>
                    <a:pt x="372" y="13"/>
                    <a:pt x="372" y="13"/>
                    <a:pt x="362" y="13"/>
                  </a:cubicBezTo>
                  <a:cubicBezTo>
                    <a:pt x="354" y="13"/>
                    <a:pt x="355" y="13"/>
                    <a:pt x="348" y="13"/>
                  </a:cubicBezTo>
                  <a:cubicBezTo>
                    <a:pt x="347" y="13"/>
                    <a:pt x="338" y="13"/>
                    <a:pt x="337" y="13"/>
                  </a:cubicBezTo>
                  <a:cubicBezTo>
                    <a:pt x="336" y="13"/>
                    <a:pt x="338" y="13"/>
                    <a:pt x="336" y="13"/>
                  </a:cubicBezTo>
                  <a:cubicBezTo>
                    <a:pt x="330" y="13"/>
                    <a:pt x="308" y="14"/>
                    <a:pt x="296" y="15"/>
                  </a:cubicBezTo>
                  <a:cubicBezTo>
                    <a:pt x="281" y="16"/>
                    <a:pt x="264" y="16"/>
                    <a:pt x="245" y="18"/>
                  </a:cubicBezTo>
                  <a:cubicBezTo>
                    <a:pt x="263" y="16"/>
                    <a:pt x="277" y="15"/>
                    <a:pt x="282" y="15"/>
                  </a:cubicBezTo>
                  <a:cubicBezTo>
                    <a:pt x="264" y="15"/>
                    <a:pt x="232" y="17"/>
                    <a:pt x="215" y="18"/>
                  </a:cubicBezTo>
                  <a:cubicBezTo>
                    <a:pt x="174" y="21"/>
                    <a:pt x="123" y="26"/>
                    <a:pt x="76" y="31"/>
                  </a:cubicBezTo>
                  <a:cubicBezTo>
                    <a:pt x="73" y="31"/>
                    <a:pt x="71" y="31"/>
                    <a:pt x="71" y="3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7" y="33"/>
                    <a:pt x="56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109" y="27"/>
                    <a:pt x="155" y="23"/>
                    <a:pt x="201" y="19"/>
                  </a:cubicBezTo>
                  <a:cubicBezTo>
                    <a:pt x="222" y="18"/>
                    <a:pt x="276" y="14"/>
                    <a:pt x="307" y="13"/>
                  </a:cubicBezTo>
                  <a:cubicBezTo>
                    <a:pt x="326" y="12"/>
                    <a:pt x="336" y="11"/>
                    <a:pt x="327" y="11"/>
                  </a:cubicBezTo>
                  <a:cubicBezTo>
                    <a:pt x="302" y="12"/>
                    <a:pt x="281" y="13"/>
                    <a:pt x="258" y="14"/>
                  </a:cubicBezTo>
                  <a:cubicBezTo>
                    <a:pt x="254" y="14"/>
                    <a:pt x="249" y="14"/>
                    <a:pt x="255" y="14"/>
                  </a:cubicBezTo>
                  <a:cubicBezTo>
                    <a:pt x="303" y="11"/>
                    <a:pt x="358" y="9"/>
                    <a:pt x="397" y="9"/>
                  </a:cubicBezTo>
                  <a:cubicBezTo>
                    <a:pt x="419" y="9"/>
                    <a:pt x="419" y="9"/>
                    <a:pt x="419" y="9"/>
                  </a:cubicBezTo>
                  <a:cubicBezTo>
                    <a:pt x="429" y="9"/>
                    <a:pt x="429" y="9"/>
                    <a:pt x="429" y="9"/>
                  </a:cubicBezTo>
                  <a:cubicBezTo>
                    <a:pt x="428" y="9"/>
                    <a:pt x="424" y="9"/>
                    <a:pt x="425" y="9"/>
                  </a:cubicBezTo>
                  <a:cubicBezTo>
                    <a:pt x="379" y="8"/>
                    <a:pt x="343" y="8"/>
                    <a:pt x="295" y="10"/>
                  </a:cubicBezTo>
                  <a:cubicBezTo>
                    <a:pt x="276" y="10"/>
                    <a:pt x="276" y="10"/>
                    <a:pt x="276" y="10"/>
                  </a:cubicBezTo>
                  <a:cubicBezTo>
                    <a:pt x="260" y="11"/>
                    <a:pt x="238" y="13"/>
                    <a:pt x="218" y="14"/>
                  </a:cubicBezTo>
                  <a:cubicBezTo>
                    <a:pt x="213" y="14"/>
                    <a:pt x="215" y="14"/>
                    <a:pt x="213" y="14"/>
                  </a:cubicBezTo>
                  <a:cubicBezTo>
                    <a:pt x="167" y="18"/>
                    <a:pt x="126" y="22"/>
                    <a:pt x="87" y="25"/>
                  </a:cubicBezTo>
                  <a:cubicBezTo>
                    <a:pt x="121" y="22"/>
                    <a:pt x="157" y="19"/>
                    <a:pt x="190" y="16"/>
                  </a:cubicBezTo>
                  <a:cubicBezTo>
                    <a:pt x="195" y="16"/>
                    <a:pt x="197" y="15"/>
                    <a:pt x="200" y="15"/>
                  </a:cubicBezTo>
                  <a:cubicBezTo>
                    <a:pt x="229" y="13"/>
                    <a:pt x="271" y="10"/>
                    <a:pt x="306" y="9"/>
                  </a:cubicBezTo>
                  <a:cubicBezTo>
                    <a:pt x="311" y="8"/>
                    <a:pt x="312" y="8"/>
                    <a:pt x="298" y="8"/>
                  </a:cubicBezTo>
                  <a:cubicBezTo>
                    <a:pt x="302" y="8"/>
                    <a:pt x="304" y="8"/>
                    <a:pt x="310" y="8"/>
                  </a:cubicBezTo>
                  <a:cubicBezTo>
                    <a:pt x="310" y="8"/>
                    <a:pt x="309" y="8"/>
                    <a:pt x="307" y="8"/>
                  </a:cubicBezTo>
                  <a:cubicBezTo>
                    <a:pt x="326" y="7"/>
                    <a:pt x="329" y="7"/>
                    <a:pt x="347" y="6"/>
                  </a:cubicBezTo>
                  <a:cubicBezTo>
                    <a:pt x="351" y="6"/>
                    <a:pt x="352" y="6"/>
                    <a:pt x="349" y="6"/>
                  </a:cubicBezTo>
                  <a:cubicBezTo>
                    <a:pt x="334" y="6"/>
                    <a:pt x="320" y="7"/>
                    <a:pt x="306" y="7"/>
                  </a:cubicBezTo>
                  <a:cubicBezTo>
                    <a:pt x="297" y="8"/>
                    <a:pt x="291" y="8"/>
                    <a:pt x="284" y="9"/>
                  </a:cubicBezTo>
                  <a:cubicBezTo>
                    <a:pt x="275" y="9"/>
                    <a:pt x="275" y="9"/>
                    <a:pt x="275" y="9"/>
                  </a:cubicBezTo>
                  <a:cubicBezTo>
                    <a:pt x="262" y="10"/>
                    <a:pt x="262" y="10"/>
                    <a:pt x="262" y="10"/>
                  </a:cubicBezTo>
                  <a:cubicBezTo>
                    <a:pt x="250" y="10"/>
                    <a:pt x="250" y="10"/>
                    <a:pt x="250" y="10"/>
                  </a:cubicBezTo>
                  <a:cubicBezTo>
                    <a:pt x="232" y="11"/>
                    <a:pt x="212" y="13"/>
                    <a:pt x="194" y="14"/>
                  </a:cubicBezTo>
                  <a:cubicBezTo>
                    <a:pt x="180" y="16"/>
                    <a:pt x="167" y="16"/>
                    <a:pt x="150" y="18"/>
                  </a:cubicBezTo>
                  <a:cubicBezTo>
                    <a:pt x="157" y="17"/>
                    <a:pt x="168" y="16"/>
                    <a:pt x="179" y="15"/>
                  </a:cubicBezTo>
                  <a:cubicBezTo>
                    <a:pt x="215" y="12"/>
                    <a:pt x="257" y="9"/>
                    <a:pt x="288" y="8"/>
                  </a:cubicBezTo>
                  <a:cubicBezTo>
                    <a:pt x="291" y="7"/>
                    <a:pt x="284" y="7"/>
                    <a:pt x="281" y="7"/>
                  </a:cubicBezTo>
                  <a:cubicBezTo>
                    <a:pt x="256" y="9"/>
                    <a:pt x="256" y="9"/>
                    <a:pt x="256" y="9"/>
                  </a:cubicBezTo>
                  <a:cubicBezTo>
                    <a:pt x="251" y="9"/>
                    <a:pt x="258" y="9"/>
                    <a:pt x="254" y="9"/>
                  </a:cubicBezTo>
                  <a:cubicBezTo>
                    <a:pt x="231" y="11"/>
                    <a:pt x="211" y="12"/>
                    <a:pt x="185" y="14"/>
                  </a:cubicBezTo>
                  <a:cubicBezTo>
                    <a:pt x="182" y="14"/>
                    <a:pt x="176" y="15"/>
                    <a:pt x="180" y="14"/>
                  </a:cubicBezTo>
                  <a:cubicBezTo>
                    <a:pt x="173" y="15"/>
                    <a:pt x="173" y="15"/>
                    <a:pt x="173" y="15"/>
                  </a:cubicBezTo>
                  <a:cubicBezTo>
                    <a:pt x="166" y="15"/>
                    <a:pt x="173" y="15"/>
                    <a:pt x="171" y="15"/>
                  </a:cubicBezTo>
                  <a:cubicBezTo>
                    <a:pt x="167" y="15"/>
                    <a:pt x="158" y="16"/>
                    <a:pt x="153" y="16"/>
                  </a:cubicBezTo>
                  <a:cubicBezTo>
                    <a:pt x="122" y="20"/>
                    <a:pt x="97" y="22"/>
                    <a:pt x="62" y="26"/>
                  </a:cubicBezTo>
                  <a:cubicBezTo>
                    <a:pt x="85" y="23"/>
                    <a:pt x="115" y="20"/>
                    <a:pt x="146" y="17"/>
                  </a:cubicBezTo>
                  <a:cubicBezTo>
                    <a:pt x="153" y="16"/>
                    <a:pt x="145" y="17"/>
                    <a:pt x="150" y="16"/>
                  </a:cubicBezTo>
                  <a:cubicBezTo>
                    <a:pt x="173" y="15"/>
                    <a:pt x="173" y="15"/>
                    <a:pt x="173" y="15"/>
                  </a:cubicBezTo>
                  <a:cubicBezTo>
                    <a:pt x="195" y="13"/>
                    <a:pt x="195" y="13"/>
                    <a:pt x="195" y="13"/>
                  </a:cubicBezTo>
                  <a:cubicBezTo>
                    <a:pt x="228" y="10"/>
                    <a:pt x="228" y="10"/>
                    <a:pt x="228" y="10"/>
                  </a:cubicBezTo>
                  <a:cubicBezTo>
                    <a:pt x="238" y="9"/>
                    <a:pt x="245" y="9"/>
                    <a:pt x="257" y="8"/>
                  </a:cubicBezTo>
                  <a:cubicBezTo>
                    <a:pt x="261" y="8"/>
                    <a:pt x="259" y="8"/>
                    <a:pt x="267" y="7"/>
                  </a:cubicBezTo>
                  <a:cubicBezTo>
                    <a:pt x="268" y="7"/>
                    <a:pt x="258" y="7"/>
                    <a:pt x="264" y="7"/>
                  </a:cubicBezTo>
                  <a:cubicBezTo>
                    <a:pt x="270" y="7"/>
                    <a:pt x="265" y="7"/>
                    <a:pt x="269" y="7"/>
                  </a:cubicBezTo>
                  <a:cubicBezTo>
                    <a:pt x="275" y="7"/>
                    <a:pt x="277" y="6"/>
                    <a:pt x="281" y="6"/>
                  </a:cubicBezTo>
                  <a:cubicBezTo>
                    <a:pt x="327" y="4"/>
                    <a:pt x="327" y="4"/>
                    <a:pt x="327" y="4"/>
                  </a:cubicBezTo>
                  <a:cubicBezTo>
                    <a:pt x="331" y="4"/>
                    <a:pt x="319" y="4"/>
                    <a:pt x="325" y="4"/>
                  </a:cubicBezTo>
                  <a:cubicBezTo>
                    <a:pt x="332" y="4"/>
                    <a:pt x="352" y="3"/>
                    <a:pt x="357" y="3"/>
                  </a:cubicBezTo>
                  <a:cubicBezTo>
                    <a:pt x="375" y="3"/>
                    <a:pt x="385" y="2"/>
                    <a:pt x="405" y="3"/>
                  </a:cubicBezTo>
                  <a:cubicBezTo>
                    <a:pt x="411" y="3"/>
                    <a:pt x="405" y="2"/>
                    <a:pt x="408" y="2"/>
                  </a:cubicBezTo>
                  <a:cubicBezTo>
                    <a:pt x="421" y="2"/>
                    <a:pt x="428" y="3"/>
                    <a:pt x="442" y="3"/>
                  </a:cubicBezTo>
                  <a:cubicBezTo>
                    <a:pt x="450" y="3"/>
                    <a:pt x="465" y="4"/>
                    <a:pt x="477" y="6"/>
                  </a:cubicBezTo>
                  <a:cubicBezTo>
                    <a:pt x="477" y="5"/>
                    <a:pt x="468" y="4"/>
                    <a:pt x="462" y="4"/>
                  </a:cubicBezTo>
                  <a:cubicBezTo>
                    <a:pt x="466" y="4"/>
                    <a:pt x="479" y="5"/>
                    <a:pt x="484" y="6"/>
                  </a:cubicBezTo>
                  <a:cubicBezTo>
                    <a:pt x="503" y="8"/>
                    <a:pt x="520" y="11"/>
                    <a:pt x="538" y="17"/>
                  </a:cubicBezTo>
                  <a:cubicBezTo>
                    <a:pt x="542" y="19"/>
                    <a:pt x="547" y="21"/>
                    <a:pt x="551" y="23"/>
                  </a:cubicBezTo>
                  <a:cubicBezTo>
                    <a:pt x="556" y="26"/>
                    <a:pt x="560" y="30"/>
                    <a:pt x="563" y="35"/>
                  </a:cubicBezTo>
                  <a:cubicBezTo>
                    <a:pt x="566" y="41"/>
                    <a:pt x="566" y="46"/>
                    <a:pt x="567" y="51"/>
                  </a:cubicBezTo>
                  <a:cubicBezTo>
                    <a:pt x="568" y="56"/>
                    <a:pt x="569" y="62"/>
                    <a:pt x="570" y="67"/>
                  </a:cubicBezTo>
                  <a:cubicBezTo>
                    <a:pt x="570" y="74"/>
                    <a:pt x="571" y="77"/>
                    <a:pt x="571" y="83"/>
                  </a:cubicBezTo>
                  <a:cubicBezTo>
                    <a:pt x="571" y="85"/>
                    <a:pt x="571" y="84"/>
                    <a:pt x="571" y="83"/>
                  </a:cubicBezTo>
                  <a:cubicBezTo>
                    <a:pt x="574" y="107"/>
                    <a:pt x="575" y="162"/>
                    <a:pt x="576" y="178"/>
                  </a:cubicBezTo>
                  <a:cubicBezTo>
                    <a:pt x="576" y="185"/>
                    <a:pt x="576" y="175"/>
                    <a:pt x="576" y="180"/>
                  </a:cubicBezTo>
                  <a:cubicBezTo>
                    <a:pt x="577" y="189"/>
                    <a:pt x="577" y="204"/>
                    <a:pt x="577" y="210"/>
                  </a:cubicBezTo>
                  <a:cubicBezTo>
                    <a:pt x="578" y="280"/>
                    <a:pt x="578" y="280"/>
                    <a:pt x="578" y="280"/>
                  </a:cubicBezTo>
                  <a:cubicBezTo>
                    <a:pt x="578" y="285"/>
                    <a:pt x="578" y="293"/>
                    <a:pt x="578" y="295"/>
                  </a:cubicBezTo>
                  <a:cubicBezTo>
                    <a:pt x="578" y="306"/>
                    <a:pt x="579" y="325"/>
                    <a:pt x="578" y="337"/>
                  </a:cubicBezTo>
                  <a:close/>
                  <a:moveTo>
                    <a:pt x="319" y="5"/>
                  </a:moveTo>
                  <a:cubicBezTo>
                    <a:pt x="307" y="5"/>
                    <a:pt x="303" y="6"/>
                    <a:pt x="287" y="6"/>
                  </a:cubicBezTo>
                  <a:cubicBezTo>
                    <a:pt x="284" y="7"/>
                    <a:pt x="280" y="7"/>
                    <a:pt x="272" y="7"/>
                  </a:cubicBezTo>
                  <a:cubicBezTo>
                    <a:pt x="271" y="8"/>
                    <a:pt x="250" y="8"/>
                    <a:pt x="251" y="9"/>
                  </a:cubicBezTo>
                  <a:cubicBezTo>
                    <a:pt x="261" y="8"/>
                    <a:pt x="269" y="8"/>
                    <a:pt x="275" y="8"/>
                  </a:cubicBezTo>
                  <a:cubicBezTo>
                    <a:pt x="279" y="7"/>
                    <a:pt x="274" y="7"/>
                    <a:pt x="277" y="7"/>
                  </a:cubicBezTo>
                  <a:cubicBezTo>
                    <a:pt x="321" y="5"/>
                    <a:pt x="321" y="5"/>
                    <a:pt x="321" y="5"/>
                  </a:cubicBezTo>
                  <a:cubicBezTo>
                    <a:pt x="321" y="5"/>
                    <a:pt x="316" y="5"/>
                    <a:pt x="319" y="5"/>
                  </a:cubicBezTo>
                  <a:close/>
                  <a:moveTo>
                    <a:pt x="322" y="5"/>
                  </a:moveTo>
                  <a:cubicBezTo>
                    <a:pt x="324" y="5"/>
                    <a:pt x="324" y="5"/>
                    <a:pt x="324" y="5"/>
                  </a:cubicBezTo>
                  <a:cubicBezTo>
                    <a:pt x="334" y="5"/>
                    <a:pt x="326" y="5"/>
                    <a:pt x="322" y="5"/>
                  </a:cubicBezTo>
                  <a:close/>
                  <a:moveTo>
                    <a:pt x="338" y="13"/>
                  </a:moveTo>
                  <a:cubicBezTo>
                    <a:pt x="337" y="13"/>
                    <a:pt x="337" y="13"/>
                    <a:pt x="337" y="13"/>
                  </a:cubicBezTo>
                  <a:cubicBezTo>
                    <a:pt x="337" y="13"/>
                    <a:pt x="337" y="13"/>
                    <a:pt x="338" y="13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CasellaDiTesto 23">
              <a:extLst>
                <a:ext uri="{FF2B5EF4-FFF2-40B4-BE49-F238E27FC236}">
                  <a16:creationId xmlns:a16="http://schemas.microsoft.com/office/drawing/2014/main" id="{CFE7270A-AF99-7A43-8EF0-BAB1D1112CA6}"/>
                </a:ext>
              </a:extLst>
            </p:cNvPr>
            <p:cNvSpPr txBox="1"/>
            <p:nvPr/>
          </p:nvSpPr>
          <p:spPr>
            <a:xfrm>
              <a:off x="817791" y="1597526"/>
              <a:ext cx="436850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000" b="1" i="1" dirty="0">
                  <a:solidFill>
                    <a:srgbClr val="C00000"/>
                  </a:solidFill>
                  <a:latin typeface="Myriad Pro" panose="020B0503030403020204" pitchFamily="34" charset="0"/>
                  <a:cs typeface="Candara"/>
                </a:rPr>
                <a:t>STANDARD TECHNIQUES FALL SHORT!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364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7" y="155771"/>
            <a:ext cx="2621230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What</a:t>
            </a:r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 input?</a:t>
            </a: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31FC1B87-438F-2A46-AC15-D653929726DA}"/>
              </a:ext>
            </a:extLst>
          </p:cNvPr>
          <p:cNvGrpSpPr/>
          <p:nvPr/>
        </p:nvGrpSpPr>
        <p:grpSpPr>
          <a:xfrm>
            <a:off x="56566" y="974341"/>
            <a:ext cx="9062531" cy="2646043"/>
            <a:chOff x="56566" y="974341"/>
            <a:chExt cx="9062531" cy="2646043"/>
          </a:xfrm>
        </p:grpSpPr>
        <p:sp>
          <p:nvSpPr>
            <p:cNvPr id="14" name="Freccia destra 13">
              <a:extLst>
                <a:ext uri="{FF2B5EF4-FFF2-40B4-BE49-F238E27FC236}">
                  <a16:creationId xmlns:a16="http://schemas.microsoft.com/office/drawing/2014/main" id="{959BF21B-135E-C841-8298-839397771356}"/>
                </a:ext>
              </a:extLst>
            </p:cNvPr>
            <p:cNvSpPr/>
            <p:nvPr/>
          </p:nvSpPr>
          <p:spPr>
            <a:xfrm>
              <a:off x="1417726" y="1120567"/>
              <a:ext cx="5969250" cy="2422576"/>
            </a:xfrm>
            <a:prstGeom prst="rightArrow">
              <a:avLst>
                <a:gd name="adj1" fmla="val 50000"/>
                <a:gd name="adj2" fmla="val 6118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0" name="Immagine 69">
              <a:extLst>
                <a:ext uri="{FF2B5EF4-FFF2-40B4-BE49-F238E27FC236}">
                  <a16:creationId xmlns:a16="http://schemas.microsoft.com/office/drawing/2014/main" id="{260CD2D9-F89D-D04B-A259-5B5DCE39C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566" y="1767251"/>
              <a:ext cx="1304338" cy="1199549"/>
            </a:xfrm>
            <a:prstGeom prst="rect">
              <a:avLst/>
            </a:prstGeom>
          </p:spPr>
        </p:pic>
        <p:grpSp>
          <p:nvGrpSpPr>
            <p:cNvPr id="2" name="Gruppo 1">
              <a:extLst>
                <a:ext uri="{FF2B5EF4-FFF2-40B4-BE49-F238E27FC236}">
                  <a16:creationId xmlns:a16="http://schemas.microsoft.com/office/drawing/2014/main" id="{382C8340-F4F7-9A4A-88FC-5C57A288BEBD}"/>
                </a:ext>
              </a:extLst>
            </p:cNvPr>
            <p:cNvGrpSpPr/>
            <p:nvPr/>
          </p:nvGrpSpPr>
          <p:grpSpPr>
            <a:xfrm>
              <a:off x="1354157" y="1750801"/>
              <a:ext cx="1582484" cy="1115264"/>
              <a:chOff x="1658957" y="1482399"/>
              <a:chExt cx="1582484" cy="1115264"/>
            </a:xfrm>
          </p:grpSpPr>
          <p:sp>
            <p:nvSpPr>
              <p:cNvPr id="80" name="CasellaDiTesto 79">
                <a:extLst>
                  <a:ext uri="{FF2B5EF4-FFF2-40B4-BE49-F238E27FC236}">
                    <a16:creationId xmlns:a16="http://schemas.microsoft.com/office/drawing/2014/main" id="{2DD069EC-0217-254C-8B06-BA68B79E33A6}"/>
                  </a:ext>
                </a:extLst>
              </p:cNvPr>
              <p:cNvSpPr txBox="1"/>
              <p:nvPr/>
            </p:nvSpPr>
            <p:spPr>
              <a:xfrm>
                <a:off x="1658957" y="1482399"/>
                <a:ext cx="15824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b="1" dirty="0">
                    <a:latin typeface="Myriad Pro Semibold" panose="020B0503030403020204" pitchFamily="34" charset="0"/>
                    <a:cs typeface="Candara"/>
                  </a:rPr>
                  <a:t>PART</a:t>
                </a:r>
              </a:p>
              <a:p>
                <a:pPr algn="ctr"/>
                <a:r>
                  <a:rPr lang="it-IT" b="1" dirty="0">
                    <a:latin typeface="Myriad Pro Semibold" panose="020B0503030403020204" pitchFamily="34" charset="0"/>
                    <a:cs typeface="Candara"/>
                  </a:rPr>
                  <a:t>ORIENTATION</a:t>
                </a:r>
              </a:p>
            </p:txBody>
          </p:sp>
          <p:pic>
            <p:nvPicPr>
              <p:cNvPr id="81" name="Immagine 80">
                <a:extLst>
                  <a:ext uri="{FF2B5EF4-FFF2-40B4-BE49-F238E27FC236}">
                    <a16:creationId xmlns:a16="http://schemas.microsoft.com/office/drawing/2014/main" id="{247AB5ED-13EC-A44D-BB26-27FD0EBC1E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4054" y="2085373"/>
                <a:ext cx="512290" cy="512290"/>
              </a:xfrm>
              <a:prstGeom prst="rect">
                <a:avLst/>
              </a:prstGeom>
            </p:spPr>
          </p:pic>
        </p:grp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A0C4DCB1-B21E-4546-980F-41F8FEA7074C}"/>
                </a:ext>
              </a:extLst>
            </p:cNvPr>
            <p:cNvGrpSpPr/>
            <p:nvPr/>
          </p:nvGrpSpPr>
          <p:grpSpPr>
            <a:xfrm>
              <a:off x="3053557" y="1750801"/>
              <a:ext cx="1494319" cy="1069816"/>
              <a:chOff x="3358357" y="1482399"/>
              <a:chExt cx="1494319" cy="1069816"/>
            </a:xfrm>
          </p:grpSpPr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58EFD0DD-E1B1-0E4F-98DA-374104EF7605}"/>
                  </a:ext>
                </a:extLst>
              </p:cNvPr>
              <p:cNvSpPr txBox="1"/>
              <p:nvPr/>
            </p:nvSpPr>
            <p:spPr>
              <a:xfrm>
                <a:off x="3358357" y="1482399"/>
                <a:ext cx="14943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b="1" dirty="0">
                    <a:latin typeface="Myriad Pro Semibold" panose="020B0503030403020204" pitchFamily="34" charset="0"/>
                    <a:cs typeface="Candara"/>
                  </a:rPr>
                  <a:t>SUPPORT</a:t>
                </a:r>
              </a:p>
              <a:p>
                <a:pPr algn="ctr"/>
                <a:r>
                  <a:rPr lang="it-IT" b="1" dirty="0">
                    <a:latin typeface="Myriad Pro Semibold" panose="020B0503030403020204" pitchFamily="34" charset="0"/>
                    <a:cs typeface="Candara"/>
                  </a:rPr>
                  <a:t>STRUCTURES</a:t>
                </a:r>
              </a:p>
            </p:txBody>
          </p:sp>
          <p:pic>
            <p:nvPicPr>
              <p:cNvPr id="83" name="Immagine 82">
                <a:extLst>
                  <a:ext uri="{FF2B5EF4-FFF2-40B4-BE49-F238E27FC236}">
                    <a16:creationId xmlns:a16="http://schemas.microsoft.com/office/drawing/2014/main" id="{3FBD1181-E9EC-6943-B250-4D2582A06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60907" y="2134157"/>
                <a:ext cx="489217" cy="418058"/>
              </a:xfrm>
              <a:prstGeom prst="rect">
                <a:avLst/>
              </a:prstGeom>
            </p:spPr>
          </p:pic>
        </p:grpSp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6E5A5DB4-8D27-BB4E-B610-47B9D873E1A4}"/>
                </a:ext>
              </a:extLst>
            </p:cNvPr>
            <p:cNvGrpSpPr/>
            <p:nvPr/>
          </p:nvGrpSpPr>
          <p:grpSpPr>
            <a:xfrm>
              <a:off x="4664792" y="1904689"/>
              <a:ext cx="986167" cy="959535"/>
              <a:chOff x="4969592" y="1636287"/>
              <a:chExt cx="986167" cy="959535"/>
            </a:xfrm>
          </p:grpSpPr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94DE7219-53BE-134B-ABC6-A18929A63512}"/>
                  </a:ext>
                </a:extLst>
              </p:cNvPr>
              <p:cNvSpPr txBox="1"/>
              <p:nvPr/>
            </p:nvSpPr>
            <p:spPr>
              <a:xfrm>
                <a:off x="4969592" y="1636287"/>
                <a:ext cx="986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b="1" dirty="0">
                    <a:latin typeface="Myriad Pro Semibold" panose="020B0503030403020204" pitchFamily="34" charset="0"/>
                    <a:cs typeface="Candara"/>
                  </a:rPr>
                  <a:t>SLICING</a:t>
                </a:r>
              </a:p>
            </p:txBody>
          </p:sp>
          <p:pic>
            <p:nvPicPr>
              <p:cNvPr id="85" name="Immagine 84">
                <a:extLst>
                  <a:ext uri="{FF2B5EF4-FFF2-40B4-BE49-F238E27FC236}">
                    <a16:creationId xmlns:a16="http://schemas.microsoft.com/office/drawing/2014/main" id="{20B81C25-4969-2941-91FA-C4981AFD25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0729" y="2087214"/>
                <a:ext cx="623893" cy="508608"/>
              </a:xfrm>
              <a:prstGeom prst="rect">
                <a:avLst/>
              </a:prstGeom>
            </p:spPr>
          </p:pic>
        </p:grp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B5A5B480-A5C2-3945-847B-EF44F507965B}"/>
                </a:ext>
              </a:extLst>
            </p:cNvPr>
            <p:cNvGrpSpPr/>
            <p:nvPr/>
          </p:nvGrpSpPr>
          <p:grpSpPr>
            <a:xfrm>
              <a:off x="5767875" y="1750801"/>
              <a:ext cx="1297150" cy="1083479"/>
              <a:chOff x="6072675" y="1482399"/>
              <a:chExt cx="1297150" cy="1083479"/>
            </a:xfrm>
          </p:grpSpPr>
          <p:pic>
            <p:nvPicPr>
              <p:cNvPr id="11" name="Immagine 10">
                <a:extLst>
                  <a:ext uri="{FF2B5EF4-FFF2-40B4-BE49-F238E27FC236}">
                    <a16:creationId xmlns:a16="http://schemas.microsoft.com/office/drawing/2014/main" id="{1A696CB3-ECE0-EC41-9E14-5AF10214AB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8714" y="2117158"/>
                <a:ext cx="445072" cy="448720"/>
              </a:xfrm>
              <a:prstGeom prst="rect">
                <a:avLst/>
              </a:prstGeom>
            </p:spPr>
          </p:pic>
          <p:sp>
            <p:nvSpPr>
              <p:cNvPr id="86" name="CasellaDiTesto 85">
                <a:extLst>
                  <a:ext uri="{FF2B5EF4-FFF2-40B4-BE49-F238E27FC236}">
                    <a16:creationId xmlns:a16="http://schemas.microsoft.com/office/drawing/2014/main" id="{9DFBF454-860B-ED46-8406-37D807AF067B}"/>
                  </a:ext>
                </a:extLst>
              </p:cNvPr>
              <p:cNvSpPr txBox="1"/>
              <p:nvPr/>
            </p:nvSpPr>
            <p:spPr>
              <a:xfrm>
                <a:off x="6072675" y="1482399"/>
                <a:ext cx="12971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b="1" dirty="0">
                    <a:latin typeface="Myriad Pro Semibold" panose="020B0503030403020204" pitchFamily="34" charset="0"/>
                    <a:cs typeface="Candara"/>
                  </a:rPr>
                  <a:t>MACHINE</a:t>
                </a:r>
              </a:p>
              <a:p>
                <a:pPr algn="ctr"/>
                <a:r>
                  <a:rPr lang="it-IT" b="1" dirty="0">
                    <a:latin typeface="Myriad Pro Semibold" panose="020B0503030403020204" pitchFamily="34" charset="0"/>
                    <a:cs typeface="Candara"/>
                  </a:rPr>
                  <a:t>TOOLPATH</a:t>
                </a:r>
              </a:p>
            </p:txBody>
          </p:sp>
        </p:grpSp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EC4FC07F-E5BC-BD44-B81F-63C45E0F8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540000">
              <a:off x="7354207" y="974341"/>
              <a:ext cx="1764890" cy="2646043"/>
            </a:xfrm>
            <a:prstGeom prst="rect">
              <a:avLst/>
            </a:prstGeom>
          </p:spPr>
        </p:pic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3ECD80FC-0730-E948-99D7-7E293CA46ACF}"/>
              </a:ext>
            </a:extLst>
          </p:cNvPr>
          <p:cNvGrpSpPr/>
          <p:nvPr/>
        </p:nvGrpSpPr>
        <p:grpSpPr>
          <a:xfrm>
            <a:off x="5696392" y="959142"/>
            <a:ext cx="3447608" cy="5630148"/>
            <a:chOff x="5696392" y="959142"/>
            <a:chExt cx="3447608" cy="5630148"/>
          </a:xfrm>
        </p:grpSpPr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A8884712-ACCB-8D4C-8F86-A84FC93A1A91}"/>
                </a:ext>
              </a:extLst>
            </p:cNvPr>
            <p:cNvGrpSpPr/>
            <p:nvPr/>
          </p:nvGrpSpPr>
          <p:grpSpPr>
            <a:xfrm>
              <a:off x="5696392" y="959142"/>
              <a:ext cx="3340286" cy="3241797"/>
              <a:chOff x="5696392" y="959142"/>
              <a:chExt cx="3340286" cy="3241797"/>
            </a:xfrm>
          </p:grpSpPr>
          <p:sp>
            <p:nvSpPr>
              <p:cNvPr id="55" name="Freeform 496">
                <a:extLst>
                  <a:ext uri="{FF2B5EF4-FFF2-40B4-BE49-F238E27FC236}">
                    <a16:creationId xmlns:a16="http://schemas.microsoft.com/office/drawing/2014/main" id="{C9BFC7A1-C2D5-CA48-B5F4-7ED17C523A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96392" y="959142"/>
                <a:ext cx="3340286" cy="2646184"/>
              </a:xfrm>
              <a:custGeom>
                <a:avLst/>
                <a:gdLst>
                  <a:gd name="T0" fmla="*/ 453 w 579"/>
                  <a:gd name="T1" fmla="*/ 2 h 1040"/>
                  <a:gd name="T2" fmla="*/ 400 w 579"/>
                  <a:gd name="T3" fmla="*/ 2 h 1040"/>
                  <a:gd name="T4" fmla="*/ 281 w 579"/>
                  <a:gd name="T5" fmla="*/ 14 h 1040"/>
                  <a:gd name="T6" fmla="*/ 134 w 579"/>
                  <a:gd name="T7" fmla="*/ 19 h 1040"/>
                  <a:gd name="T8" fmla="*/ 59 w 579"/>
                  <a:gd name="T9" fmla="*/ 29 h 1040"/>
                  <a:gd name="T10" fmla="*/ 59 w 579"/>
                  <a:gd name="T11" fmla="*/ 28 h 1040"/>
                  <a:gd name="T12" fmla="*/ 59 w 579"/>
                  <a:gd name="T13" fmla="*/ 26 h 1040"/>
                  <a:gd name="T14" fmla="*/ 59 w 579"/>
                  <a:gd name="T15" fmla="*/ 26 h 1040"/>
                  <a:gd name="T16" fmla="*/ 59 w 579"/>
                  <a:gd name="T17" fmla="*/ 27 h 1040"/>
                  <a:gd name="T18" fmla="*/ 59 w 579"/>
                  <a:gd name="T19" fmla="*/ 33 h 1040"/>
                  <a:gd name="T20" fmla="*/ 57 w 579"/>
                  <a:gd name="T21" fmla="*/ 26 h 1040"/>
                  <a:gd name="T22" fmla="*/ 57 w 579"/>
                  <a:gd name="T23" fmla="*/ 28 h 1040"/>
                  <a:gd name="T24" fmla="*/ 56 w 579"/>
                  <a:gd name="T25" fmla="*/ 31 h 1040"/>
                  <a:gd name="T26" fmla="*/ 56 w 579"/>
                  <a:gd name="T27" fmla="*/ 33 h 1040"/>
                  <a:gd name="T28" fmla="*/ 54 w 579"/>
                  <a:gd name="T29" fmla="*/ 36 h 1040"/>
                  <a:gd name="T30" fmla="*/ 59 w 579"/>
                  <a:gd name="T31" fmla="*/ 31 h 1040"/>
                  <a:gd name="T32" fmla="*/ 59 w 579"/>
                  <a:gd name="T33" fmla="*/ 31 h 1040"/>
                  <a:gd name="T34" fmla="*/ 55 w 579"/>
                  <a:gd name="T35" fmla="*/ 28 h 1040"/>
                  <a:gd name="T36" fmla="*/ 55 w 579"/>
                  <a:gd name="T37" fmla="*/ 27 h 1040"/>
                  <a:gd name="T38" fmla="*/ 578 w 579"/>
                  <a:gd name="T39" fmla="*/ 337 h 1040"/>
                  <a:gd name="T40" fmla="*/ 566 w 579"/>
                  <a:gd name="T41" fmla="*/ 998 h 1040"/>
                  <a:gd name="T42" fmla="*/ 324 w 579"/>
                  <a:gd name="T43" fmla="*/ 1039 h 1040"/>
                  <a:gd name="T44" fmla="*/ 51 w 579"/>
                  <a:gd name="T45" fmla="*/ 1020 h 1040"/>
                  <a:gd name="T46" fmla="*/ 17 w 579"/>
                  <a:gd name="T47" fmla="*/ 996 h 1040"/>
                  <a:gd name="T48" fmla="*/ 0 w 579"/>
                  <a:gd name="T49" fmla="*/ 657 h 1040"/>
                  <a:gd name="T50" fmla="*/ 5 w 579"/>
                  <a:gd name="T51" fmla="*/ 350 h 1040"/>
                  <a:gd name="T52" fmla="*/ 9 w 579"/>
                  <a:gd name="T53" fmla="*/ 238 h 1040"/>
                  <a:gd name="T54" fmla="*/ 16 w 579"/>
                  <a:gd name="T55" fmla="*/ 68 h 1040"/>
                  <a:gd name="T56" fmla="*/ 16 w 579"/>
                  <a:gd name="T57" fmla="*/ 62 h 1040"/>
                  <a:gd name="T58" fmla="*/ 16 w 579"/>
                  <a:gd name="T59" fmla="*/ 57 h 1040"/>
                  <a:gd name="T60" fmla="*/ 21 w 579"/>
                  <a:gd name="T61" fmla="*/ 50 h 1040"/>
                  <a:gd name="T62" fmla="*/ 30 w 579"/>
                  <a:gd name="T63" fmla="*/ 49 h 1040"/>
                  <a:gd name="T64" fmla="*/ 35 w 579"/>
                  <a:gd name="T65" fmla="*/ 57 h 1040"/>
                  <a:gd name="T66" fmla="*/ 34 w 579"/>
                  <a:gd name="T67" fmla="*/ 63 h 1040"/>
                  <a:gd name="T68" fmla="*/ 33 w 579"/>
                  <a:gd name="T69" fmla="*/ 69 h 1040"/>
                  <a:gd name="T70" fmla="*/ 17 w 579"/>
                  <a:gd name="T71" fmla="*/ 482 h 1040"/>
                  <a:gd name="T72" fmla="*/ 18 w 579"/>
                  <a:gd name="T73" fmla="*/ 806 h 1040"/>
                  <a:gd name="T74" fmla="*/ 33 w 579"/>
                  <a:gd name="T75" fmla="*/ 996 h 1040"/>
                  <a:gd name="T76" fmla="*/ 279 w 579"/>
                  <a:gd name="T77" fmla="*/ 1025 h 1040"/>
                  <a:gd name="T78" fmla="*/ 539 w 579"/>
                  <a:gd name="T79" fmla="*/ 1001 h 1040"/>
                  <a:gd name="T80" fmla="*/ 554 w 579"/>
                  <a:gd name="T81" fmla="*/ 938 h 1040"/>
                  <a:gd name="T82" fmla="*/ 565 w 579"/>
                  <a:gd name="T83" fmla="*/ 292 h 1040"/>
                  <a:gd name="T84" fmla="*/ 552 w 579"/>
                  <a:gd name="T85" fmla="*/ 39 h 1040"/>
                  <a:gd name="T86" fmla="*/ 378 w 579"/>
                  <a:gd name="T87" fmla="*/ 13 h 1040"/>
                  <a:gd name="T88" fmla="*/ 245 w 579"/>
                  <a:gd name="T89" fmla="*/ 18 h 1040"/>
                  <a:gd name="T90" fmla="*/ 60 w 579"/>
                  <a:gd name="T91" fmla="*/ 33 h 1040"/>
                  <a:gd name="T92" fmla="*/ 59 w 579"/>
                  <a:gd name="T93" fmla="*/ 33 h 1040"/>
                  <a:gd name="T94" fmla="*/ 258 w 579"/>
                  <a:gd name="T95" fmla="*/ 14 h 1040"/>
                  <a:gd name="T96" fmla="*/ 295 w 579"/>
                  <a:gd name="T97" fmla="*/ 10 h 1040"/>
                  <a:gd name="T98" fmla="*/ 200 w 579"/>
                  <a:gd name="T99" fmla="*/ 15 h 1040"/>
                  <a:gd name="T100" fmla="*/ 349 w 579"/>
                  <a:gd name="T101" fmla="*/ 6 h 1040"/>
                  <a:gd name="T102" fmla="*/ 194 w 579"/>
                  <a:gd name="T103" fmla="*/ 14 h 1040"/>
                  <a:gd name="T104" fmla="*/ 254 w 579"/>
                  <a:gd name="T105" fmla="*/ 9 h 1040"/>
                  <a:gd name="T106" fmla="*/ 62 w 579"/>
                  <a:gd name="T107" fmla="*/ 26 h 1040"/>
                  <a:gd name="T108" fmla="*/ 257 w 579"/>
                  <a:gd name="T109" fmla="*/ 8 h 1040"/>
                  <a:gd name="T110" fmla="*/ 325 w 579"/>
                  <a:gd name="T111" fmla="*/ 4 h 1040"/>
                  <a:gd name="T112" fmla="*/ 462 w 579"/>
                  <a:gd name="T113" fmla="*/ 4 h 1040"/>
                  <a:gd name="T114" fmla="*/ 570 w 579"/>
                  <a:gd name="T115" fmla="*/ 67 h 1040"/>
                  <a:gd name="T116" fmla="*/ 578 w 579"/>
                  <a:gd name="T117" fmla="*/ 280 h 1040"/>
                  <a:gd name="T118" fmla="*/ 251 w 579"/>
                  <a:gd name="T119" fmla="*/ 9 h 1040"/>
                  <a:gd name="T120" fmla="*/ 324 w 579"/>
                  <a:gd name="T121" fmla="*/ 5 h 10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79" h="1040">
                    <a:moveTo>
                      <a:pt x="559" y="90"/>
                    </a:moveTo>
                    <a:cubicBezTo>
                      <a:pt x="558" y="80"/>
                      <a:pt x="558" y="80"/>
                      <a:pt x="558" y="80"/>
                    </a:cubicBezTo>
                    <a:cubicBezTo>
                      <a:pt x="558" y="81"/>
                      <a:pt x="558" y="87"/>
                      <a:pt x="559" y="90"/>
                    </a:cubicBezTo>
                    <a:close/>
                    <a:moveTo>
                      <a:pt x="453" y="2"/>
                    </a:moveTo>
                    <a:cubicBezTo>
                      <a:pt x="452" y="2"/>
                      <a:pt x="461" y="3"/>
                      <a:pt x="464" y="3"/>
                    </a:cubicBezTo>
                    <a:cubicBezTo>
                      <a:pt x="461" y="3"/>
                      <a:pt x="458" y="2"/>
                      <a:pt x="453" y="2"/>
                    </a:cubicBezTo>
                    <a:close/>
                    <a:moveTo>
                      <a:pt x="436" y="1"/>
                    </a:moveTo>
                    <a:cubicBezTo>
                      <a:pt x="439" y="1"/>
                      <a:pt x="447" y="2"/>
                      <a:pt x="448" y="2"/>
                    </a:cubicBezTo>
                    <a:cubicBezTo>
                      <a:pt x="446" y="1"/>
                      <a:pt x="436" y="1"/>
                      <a:pt x="436" y="1"/>
                    </a:cubicBezTo>
                    <a:close/>
                    <a:moveTo>
                      <a:pt x="400" y="2"/>
                    </a:moveTo>
                    <a:cubicBezTo>
                      <a:pt x="396" y="2"/>
                      <a:pt x="389" y="2"/>
                      <a:pt x="388" y="2"/>
                    </a:cubicBezTo>
                    <a:cubicBezTo>
                      <a:pt x="391" y="2"/>
                      <a:pt x="398" y="2"/>
                      <a:pt x="400" y="2"/>
                    </a:cubicBezTo>
                    <a:close/>
                    <a:moveTo>
                      <a:pt x="358" y="1"/>
                    </a:moveTo>
                    <a:cubicBezTo>
                      <a:pt x="367" y="0"/>
                      <a:pt x="374" y="0"/>
                      <a:pt x="378" y="0"/>
                    </a:cubicBezTo>
                    <a:cubicBezTo>
                      <a:pt x="371" y="0"/>
                      <a:pt x="361" y="0"/>
                      <a:pt x="358" y="1"/>
                    </a:cubicBezTo>
                    <a:close/>
                    <a:moveTo>
                      <a:pt x="281" y="14"/>
                    </a:moveTo>
                    <a:cubicBezTo>
                      <a:pt x="288" y="14"/>
                      <a:pt x="309" y="12"/>
                      <a:pt x="320" y="12"/>
                    </a:cubicBezTo>
                    <a:cubicBezTo>
                      <a:pt x="308" y="12"/>
                      <a:pt x="293" y="13"/>
                      <a:pt x="281" y="14"/>
                    </a:cubicBezTo>
                    <a:close/>
                    <a:moveTo>
                      <a:pt x="278" y="9"/>
                    </a:moveTo>
                    <a:cubicBezTo>
                      <a:pt x="268" y="10"/>
                      <a:pt x="268" y="10"/>
                      <a:pt x="268" y="10"/>
                    </a:cubicBezTo>
                    <a:cubicBezTo>
                      <a:pt x="263" y="10"/>
                      <a:pt x="237" y="12"/>
                      <a:pt x="239" y="12"/>
                    </a:cubicBezTo>
                    <a:cubicBezTo>
                      <a:pt x="256" y="10"/>
                      <a:pt x="279" y="9"/>
                      <a:pt x="292" y="9"/>
                    </a:cubicBezTo>
                    <a:cubicBezTo>
                      <a:pt x="287" y="9"/>
                      <a:pt x="283" y="9"/>
                      <a:pt x="278" y="9"/>
                    </a:cubicBezTo>
                    <a:close/>
                    <a:moveTo>
                      <a:pt x="134" y="19"/>
                    </a:moveTo>
                    <a:cubicBezTo>
                      <a:pt x="127" y="20"/>
                      <a:pt x="127" y="20"/>
                      <a:pt x="127" y="20"/>
                    </a:cubicBezTo>
                    <a:cubicBezTo>
                      <a:pt x="127" y="20"/>
                      <a:pt x="127" y="20"/>
                      <a:pt x="128" y="20"/>
                    </a:cubicBezTo>
                    <a:cubicBezTo>
                      <a:pt x="133" y="19"/>
                      <a:pt x="134" y="19"/>
                      <a:pt x="134" y="19"/>
                    </a:cubicBezTo>
                    <a:close/>
                    <a:moveTo>
                      <a:pt x="59" y="28"/>
                    </a:moveTo>
                    <a:cubicBezTo>
                      <a:pt x="59" y="28"/>
                      <a:pt x="59" y="28"/>
                      <a:pt x="59" y="28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59" y="29"/>
                      <a:pt x="60" y="28"/>
                      <a:pt x="60" y="28"/>
                    </a:cubicBezTo>
                    <a:cubicBezTo>
                      <a:pt x="68" y="27"/>
                      <a:pt x="68" y="27"/>
                      <a:pt x="68" y="27"/>
                    </a:cubicBezTo>
                    <a:lnTo>
                      <a:pt x="59" y="28"/>
                    </a:lnTo>
                    <a:close/>
                    <a:moveTo>
                      <a:pt x="59" y="28"/>
                    </a:moveTo>
                    <a:cubicBezTo>
                      <a:pt x="59" y="28"/>
                      <a:pt x="59" y="28"/>
                      <a:pt x="59" y="28"/>
                    </a:cubicBezTo>
                    <a:cubicBezTo>
                      <a:pt x="59" y="28"/>
                      <a:pt x="59" y="28"/>
                      <a:pt x="59" y="28"/>
                    </a:cubicBezTo>
                    <a:cubicBezTo>
                      <a:pt x="59" y="28"/>
                      <a:pt x="59" y="28"/>
                      <a:pt x="59" y="28"/>
                    </a:cubicBezTo>
                    <a:close/>
                    <a:moveTo>
                      <a:pt x="58" y="29"/>
                    </a:moveTo>
                    <a:cubicBezTo>
                      <a:pt x="59" y="29"/>
                      <a:pt x="59" y="29"/>
                      <a:pt x="59" y="28"/>
                    </a:cubicBezTo>
                    <a:cubicBezTo>
                      <a:pt x="58" y="29"/>
                      <a:pt x="58" y="29"/>
                      <a:pt x="58" y="29"/>
                    </a:cubicBezTo>
                    <a:cubicBezTo>
                      <a:pt x="58" y="29"/>
                      <a:pt x="58" y="29"/>
                      <a:pt x="58" y="29"/>
                    </a:cubicBezTo>
                    <a:close/>
                    <a:moveTo>
                      <a:pt x="59" y="26"/>
                    </a:moveTo>
                    <a:cubicBezTo>
                      <a:pt x="59" y="26"/>
                      <a:pt x="59" y="26"/>
                      <a:pt x="59" y="26"/>
                    </a:cubicBezTo>
                    <a:cubicBezTo>
                      <a:pt x="59" y="26"/>
                      <a:pt x="60" y="26"/>
                      <a:pt x="60" y="26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9" y="26"/>
                      <a:pt x="59" y="26"/>
                      <a:pt x="59" y="26"/>
                    </a:cubicBezTo>
                    <a:close/>
                    <a:moveTo>
                      <a:pt x="59" y="32"/>
                    </a:moveTo>
                    <a:cubicBezTo>
                      <a:pt x="59" y="32"/>
                      <a:pt x="60" y="32"/>
                      <a:pt x="60" y="32"/>
                    </a:cubicBezTo>
                    <a:cubicBezTo>
                      <a:pt x="60" y="32"/>
                      <a:pt x="59" y="32"/>
                      <a:pt x="59" y="32"/>
                    </a:cubicBezTo>
                    <a:close/>
                    <a:moveTo>
                      <a:pt x="59" y="27"/>
                    </a:moveTo>
                    <a:cubicBezTo>
                      <a:pt x="59" y="27"/>
                      <a:pt x="59" y="27"/>
                      <a:pt x="59" y="27"/>
                    </a:cubicBezTo>
                    <a:cubicBezTo>
                      <a:pt x="59" y="27"/>
                      <a:pt x="59" y="27"/>
                      <a:pt x="59" y="27"/>
                    </a:cubicBezTo>
                    <a:close/>
                    <a:moveTo>
                      <a:pt x="58" y="26"/>
                    </a:moveTo>
                    <a:cubicBezTo>
                      <a:pt x="59" y="26"/>
                      <a:pt x="59" y="26"/>
                      <a:pt x="59" y="26"/>
                    </a:cubicBezTo>
                    <a:cubicBezTo>
                      <a:pt x="59" y="26"/>
                      <a:pt x="58" y="26"/>
                      <a:pt x="58" y="26"/>
                    </a:cubicBezTo>
                    <a:close/>
                    <a:moveTo>
                      <a:pt x="59" y="34"/>
                    </a:moveTo>
                    <a:cubicBezTo>
                      <a:pt x="59" y="34"/>
                      <a:pt x="59" y="34"/>
                      <a:pt x="59" y="33"/>
                    </a:cubicBezTo>
                    <a:cubicBezTo>
                      <a:pt x="59" y="33"/>
                      <a:pt x="59" y="33"/>
                      <a:pt x="59" y="34"/>
                    </a:cubicBezTo>
                    <a:close/>
                    <a:moveTo>
                      <a:pt x="59" y="32"/>
                    </a:moveTo>
                    <a:cubicBezTo>
                      <a:pt x="59" y="32"/>
                      <a:pt x="58" y="32"/>
                      <a:pt x="58" y="32"/>
                    </a:cubicBezTo>
                    <a:cubicBezTo>
                      <a:pt x="58" y="32"/>
                      <a:pt x="59" y="32"/>
                      <a:pt x="59" y="32"/>
                    </a:cubicBezTo>
                    <a:close/>
                    <a:moveTo>
                      <a:pt x="58" y="26"/>
                    </a:moveTo>
                    <a:cubicBezTo>
                      <a:pt x="58" y="26"/>
                      <a:pt x="58" y="26"/>
                      <a:pt x="57" y="26"/>
                    </a:cubicBezTo>
                    <a:cubicBezTo>
                      <a:pt x="58" y="26"/>
                      <a:pt x="58" y="27"/>
                      <a:pt x="58" y="26"/>
                    </a:cubicBezTo>
                    <a:close/>
                    <a:moveTo>
                      <a:pt x="57" y="29"/>
                    </a:moveTo>
                    <a:cubicBezTo>
                      <a:pt x="58" y="29"/>
                      <a:pt x="58" y="29"/>
                      <a:pt x="58" y="29"/>
                    </a:cubicBezTo>
                    <a:cubicBezTo>
                      <a:pt x="58" y="29"/>
                      <a:pt x="57" y="29"/>
                      <a:pt x="57" y="29"/>
                    </a:cubicBezTo>
                    <a:close/>
                    <a:moveTo>
                      <a:pt x="57" y="28"/>
                    </a:moveTo>
                    <a:cubicBezTo>
                      <a:pt x="57" y="28"/>
                      <a:pt x="57" y="28"/>
                      <a:pt x="57" y="28"/>
                    </a:cubicBezTo>
                    <a:cubicBezTo>
                      <a:pt x="57" y="28"/>
                      <a:pt x="57" y="28"/>
                      <a:pt x="57" y="28"/>
                    </a:cubicBezTo>
                    <a:close/>
                    <a:moveTo>
                      <a:pt x="57" y="28"/>
                    </a:moveTo>
                    <a:cubicBezTo>
                      <a:pt x="57" y="28"/>
                      <a:pt x="57" y="28"/>
                      <a:pt x="57" y="28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7" y="28"/>
                      <a:pt x="57" y="28"/>
                      <a:pt x="57" y="28"/>
                    </a:cubicBezTo>
                    <a:close/>
                    <a:moveTo>
                      <a:pt x="56" y="31"/>
                    </a:moveTo>
                    <a:cubicBezTo>
                      <a:pt x="57" y="31"/>
                      <a:pt x="57" y="31"/>
                      <a:pt x="56" y="31"/>
                    </a:cubicBezTo>
                    <a:close/>
                    <a:moveTo>
                      <a:pt x="55" y="33"/>
                    </a:move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33"/>
                      <a:pt x="56" y="33"/>
                      <a:pt x="55" y="33"/>
                    </a:cubicBezTo>
                    <a:close/>
                    <a:moveTo>
                      <a:pt x="56" y="34"/>
                    </a:moveTo>
                    <a:cubicBezTo>
                      <a:pt x="56" y="34"/>
                      <a:pt x="56" y="34"/>
                      <a:pt x="56" y="33"/>
                    </a:cubicBezTo>
                    <a:lnTo>
                      <a:pt x="56" y="34"/>
                    </a:lnTo>
                    <a:close/>
                    <a:moveTo>
                      <a:pt x="56" y="36"/>
                    </a:moveTo>
                    <a:cubicBezTo>
                      <a:pt x="56" y="36"/>
                      <a:pt x="55" y="36"/>
                      <a:pt x="55" y="36"/>
                    </a:cubicBezTo>
                    <a:cubicBezTo>
                      <a:pt x="56" y="36"/>
                      <a:pt x="56" y="36"/>
                      <a:pt x="56" y="36"/>
                    </a:cubicBezTo>
                    <a:close/>
                    <a:moveTo>
                      <a:pt x="54" y="36"/>
                    </a:moveTo>
                    <a:cubicBezTo>
                      <a:pt x="54" y="36"/>
                      <a:pt x="54" y="36"/>
                      <a:pt x="54" y="36"/>
                    </a:cubicBezTo>
                    <a:close/>
                    <a:moveTo>
                      <a:pt x="192" y="23"/>
                    </a:moveTo>
                    <a:cubicBezTo>
                      <a:pt x="199" y="23"/>
                      <a:pt x="208" y="22"/>
                      <a:pt x="214" y="22"/>
                    </a:cubicBezTo>
                    <a:cubicBezTo>
                      <a:pt x="222" y="21"/>
                      <a:pt x="222" y="21"/>
                      <a:pt x="222" y="21"/>
                    </a:cubicBezTo>
                    <a:cubicBezTo>
                      <a:pt x="210" y="22"/>
                      <a:pt x="200" y="22"/>
                      <a:pt x="192" y="23"/>
                    </a:cubicBezTo>
                    <a:close/>
                    <a:moveTo>
                      <a:pt x="59" y="31"/>
                    </a:moveTo>
                    <a:cubicBezTo>
                      <a:pt x="59" y="31"/>
                      <a:pt x="59" y="31"/>
                      <a:pt x="59" y="31"/>
                    </a:cubicBezTo>
                    <a:cubicBezTo>
                      <a:pt x="59" y="31"/>
                      <a:pt x="60" y="31"/>
                      <a:pt x="60" y="31"/>
                    </a:cubicBezTo>
                    <a:cubicBezTo>
                      <a:pt x="59" y="31"/>
                      <a:pt x="58" y="31"/>
                      <a:pt x="57" y="31"/>
                    </a:cubicBezTo>
                    <a:cubicBezTo>
                      <a:pt x="58" y="31"/>
                      <a:pt x="58" y="31"/>
                      <a:pt x="59" y="31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9" y="31"/>
                      <a:pt x="59" y="31"/>
                      <a:pt x="59" y="31"/>
                    </a:cubicBezTo>
                    <a:cubicBezTo>
                      <a:pt x="59" y="31"/>
                      <a:pt x="59" y="31"/>
                      <a:pt x="59" y="31"/>
                    </a:cubicBezTo>
                    <a:close/>
                    <a:moveTo>
                      <a:pt x="58" y="27"/>
                    </a:moveTo>
                    <a:cubicBezTo>
                      <a:pt x="58" y="27"/>
                      <a:pt x="58" y="27"/>
                      <a:pt x="58" y="27"/>
                    </a:cubicBezTo>
                    <a:cubicBezTo>
                      <a:pt x="58" y="27"/>
                      <a:pt x="58" y="27"/>
                      <a:pt x="58" y="27"/>
                    </a:cubicBezTo>
                    <a:cubicBezTo>
                      <a:pt x="59" y="27"/>
                      <a:pt x="58" y="27"/>
                      <a:pt x="58" y="27"/>
                    </a:cubicBezTo>
                    <a:close/>
                    <a:moveTo>
                      <a:pt x="55" y="28"/>
                    </a:moveTo>
                    <a:cubicBezTo>
                      <a:pt x="55" y="28"/>
                      <a:pt x="55" y="28"/>
                      <a:pt x="55" y="28"/>
                    </a:cubicBezTo>
                    <a:cubicBezTo>
                      <a:pt x="55" y="27"/>
                      <a:pt x="56" y="28"/>
                      <a:pt x="56" y="27"/>
                    </a:cubicBezTo>
                    <a:cubicBezTo>
                      <a:pt x="56" y="27"/>
                      <a:pt x="56" y="28"/>
                      <a:pt x="56" y="28"/>
                    </a:cubicBezTo>
                    <a:cubicBezTo>
                      <a:pt x="57" y="27"/>
                      <a:pt x="58" y="28"/>
                      <a:pt x="58" y="27"/>
                    </a:cubicBezTo>
                    <a:cubicBezTo>
                      <a:pt x="57" y="27"/>
                      <a:pt x="56" y="27"/>
                      <a:pt x="55" y="27"/>
                    </a:cubicBezTo>
                    <a:cubicBezTo>
                      <a:pt x="55" y="27"/>
                      <a:pt x="55" y="27"/>
                      <a:pt x="55" y="27"/>
                    </a:cubicBezTo>
                    <a:cubicBezTo>
                      <a:pt x="55" y="28"/>
                      <a:pt x="54" y="27"/>
                      <a:pt x="54" y="28"/>
                    </a:cubicBezTo>
                    <a:cubicBezTo>
                      <a:pt x="54" y="28"/>
                      <a:pt x="54" y="28"/>
                      <a:pt x="55" y="28"/>
                    </a:cubicBezTo>
                    <a:close/>
                    <a:moveTo>
                      <a:pt x="56" y="34"/>
                    </a:moveTo>
                    <a:cubicBezTo>
                      <a:pt x="56" y="34"/>
                      <a:pt x="56" y="34"/>
                      <a:pt x="56" y="34"/>
                    </a:cubicBezTo>
                    <a:cubicBezTo>
                      <a:pt x="56" y="34"/>
                      <a:pt x="56" y="34"/>
                      <a:pt x="56" y="34"/>
                    </a:cubicBezTo>
                    <a:close/>
                    <a:moveTo>
                      <a:pt x="578" y="337"/>
                    </a:moveTo>
                    <a:cubicBezTo>
                      <a:pt x="579" y="495"/>
                      <a:pt x="576" y="661"/>
                      <a:pt x="571" y="820"/>
                    </a:cubicBezTo>
                    <a:cubicBezTo>
                      <a:pt x="568" y="940"/>
                      <a:pt x="568" y="940"/>
                      <a:pt x="568" y="940"/>
                    </a:cubicBezTo>
                    <a:cubicBezTo>
                      <a:pt x="567" y="952"/>
                      <a:pt x="567" y="963"/>
                      <a:pt x="567" y="974"/>
                    </a:cubicBezTo>
                    <a:cubicBezTo>
                      <a:pt x="566" y="994"/>
                      <a:pt x="566" y="994"/>
                      <a:pt x="566" y="994"/>
                    </a:cubicBezTo>
                    <a:cubicBezTo>
                      <a:pt x="566" y="995"/>
                      <a:pt x="566" y="995"/>
                      <a:pt x="566" y="995"/>
                    </a:cubicBezTo>
                    <a:cubicBezTo>
                      <a:pt x="566" y="996"/>
                      <a:pt x="566" y="997"/>
                      <a:pt x="566" y="998"/>
                    </a:cubicBezTo>
                    <a:cubicBezTo>
                      <a:pt x="565" y="999"/>
                      <a:pt x="565" y="1000"/>
                      <a:pt x="564" y="1001"/>
                    </a:cubicBezTo>
                    <a:cubicBezTo>
                      <a:pt x="563" y="1004"/>
                      <a:pt x="560" y="1006"/>
                      <a:pt x="559" y="1007"/>
                    </a:cubicBezTo>
                    <a:cubicBezTo>
                      <a:pt x="555" y="1010"/>
                      <a:pt x="552" y="1011"/>
                      <a:pt x="548" y="1013"/>
                    </a:cubicBezTo>
                    <a:cubicBezTo>
                      <a:pt x="535" y="1019"/>
                      <a:pt x="521" y="1021"/>
                      <a:pt x="507" y="1024"/>
                    </a:cubicBezTo>
                    <a:cubicBezTo>
                      <a:pt x="479" y="1029"/>
                      <a:pt x="452" y="1031"/>
                      <a:pt x="431" y="1033"/>
                    </a:cubicBezTo>
                    <a:cubicBezTo>
                      <a:pt x="397" y="1036"/>
                      <a:pt x="360" y="1038"/>
                      <a:pt x="324" y="1039"/>
                    </a:cubicBezTo>
                    <a:cubicBezTo>
                      <a:pt x="309" y="1039"/>
                      <a:pt x="295" y="1039"/>
                      <a:pt x="281" y="1039"/>
                    </a:cubicBezTo>
                    <a:cubicBezTo>
                      <a:pt x="264" y="1040"/>
                      <a:pt x="264" y="1040"/>
                      <a:pt x="264" y="1040"/>
                    </a:cubicBezTo>
                    <a:cubicBezTo>
                      <a:pt x="241" y="1040"/>
                      <a:pt x="217" y="1039"/>
                      <a:pt x="193" y="1038"/>
                    </a:cubicBezTo>
                    <a:cubicBezTo>
                      <a:pt x="179" y="1037"/>
                      <a:pt x="168" y="1037"/>
                      <a:pt x="156" y="1036"/>
                    </a:cubicBezTo>
                    <a:cubicBezTo>
                      <a:pt x="135" y="1034"/>
                      <a:pt x="112" y="1032"/>
                      <a:pt x="87" y="1028"/>
                    </a:cubicBezTo>
                    <a:cubicBezTo>
                      <a:pt x="75" y="1026"/>
                      <a:pt x="63" y="1024"/>
                      <a:pt x="51" y="1020"/>
                    </a:cubicBezTo>
                    <a:cubicBezTo>
                      <a:pt x="45" y="1019"/>
                      <a:pt x="39" y="1017"/>
                      <a:pt x="33" y="1013"/>
                    </a:cubicBezTo>
                    <a:cubicBezTo>
                      <a:pt x="30" y="1012"/>
                      <a:pt x="27" y="1010"/>
                      <a:pt x="24" y="1007"/>
                    </a:cubicBezTo>
                    <a:cubicBezTo>
                      <a:pt x="22" y="1006"/>
                      <a:pt x="21" y="1004"/>
                      <a:pt x="19" y="1002"/>
                    </a:cubicBezTo>
                    <a:cubicBezTo>
                      <a:pt x="19" y="1001"/>
                      <a:pt x="18" y="1000"/>
                      <a:pt x="18" y="999"/>
                    </a:cubicBezTo>
                    <a:cubicBezTo>
                      <a:pt x="18" y="999"/>
                      <a:pt x="18" y="998"/>
                      <a:pt x="17" y="997"/>
                    </a:cubicBezTo>
                    <a:cubicBezTo>
                      <a:pt x="17" y="997"/>
                      <a:pt x="17" y="996"/>
                      <a:pt x="17" y="996"/>
                    </a:cubicBezTo>
                    <a:cubicBezTo>
                      <a:pt x="15" y="984"/>
                      <a:pt x="14" y="971"/>
                      <a:pt x="13" y="960"/>
                    </a:cubicBezTo>
                    <a:cubicBezTo>
                      <a:pt x="11" y="941"/>
                      <a:pt x="11" y="941"/>
                      <a:pt x="11" y="941"/>
                    </a:cubicBezTo>
                    <a:cubicBezTo>
                      <a:pt x="9" y="920"/>
                      <a:pt x="7" y="891"/>
                      <a:pt x="6" y="869"/>
                    </a:cubicBezTo>
                    <a:cubicBezTo>
                      <a:pt x="5" y="857"/>
                      <a:pt x="5" y="845"/>
                      <a:pt x="4" y="833"/>
                    </a:cubicBezTo>
                    <a:cubicBezTo>
                      <a:pt x="3" y="807"/>
                      <a:pt x="2" y="783"/>
                      <a:pt x="2" y="762"/>
                    </a:cubicBezTo>
                    <a:cubicBezTo>
                      <a:pt x="1" y="735"/>
                      <a:pt x="0" y="691"/>
                      <a:pt x="0" y="657"/>
                    </a:cubicBezTo>
                    <a:cubicBezTo>
                      <a:pt x="0" y="655"/>
                      <a:pt x="0" y="654"/>
                      <a:pt x="0" y="653"/>
                    </a:cubicBezTo>
                    <a:cubicBezTo>
                      <a:pt x="0" y="628"/>
                      <a:pt x="0" y="603"/>
                      <a:pt x="0" y="579"/>
                    </a:cubicBezTo>
                    <a:cubicBezTo>
                      <a:pt x="0" y="575"/>
                      <a:pt x="0" y="575"/>
                      <a:pt x="0" y="572"/>
                    </a:cubicBezTo>
                    <a:cubicBezTo>
                      <a:pt x="1" y="540"/>
                      <a:pt x="1" y="540"/>
                      <a:pt x="1" y="540"/>
                    </a:cubicBezTo>
                    <a:cubicBezTo>
                      <a:pt x="2" y="493"/>
                      <a:pt x="2" y="459"/>
                      <a:pt x="3" y="420"/>
                    </a:cubicBezTo>
                    <a:cubicBezTo>
                      <a:pt x="3" y="398"/>
                      <a:pt x="4" y="373"/>
                      <a:pt x="5" y="350"/>
                    </a:cubicBezTo>
                    <a:cubicBezTo>
                      <a:pt x="5" y="331"/>
                      <a:pt x="5" y="331"/>
                      <a:pt x="5" y="331"/>
                    </a:cubicBezTo>
                    <a:cubicBezTo>
                      <a:pt x="6" y="316"/>
                      <a:pt x="6" y="316"/>
                      <a:pt x="6" y="316"/>
                    </a:cubicBezTo>
                    <a:cubicBezTo>
                      <a:pt x="6" y="302"/>
                      <a:pt x="6" y="302"/>
                      <a:pt x="6" y="302"/>
                    </a:cubicBezTo>
                    <a:cubicBezTo>
                      <a:pt x="7" y="281"/>
                      <a:pt x="7" y="281"/>
                      <a:pt x="7" y="281"/>
                    </a:cubicBezTo>
                    <a:cubicBezTo>
                      <a:pt x="8" y="260"/>
                      <a:pt x="8" y="260"/>
                      <a:pt x="8" y="260"/>
                    </a:cubicBezTo>
                    <a:cubicBezTo>
                      <a:pt x="9" y="238"/>
                      <a:pt x="9" y="238"/>
                      <a:pt x="9" y="238"/>
                    </a:cubicBezTo>
                    <a:cubicBezTo>
                      <a:pt x="10" y="220"/>
                      <a:pt x="10" y="203"/>
                      <a:pt x="11" y="181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04"/>
                      <a:pt x="14" y="104"/>
                      <a:pt x="14" y="104"/>
                    </a:cubicBezTo>
                    <a:cubicBezTo>
                      <a:pt x="15" y="89"/>
                      <a:pt x="15" y="89"/>
                      <a:pt x="15" y="89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7"/>
                      <a:pt x="16" y="67"/>
                      <a:pt x="16" y="66"/>
                    </a:cubicBezTo>
                    <a:cubicBezTo>
                      <a:pt x="16" y="66"/>
                      <a:pt x="17" y="64"/>
                      <a:pt x="16" y="63"/>
                    </a:cubicBezTo>
                    <a:cubicBezTo>
                      <a:pt x="16" y="63"/>
                      <a:pt x="16" y="63"/>
                      <a:pt x="15" y="63"/>
                    </a:cubicBezTo>
                    <a:cubicBezTo>
                      <a:pt x="15" y="63"/>
                      <a:pt x="16" y="63"/>
                      <a:pt x="16" y="62"/>
                    </a:cubicBezTo>
                    <a:cubicBezTo>
                      <a:pt x="16" y="62"/>
                      <a:pt x="16" y="61"/>
                      <a:pt x="16" y="60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58"/>
                      <a:pt x="16" y="57"/>
                      <a:pt x="16" y="57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7" y="57"/>
                      <a:pt x="17" y="55"/>
                      <a:pt x="17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7" y="53"/>
                      <a:pt x="18" y="52"/>
                      <a:pt x="19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1"/>
                      <a:pt x="20" y="51"/>
                      <a:pt x="20" y="50"/>
                    </a:cubicBezTo>
                    <a:cubicBezTo>
                      <a:pt x="20" y="50"/>
                      <a:pt x="20" y="50"/>
                      <a:pt x="21" y="50"/>
                    </a:cubicBezTo>
                    <a:cubicBezTo>
                      <a:pt x="21" y="50"/>
                      <a:pt x="21" y="50"/>
                      <a:pt x="22" y="49"/>
                    </a:cubicBezTo>
                    <a:cubicBezTo>
                      <a:pt x="22" y="49"/>
                      <a:pt x="22" y="49"/>
                      <a:pt x="23" y="49"/>
                    </a:cubicBezTo>
                    <a:cubicBezTo>
                      <a:pt x="23" y="48"/>
                      <a:pt x="24" y="49"/>
                      <a:pt x="24" y="48"/>
                    </a:cubicBezTo>
                    <a:cubicBezTo>
                      <a:pt x="25" y="48"/>
                      <a:pt x="26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9"/>
                      <a:pt x="29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30" y="50"/>
                      <a:pt x="31" y="50"/>
                      <a:pt x="31" y="50"/>
                    </a:cubicBezTo>
                    <a:cubicBezTo>
                      <a:pt x="32" y="51"/>
                      <a:pt x="33" y="52"/>
                      <a:pt x="33" y="53"/>
                    </a:cubicBezTo>
                    <a:cubicBezTo>
                      <a:pt x="33" y="53"/>
                      <a:pt x="33" y="53"/>
                      <a:pt x="33" y="53"/>
                    </a:cubicBezTo>
                    <a:cubicBezTo>
                      <a:pt x="34" y="54"/>
                      <a:pt x="34" y="54"/>
                      <a:pt x="34" y="55"/>
                    </a:cubicBezTo>
                    <a:cubicBezTo>
                      <a:pt x="35" y="55"/>
                      <a:pt x="35" y="56"/>
                      <a:pt x="35" y="57"/>
                    </a:cubicBezTo>
                    <a:cubicBezTo>
                      <a:pt x="35" y="57"/>
                      <a:pt x="35" y="57"/>
                      <a:pt x="35" y="57"/>
                    </a:cubicBezTo>
                    <a:cubicBezTo>
                      <a:pt x="35" y="58"/>
                      <a:pt x="35" y="58"/>
                      <a:pt x="35" y="59"/>
                    </a:cubicBezTo>
                    <a:cubicBezTo>
                      <a:pt x="35" y="59"/>
                      <a:pt x="35" y="60"/>
                      <a:pt x="35" y="60"/>
                    </a:cubicBezTo>
                    <a:cubicBezTo>
                      <a:pt x="35" y="60"/>
                      <a:pt x="35" y="61"/>
                      <a:pt x="35" y="61"/>
                    </a:cubicBezTo>
                    <a:cubicBezTo>
                      <a:pt x="35" y="61"/>
                      <a:pt x="35" y="62"/>
                      <a:pt x="34" y="62"/>
                    </a:cubicBezTo>
                    <a:cubicBezTo>
                      <a:pt x="35" y="62"/>
                      <a:pt x="35" y="63"/>
                      <a:pt x="34" y="63"/>
                    </a:cubicBezTo>
                    <a:cubicBezTo>
                      <a:pt x="34" y="63"/>
                      <a:pt x="34" y="63"/>
                      <a:pt x="33" y="63"/>
                    </a:cubicBezTo>
                    <a:cubicBezTo>
                      <a:pt x="33" y="64"/>
                      <a:pt x="35" y="65"/>
                      <a:pt x="34" y="65"/>
                    </a:cubicBezTo>
                    <a:cubicBezTo>
                      <a:pt x="33" y="65"/>
                      <a:pt x="33" y="66"/>
                      <a:pt x="33" y="67"/>
                    </a:cubicBezTo>
                    <a:cubicBezTo>
                      <a:pt x="33" y="68"/>
                      <a:pt x="33" y="68"/>
                      <a:pt x="33" y="68"/>
                    </a:cubicBezTo>
                    <a:cubicBezTo>
                      <a:pt x="33" y="69"/>
                      <a:pt x="33" y="69"/>
                      <a:pt x="33" y="69"/>
                    </a:cubicBezTo>
                    <a:cubicBezTo>
                      <a:pt x="33" y="69"/>
                      <a:pt x="33" y="69"/>
                      <a:pt x="33" y="69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1" y="95"/>
                      <a:pt x="31" y="114"/>
                      <a:pt x="29" y="131"/>
                    </a:cubicBezTo>
                    <a:cubicBezTo>
                      <a:pt x="29" y="146"/>
                      <a:pt x="28" y="161"/>
                      <a:pt x="27" y="176"/>
                    </a:cubicBezTo>
                    <a:cubicBezTo>
                      <a:pt x="25" y="222"/>
                      <a:pt x="24" y="268"/>
                      <a:pt x="22" y="313"/>
                    </a:cubicBezTo>
                    <a:cubicBezTo>
                      <a:pt x="19" y="397"/>
                      <a:pt x="19" y="397"/>
                      <a:pt x="19" y="397"/>
                    </a:cubicBezTo>
                    <a:cubicBezTo>
                      <a:pt x="17" y="482"/>
                      <a:pt x="17" y="482"/>
                      <a:pt x="17" y="482"/>
                    </a:cubicBezTo>
                    <a:cubicBezTo>
                      <a:pt x="16" y="531"/>
                      <a:pt x="16" y="531"/>
                      <a:pt x="16" y="531"/>
                    </a:cubicBezTo>
                    <a:cubicBezTo>
                      <a:pt x="16" y="546"/>
                      <a:pt x="16" y="546"/>
                      <a:pt x="16" y="546"/>
                    </a:cubicBezTo>
                    <a:cubicBezTo>
                      <a:pt x="15" y="593"/>
                      <a:pt x="15" y="593"/>
                      <a:pt x="15" y="593"/>
                    </a:cubicBezTo>
                    <a:cubicBezTo>
                      <a:pt x="15" y="608"/>
                      <a:pt x="15" y="622"/>
                      <a:pt x="15" y="639"/>
                    </a:cubicBezTo>
                    <a:cubicBezTo>
                      <a:pt x="15" y="682"/>
                      <a:pt x="16" y="742"/>
                      <a:pt x="18" y="796"/>
                    </a:cubicBezTo>
                    <a:cubicBezTo>
                      <a:pt x="18" y="806"/>
                      <a:pt x="18" y="806"/>
                      <a:pt x="18" y="806"/>
                    </a:cubicBezTo>
                    <a:cubicBezTo>
                      <a:pt x="19" y="841"/>
                      <a:pt x="21" y="874"/>
                      <a:pt x="23" y="905"/>
                    </a:cubicBezTo>
                    <a:cubicBezTo>
                      <a:pt x="24" y="924"/>
                      <a:pt x="26" y="946"/>
                      <a:pt x="28" y="968"/>
                    </a:cubicBezTo>
                    <a:cubicBezTo>
                      <a:pt x="30" y="985"/>
                      <a:pt x="30" y="985"/>
                      <a:pt x="30" y="985"/>
                    </a:cubicBezTo>
                    <a:cubicBezTo>
                      <a:pt x="31" y="993"/>
                      <a:pt x="31" y="993"/>
                      <a:pt x="31" y="993"/>
                    </a:cubicBezTo>
                    <a:cubicBezTo>
                      <a:pt x="32" y="995"/>
                      <a:pt x="32" y="994"/>
                      <a:pt x="32" y="995"/>
                    </a:cubicBezTo>
                    <a:cubicBezTo>
                      <a:pt x="32" y="995"/>
                      <a:pt x="32" y="996"/>
                      <a:pt x="33" y="996"/>
                    </a:cubicBezTo>
                    <a:cubicBezTo>
                      <a:pt x="35" y="999"/>
                      <a:pt x="39" y="1001"/>
                      <a:pt x="44" y="1003"/>
                    </a:cubicBezTo>
                    <a:cubicBezTo>
                      <a:pt x="48" y="1005"/>
                      <a:pt x="53" y="1006"/>
                      <a:pt x="58" y="1008"/>
                    </a:cubicBezTo>
                    <a:cubicBezTo>
                      <a:pt x="75" y="1012"/>
                      <a:pt x="93" y="1015"/>
                      <a:pt x="111" y="1017"/>
                    </a:cubicBezTo>
                    <a:cubicBezTo>
                      <a:pt x="129" y="1019"/>
                      <a:pt x="147" y="1021"/>
                      <a:pt x="165" y="1022"/>
                    </a:cubicBezTo>
                    <a:cubicBezTo>
                      <a:pt x="192" y="1024"/>
                      <a:pt x="221" y="1025"/>
                      <a:pt x="249" y="1025"/>
                    </a:cubicBezTo>
                    <a:cubicBezTo>
                      <a:pt x="259" y="1025"/>
                      <a:pt x="270" y="1025"/>
                      <a:pt x="279" y="1025"/>
                    </a:cubicBezTo>
                    <a:cubicBezTo>
                      <a:pt x="294" y="1025"/>
                      <a:pt x="309" y="1025"/>
                      <a:pt x="323" y="1025"/>
                    </a:cubicBezTo>
                    <a:cubicBezTo>
                      <a:pt x="350" y="1024"/>
                      <a:pt x="376" y="1023"/>
                      <a:pt x="403" y="1021"/>
                    </a:cubicBezTo>
                    <a:cubicBezTo>
                      <a:pt x="426" y="1020"/>
                      <a:pt x="451" y="1018"/>
                      <a:pt x="475" y="1014"/>
                    </a:cubicBezTo>
                    <a:cubicBezTo>
                      <a:pt x="483" y="1013"/>
                      <a:pt x="492" y="1012"/>
                      <a:pt x="501" y="1011"/>
                    </a:cubicBezTo>
                    <a:cubicBezTo>
                      <a:pt x="507" y="1010"/>
                      <a:pt x="512" y="1009"/>
                      <a:pt x="517" y="1007"/>
                    </a:cubicBezTo>
                    <a:cubicBezTo>
                      <a:pt x="524" y="1006"/>
                      <a:pt x="532" y="1004"/>
                      <a:pt x="539" y="1001"/>
                    </a:cubicBezTo>
                    <a:cubicBezTo>
                      <a:pt x="543" y="1000"/>
                      <a:pt x="546" y="999"/>
                      <a:pt x="549" y="997"/>
                    </a:cubicBezTo>
                    <a:cubicBezTo>
                      <a:pt x="550" y="996"/>
                      <a:pt x="550" y="996"/>
                      <a:pt x="551" y="995"/>
                    </a:cubicBezTo>
                    <a:cubicBezTo>
                      <a:pt x="551" y="995"/>
                      <a:pt x="551" y="995"/>
                      <a:pt x="551" y="995"/>
                    </a:cubicBezTo>
                    <a:cubicBezTo>
                      <a:pt x="552" y="995"/>
                      <a:pt x="552" y="994"/>
                      <a:pt x="552" y="994"/>
                    </a:cubicBezTo>
                    <a:cubicBezTo>
                      <a:pt x="552" y="992"/>
                      <a:pt x="552" y="992"/>
                      <a:pt x="552" y="992"/>
                    </a:cubicBezTo>
                    <a:cubicBezTo>
                      <a:pt x="554" y="938"/>
                      <a:pt x="554" y="938"/>
                      <a:pt x="554" y="938"/>
                    </a:cubicBezTo>
                    <a:cubicBezTo>
                      <a:pt x="555" y="890"/>
                      <a:pt x="557" y="845"/>
                      <a:pt x="558" y="793"/>
                    </a:cubicBezTo>
                    <a:cubicBezTo>
                      <a:pt x="559" y="754"/>
                      <a:pt x="560" y="713"/>
                      <a:pt x="561" y="669"/>
                    </a:cubicBezTo>
                    <a:cubicBezTo>
                      <a:pt x="562" y="615"/>
                      <a:pt x="563" y="557"/>
                      <a:pt x="564" y="499"/>
                    </a:cubicBezTo>
                    <a:cubicBezTo>
                      <a:pt x="565" y="437"/>
                      <a:pt x="565" y="375"/>
                      <a:pt x="565" y="314"/>
                    </a:cubicBezTo>
                    <a:cubicBezTo>
                      <a:pt x="565" y="312"/>
                      <a:pt x="565" y="309"/>
                      <a:pt x="565" y="304"/>
                    </a:cubicBezTo>
                    <a:cubicBezTo>
                      <a:pt x="565" y="298"/>
                      <a:pt x="565" y="300"/>
                      <a:pt x="565" y="292"/>
                    </a:cubicBezTo>
                    <a:cubicBezTo>
                      <a:pt x="565" y="287"/>
                      <a:pt x="565" y="290"/>
                      <a:pt x="565" y="286"/>
                    </a:cubicBezTo>
                    <a:cubicBezTo>
                      <a:pt x="565" y="233"/>
                      <a:pt x="564" y="181"/>
                      <a:pt x="562" y="133"/>
                    </a:cubicBezTo>
                    <a:cubicBezTo>
                      <a:pt x="561" y="124"/>
                      <a:pt x="562" y="132"/>
                      <a:pt x="562" y="126"/>
                    </a:cubicBezTo>
                    <a:cubicBezTo>
                      <a:pt x="561" y="112"/>
                      <a:pt x="560" y="94"/>
                      <a:pt x="558" y="76"/>
                    </a:cubicBezTo>
                    <a:cubicBezTo>
                      <a:pt x="558" y="67"/>
                      <a:pt x="557" y="58"/>
                      <a:pt x="555" y="50"/>
                    </a:cubicBezTo>
                    <a:cubicBezTo>
                      <a:pt x="554" y="45"/>
                      <a:pt x="553" y="41"/>
                      <a:pt x="552" y="39"/>
                    </a:cubicBezTo>
                    <a:cubicBezTo>
                      <a:pt x="550" y="37"/>
                      <a:pt x="547" y="35"/>
                      <a:pt x="544" y="33"/>
                    </a:cubicBezTo>
                    <a:cubicBezTo>
                      <a:pt x="534" y="26"/>
                      <a:pt x="518" y="23"/>
                      <a:pt x="505" y="20"/>
                    </a:cubicBezTo>
                    <a:cubicBezTo>
                      <a:pt x="501" y="20"/>
                      <a:pt x="503" y="20"/>
                      <a:pt x="500" y="20"/>
                    </a:cubicBezTo>
                    <a:cubicBezTo>
                      <a:pt x="496" y="19"/>
                      <a:pt x="499" y="19"/>
                      <a:pt x="495" y="19"/>
                    </a:cubicBezTo>
                    <a:cubicBezTo>
                      <a:pt x="495" y="19"/>
                      <a:pt x="487" y="18"/>
                      <a:pt x="484" y="17"/>
                    </a:cubicBezTo>
                    <a:cubicBezTo>
                      <a:pt x="449" y="13"/>
                      <a:pt x="414" y="13"/>
                      <a:pt x="378" y="13"/>
                    </a:cubicBezTo>
                    <a:cubicBezTo>
                      <a:pt x="372" y="13"/>
                      <a:pt x="372" y="13"/>
                      <a:pt x="362" y="13"/>
                    </a:cubicBezTo>
                    <a:cubicBezTo>
                      <a:pt x="354" y="13"/>
                      <a:pt x="355" y="13"/>
                      <a:pt x="348" y="13"/>
                    </a:cubicBezTo>
                    <a:cubicBezTo>
                      <a:pt x="347" y="13"/>
                      <a:pt x="338" y="13"/>
                      <a:pt x="337" y="13"/>
                    </a:cubicBezTo>
                    <a:cubicBezTo>
                      <a:pt x="336" y="13"/>
                      <a:pt x="338" y="13"/>
                      <a:pt x="336" y="13"/>
                    </a:cubicBezTo>
                    <a:cubicBezTo>
                      <a:pt x="330" y="13"/>
                      <a:pt x="308" y="14"/>
                      <a:pt x="296" y="15"/>
                    </a:cubicBezTo>
                    <a:cubicBezTo>
                      <a:pt x="281" y="16"/>
                      <a:pt x="264" y="16"/>
                      <a:pt x="245" y="18"/>
                    </a:cubicBezTo>
                    <a:cubicBezTo>
                      <a:pt x="263" y="16"/>
                      <a:pt x="277" y="15"/>
                      <a:pt x="282" y="15"/>
                    </a:cubicBezTo>
                    <a:cubicBezTo>
                      <a:pt x="264" y="15"/>
                      <a:pt x="232" y="17"/>
                      <a:pt x="215" y="18"/>
                    </a:cubicBezTo>
                    <a:cubicBezTo>
                      <a:pt x="174" y="21"/>
                      <a:pt x="123" y="26"/>
                      <a:pt x="76" y="31"/>
                    </a:cubicBezTo>
                    <a:cubicBezTo>
                      <a:pt x="73" y="31"/>
                      <a:pt x="71" y="31"/>
                      <a:pt x="71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58" y="33"/>
                      <a:pt x="58" y="33"/>
                      <a:pt x="58" y="33"/>
                    </a:cubicBezTo>
                    <a:cubicBezTo>
                      <a:pt x="58" y="33"/>
                      <a:pt x="57" y="33"/>
                      <a:pt x="56" y="33"/>
                    </a:cubicBezTo>
                    <a:cubicBezTo>
                      <a:pt x="58" y="33"/>
                      <a:pt x="58" y="33"/>
                      <a:pt x="58" y="3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109" y="27"/>
                      <a:pt x="155" y="23"/>
                      <a:pt x="201" y="19"/>
                    </a:cubicBezTo>
                    <a:cubicBezTo>
                      <a:pt x="222" y="18"/>
                      <a:pt x="276" y="14"/>
                      <a:pt x="307" y="13"/>
                    </a:cubicBezTo>
                    <a:cubicBezTo>
                      <a:pt x="326" y="12"/>
                      <a:pt x="336" y="11"/>
                      <a:pt x="327" y="11"/>
                    </a:cubicBezTo>
                    <a:cubicBezTo>
                      <a:pt x="302" y="12"/>
                      <a:pt x="281" y="13"/>
                      <a:pt x="258" y="14"/>
                    </a:cubicBezTo>
                    <a:cubicBezTo>
                      <a:pt x="254" y="14"/>
                      <a:pt x="249" y="14"/>
                      <a:pt x="255" y="14"/>
                    </a:cubicBezTo>
                    <a:cubicBezTo>
                      <a:pt x="303" y="11"/>
                      <a:pt x="358" y="9"/>
                      <a:pt x="397" y="9"/>
                    </a:cubicBezTo>
                    <a:cubicBezTo>
                      <a:pt x="419" y="9"/>
                      <a:pt x="419" y="9"/>
                      <a:pt x="419" y="9"/>
                    </a:cubicBezTo>
                    <a:cubicBezTo>
                      <a:pt x="429" y="9"/>
                      <a:pt x="429" y="9"/>
                      <a:pt x="429" y="9"/>
                    </a:cubicBezTo>
                    <a:cubicBezTo>
                      <a:pt x="428" y="9"/>
                      <a:pt x="424" y="9"/>
                      <a:pt x="425" y="9"/>
                    </a:cubicBezTo>
                    <a:cubicBezTo>
                      <a:pt x="379" y="8"/>
                      <a:pt x="343" y="8"/>
                      <a:pt x="295" y="10"/>
                    </a:cubicBezTo>
                    <a:cubicBezTo>
                      <a:pt x="276" y="10"/>
                      <a:pt x="276" y="10"/>
                      <a:pt x="276" y="10"/>
                    </a:cubicBezTo>
                    <a:cubicBezTo>
                      <a:pt x="260" y="11"/>
                      <a:pt x="238" y="13"/>
                      <a:pt x="218" y="14"/>
                    </a:cubicBezTo>
                    <a:cubicBezTo>
                      <a:pt x="213" y="14"/>
                      <a:pt x="215" y="14"/>
                      <a:pt x="213" y="14"/>
                    </a:cubicBezTo>
                    <a:cubicBezTo>
                      <a:pt x="167" y="18"/>
                      <a:pt x="126" y="22"/>
                      <a:pt x="87" y="25"/>
                    </a:cubicBezTo>
                    <a:cubicBezTo>
                      <a:pt x="121" y="22"/>
                      <a:pt x="157" y="19"/>
                      <a:pt x="190" y="16"/>
                    </a:cubicBezTo>
                    <a:cubicBezTo>
                      <a:pt x="195" y="16"/>
                      <a:pt x="197" y="15"/>
                      <a:pt x="200" y="15"/>
                    </a:cubicBezTo>
                    <a:cubicBezTo>
                      <a:pt x="229" y="13"/>
                      <a:pt x="271" y="10"/>
                      <a:pt x="306" y="9"/>
                    </a:cubicBezTo>
                    <a:cubicBezTo>
                      <a:pt x="311" y="8"/>
                      <a:pt x="312" y="8"/>
                      <a:pt x="298" y="8"/>
                    </a:cubicBezTo>
                    <a:cubicBezTo>
                      <a:pt x="302" y="8"/>
                      <a:pt x="304" y="8"/>
                      <a:pt x="310" y="8"/>
                    </a:cubicBezTo>
                    <a:cubicBezTo>
                      <a:pt x="310" y="8"/>
                      <a:pt x="309" y="8"/>
                      <a:pt x="307" y="8"/>
                    </a:cubicBezTo>
                    <a:cubicBezTo>
                      <a:pt x="326" y="7"/>
                      <a:pt x="329" y="7"/>
                      <a:pt x="347" y="6"/>
                    </a:cubicBezTo>
                    <a:cubicBezTo>
                      <a:pt x="351" y="6"/>
                      <a:pt x="352" y="6"/>
                      <a:pt x="349" y="6"/>
                    </a:cubicBezTo>
                    <a:cubicBezTo>
                      <a:pt x="334" y="6"/>
                      <a:pt x="320" y="7"/>
                      <a:pt x="306" y="7"/>
                    </a:cubicBezTo>
                    <a:cubicBezTo>
                      <a:pt x="297" y="8"/>
                      <a:pt x="291" y="8"/>
                      <a:pt x="284" y="9"/>
                    </a:cubicBezTo>
                    <a:cubicBezTo>
                      <a:pt x="275" y="9"/>
                      <a:pt x="275" y="9"/>
                      <a:pt x="275" y="9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250" y="10"/>
                      <a:pt x="250" y="10"/>
                      <a:pt x="250" y="10"/>
                    </a:cubicBezTo>
                    <a:cubicBezTo>
                      <a:pt x="232" y="11"/>
                      <a:pt x="212" y="13"/>
                      <a:pt x="194" y="14"/>
                    </a:cubicBezTo>
                    <a:cubicBezTo>
                      <a:pt x="180" y="16"/>
                      <a:pt x="167" y="16"/>
                      <a:pt x="150" y="18"/>
                    </a:cubicBezTo>
                    <a:cubicBezTo>
                      <a:pt x="157" y="17"/>
                      <a:pt x="168" y="16"/>
                      <a:pt x="179" y="15"/>
                    </a:cubicBezTo>
                    <a:cubicBezTo>
                      <a:pt x="215" y="12"/>
                      <a:pt x="257" y="9"/>
                      <a:pt x="288" y="8"/>
                    </a:cubicBezTo>
                    <a:cubicBezTo>
                      <a:pt x="291" y="7"/>
                      <a:pt x="284" y="7"/>
                      <a:pt x="281" y="7"/>
                    </a:cubicBezTo>
                    <a:cubicBezTo>
                      <a:pt x="256" y="9"/>
                      <a:pt x="256" y="9"/>
                      <a:pt x="256" y="9"/>
                    </a:cubicBezTo>
                    <a:cubicBezTo>
                      <a:pt x="251" y="9"/>
                      <a:pt x="258" y="9"/>
                      <a:pt x="254" y="9"/>
                    </a:cubicBezTo>
                    <a:cubicBezTo>
                      <a:pt x="231" y="11"/>
                      <a:pt x="211" y="12"/>
                      <a:pt x="185" y="14"/>
                    </a:cubicBezTo>
                    <a:cubicBezTo>
                      <a:pt x="182" y="14"/>
                      <a:pt x="176" y="15"/>
                      <a:pt x="180" y="14"/>
                    </a:cubicBezTo>
                    <a:cubicBezTo>
                      <a:pt x="173" y="15"/>
                      <a:pt x="173" y="15"/>
                      <a:pt x="173" y="15"/>
                    </a:cubicBezTo>
                    <a:cubicBezTo>
                      <a:pt x="166" y="15"/>
                      <a:pt x="173" y="15"/>
                      <a:pt x="171" y="15"/>
                    </a:cubicBezTo>
                    <a:cubicBezTo>
                      <a:pt x="167" y="15"/>
                      <a:pt x="158" y="16"/>
                      <a:pt x="153" y="16"/>
                    </a:cubicBezTo>
                    <a:cubicBezTo>
                      <a:pt x="122" y="20"/>
                      <a:pt x="97" y="22"/>
                      <a:pt x="62" y="26"/>
                    </a:cubicBezTo>
                    <a:cubicBezTo>
                      <a:pt x="85" y="23"/>
                      <a:pt x="115" y="20"/>
                      <a:pt x="146" y="17"/>
                    </a:cubicBezTo>
                    <a:cubicBezTo>
                      <a:pt x="153" y="16"/>
                      <a:pt x="145" y="17"/>
                      <a:pt x="150" y="16"/>
                    </a:cubicBezTo>
                    <a:cubicBezTo>
                      <a:pt x="173" y="15"/>
                      <a:pt x="173" y="15"/>
                      <a:pt x="173" y="15"/>
                    </a:cubicBezTo>
                    <a:cubicBezTo>
                      <a:pt x="195" y="13"/>
                      <a:pt x="195" y="13"/>
                      <a:pt x="195" y="13"/>
                    </a:cubicBezTo>
                    <a:cubicBezTo>
                      <a:pt x="228" y="10"/>
                      <a:pt x="228" y="10"/>
                      <a:pt x="228" y="10"/>
                    </a:cubicBezTo>
                    <a:cubicBezTo>
                      <a:pt x="238" y="9"/>
                      <a:pt x="245" y="9"/>
                      <a:pt x="257" y="8"/>
                    </a:cubicBezTo>
                    <a:cubicBezTo>
                      <a:pt x="261" y="8"/>
                      <a:pt x="259" y="8"/>
                      <a:pt x="267" y="7"/>
                    </a:cubicBezTo>
                    <a:cubicBezTo>
                      <a:pt x="268" y="7"/>
                      <a:pt x="258" y="7"/>
                      <a:pt x="264" y="7"/>
                    </a:cubicBezTo>
                    <a:cubicBezTo>
                      <a:pt x="270" y="7"/>
                      <a:pt x="265" y="7"/>
                      <a:pt x="269" y="7"/>
                    </a:cubicBezTo>
                    <a:cubicBezTo>
                      <a:pt x="275" y="7"/>
                      <a:pt x="277" y="6"/>
                      <a:pt x="281" y="6"/>
                    </a:cubicBezTo>
                    <a:cubicBezTo>
                      <a:pt x="327" y="4"/>
                      <a:pt x="327" y="4"/>
                      <a:pt x="327" y="4"/>
                    </a:cubicBezTo>
                    <a:cubicBezTo>
                      <a:pt x="331" y="4"/>
                      <a:pt x="319" y="4"/>
                      <a:pt x="325" y="4"/>
                    </a:cubicBezTo>
                    <a:cubicBezTo>
                      <a:pt x="332" y="4"/>
                      <a:pt x="352" y="3"/>
                      <a:pt x="357" y="3"/>
                    </a:cubicBezTo>
                    <a:cubicBezTo>
                      <a:pt x="375" y="3"/>
                      <a:pt x="385" y="2"/>
                      <a:pt x="405" y="3"/>
                    </a:cubicBezTo>
                    <a:cubicBezTo>
                      <a:pt x="411" y="3"/>
                      <a:pt x="405" y="2"/>
                      <a:pt x="408" y="2"/>
                    </a:cubicBezTo>
                    <a:cubicBezTo>
                      <a:pt x="421" y="2"/>
                      <a:pt x="428" y="3"/>
                      <a:pt x="442" y="3"/>
                    </a:cubicBezTo>
                    <a:cubicBezTo>
                      <a:pt x="450" y="3"/>
                      <a:pt x="465" y="4"/>
                      <a:pt x="477" y="6"/>
                    </a:cubicBezTo>
                    <a:cubicBezTo>
                      <a:pt x="477" y="5"/>
                      <a:pt x="468" y="4"/>
                      <a:pt x="462" y="4"/>
                    </a:cubicBezTo>
                    <a:cubicBezTo>
                      <a:pt x="466" y="4"/>
                      <a:pt x="479" y="5"/>
                      <a:pt x="484" y="6"/>
                    </a:cubicBezTo>
                    <a:cubicBezTo>
                      <a:pt x="503" y="8"/>
                      <a:pt x="520" y="11"/>
                      <a:pt x="538" y="17"/>
                    </a:cubicBezTo>
                    <a:cubicBezTo>
                      <a:pt x="542" y="19"/>
                      <a:pt x="547" y="21"/>
                      <a:pt x="551" y="23"/>
                    </a:cubicBezTo>
                    <a:cubicBezTo>
                      <a:pt x="556" y="26"/>
                      <a:pt x="560" y="30"/>
                      <a:pt x="563" y="35"/>
                    </a:cubicBezTo>
                    <a:cubicBezTo>
                      <a:pt x="566" y="41"/>
                      <a:pt x="566" y="46"/>
                      <a:pt x="567" y="51"/>
                    </a:cubicBezTo>
                    <a:cubicBezTo>
                      <a:pt x="568" y="56"/>
                      <a:pt x="569" y="62"/>
                      <a:pt x="570" y="67"/>
                    </a:cubicBezTo>
                    <a:cubicBezTo>
                      <a:pt x="570" y="74"/>
                      <a:pt x="571" y="77"/>
                      <a:pt x="571" y="83"/>
                    </a:cubicBezTo>
                    <a:cubicBezTo>
                      <a:pt x="571" y="85"/>
                      <a:pt x="571" y="84"/>
                      <a:pt x="571" y="83"/>
                    </a:cubicBezTo>
                    <a:cubicBezTo>
                      <a:pt x="574" y="107"/>
                      <a:pt x="575" y="162"/>
                      <a:pt x="576" y="178"/>
                    </a:cubicBezTo>
                    <a:cubicBezTo>
                      <a:pt x="576" y="185"/>
                      <a:pt x="576" y="175"/>
                      <a:pt x="576" y="180"/>
                    </a:cubicBezTo>
                    <a:cubicBezTo>
                      <a:pt x="577" y="189"/>
                      <a:pt x="577" y="204"/>
                      <a:pt x="577" y="210"/>
                    </a:cubicBezTo>
                    <a:cubicBezTo>
                      <a:pt x="578" y="280"/>
                      <a:pt x="578" y="280"/>
                      <a:pt x="578" y="280"/>
                    </a:cubicBezTo>
                    <a:cubicBezTo>
                      <a:pt x="578" y="285"/>
                      <a:pt x="578" y="293"/>
                      <a:pt x="578" y="295"/>
                    </a:cubicBezTo>
                    <a:cubicBezTo>
                      <a:pt x="578" y="306"/>
                      <a:pt x="579" y="325"/>
                      <a:pt x="578" y="337"/>
                    </a:cubicBezTo>
                    <a:close/>
                    <a:moveTo>
                      <a:pt x="319" y="5"/>
                    </a:moveTo>
                    <a:cubicBezTo>
                      <a:pt x="307" y="5"/>
                      <a:pt x="303" y="6"/>
                      <a:pt x="287" y="6"/>
                    </a:cubicBezTo>
                    <a:cubicBezTo>
                      <a:pt x="284" y="7"/>
                      <a:pt x="280" y="7"/>
                      <a:pt x="272" y="7"/>
                    </a:cubicBezTo>
                    <a:cubicBezTo>
                      <a:pt x="271" y="8"/>
                      <a:pt x="250" y="8"/>
                      <a:pt x="251" y="9"/>
                    </a:cubicBezTo>
                    <a:cubicBezTo>
                      <a:pt x="261" y="8"/>
                      <a:pt x="269" y="8"/>
                      <a:pt x="275" y="8"/>
                    </a:cubicBezTo>
                    <a:cubicBezTo>
                      <a:pt x="279" y="7"/>
                      <a:pt x="274" y="7"/>
                      <a:pt x="277" y="7"/>
                    </a:cubicBezTo>
                    <a:cubicBezTo>
                      <a:pt x="321" y="5"/>
                      <a:pt x="321" y="5"/>
                      <a:pt x="321" y="5"/>
                    </a:cubicBezTo>
                    <a:cubicBezTo>
                      <a:pt x="321" y="5"/>
                      <a:pt x="316" y="5"/>
                      <a:pt x="319" y="5"/>
                    </a:cubicBezTo>
                    <a:close/>
                    <a:moveTo>
                      <a:pt x="322" y="5"/>
                    </a:moveTo>
                    <a:cubicBezTo>
                      <a:pt x="324" y="5"/>
                      <a:pt x="324" y="5"/>
                      <a:pt x="324" y="5"/>
                    </a:cubicBezTo>
                    <a:cubicBezTo>
                      <a:pt x="334" y="5"/>
                      <a:pt x="326" y="5"/>
                      <a:pt x="322" y="5"/>
                    </a:cubicBezTo>
                    <a:close/>
                    <a:moveTo>
                      <a:pt x="338" y="13"/>
                    </a:moveTo>
                    <a:cubicBezTo>
                      <a:pt x="337" y="13"/>
                      <a:pt x="337" y="13"/>
                      <a:pt x="337" y="13"/>
                    </a:cubicBezTo>
                    <a:cubicBezTo>
                      <a:pt x="337" y="13"/>
                      <a:pt x="337" y="13"/>
                      <a:pt x="338" y="13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ffectLst>
                <a:outerShdw blurRad="50800" dist="254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8249556D-D829-5E42-BDFC-F3C8621A1B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 flipH="1" flipV="1">
                <a:off x="7106752" y="3534786"/>
                <a:ext cx="619077" cy="713229"/>
              </a:xfrm>
              <a:custGeom>
                <a:avLst/>
                <a:gdLst>
                  <a:gd name="T0" fmla="*/ 707 w 727"/>
                  <a:gd name="T1" fmla="*/ 207 h 473"/>
                  <a:gd name="T2" fmla="*/ 669 w 727"/>
                  <a:gd name="T3" fmla="*/ 181 h 473"/>
                  <a:gd name="T4" fmla="*/ 629 w 727"/>
                  <a:gd name="T5" fmla="*/ 159 h 473"/>
                  <a:gd name="T6" fmla="*/ 594 w 727"/>
                  <a:gd name="T7" fmla="*/ 130 h 473"/>
                  <a:gd name="T8" fmla="*/ 557 w 727"/>
                  <a:gd name="T9" fmla="*/ 104 h 473"/>
                  <a:gd name="T10" fmla="*/ 520 w 727"/>
                  <a:gd name="T11" fmla="*/ 77 h 473"/>
                  <a:gd name="T12" fmla="*/ 490 w 727"/>
                  <a:gd name="T13" fmla="*/ 42 h 473"/>
                  <a:gd name="T14" fmla="*/ 454 w 727"/>
                  <a:gd name="T15" fmla="*/ 14 h 473"/>
                  <a:gd name="T16" fmla="*/ 416 w 727"/>
                  <a:gd name="T17" fmla="*/ 30 h 473"/>
                  <a:gd name="T18" fmla="*/ 417 w 727"/>
                  <a:gd name="T19" fmla="*/ 71 h 473"/>
                  <a:gd name="T20" fmla="*/ 370 w 727"/>
                  <a:gd name="T21" fmla="*/ 110 h 473"/>
                  <a:gd name="T22" fmla="*/ 324 w 727"/>
                  <a:gd name="T23" fmla="*/ 107 h 473"/>
                  <a:gd name="T24" fmla="*/ 278 w 727"/>
                  <a:gd name="T25" fmla="*/ 114 h 473"/>
                  <a:gd name="T26" fmla="*/ 232 w 727"/>
                  <a:gd name="T27" fmla="*/ 114 h 473"/>
                  <a:gd name="T28" fmla="*/ 186 w 727"/>
                  <a:gd name="T29" fmla="*/ 114 h 473"/>
                  <a:gd name="T30" fmla="*/ 141 w 727"/>
                  <a:gd name="T31" fmla="*/ 111 h 473"/>
                  <a:gd name="T32" fmla="*/ 95 w 727"/>
                  <a:gd name="T33" fmla="*/ 117 h 473"/>
                  <a:gd name="T34" fmla="*/ 49 w 727"/>
                  <a:gd name="T35" fmla="*/ 107 h 473"/>
                  <a:gd name="T36" fmla="*/ 6 w 727"/>
                  <a:gd name="T37" fmla="*/ 162 h 473"/>
                  <a:gd name="T38" fmla="*/ 5 w 727"/>
                  <a:gd name="T39" fmla="*/ 213 h 473"/>
                  <a:gd name="T40" fmla="*/ 0 w 727"/>
                  <a:gd name="T41" fmla="*/ 263 h 473"/>
                  <a:gd name="T42" fmla="*/ 8 w 727"/>
                  <a:gd name="T43" fmla="*/ 314 h 473"/>
                  <a:gd name="T44" fmla="*/ 49 w 727"/>
                  <a:gd name="T45" fmla="*/ 361 h 473"/>
                  <a:gd name="T46" fmla="*/ 95 w 727"/>
                  <a:gd name="T47" fmla="*/ 362 h 473"/>
                  <a:gd name="T48" fmla="*/ 141 w 727"/>
                  <a:gd name="T49" fmla="*/ 362 h 473"/>
                  <a:gd name="T50" fmla="*/ 186 w 727"/>
                  <a:gd name="T51" fmla="*/ 365 h 473"/>
                  <a:gd name="T52" fmla="*/ 232 w 727"/>
                  <a:gd name="T53" fmla="*/ 364 h 473"/>
                  <a:gd name="T54" fmla="*/ 278 w 727"/>
                  <a:gd name="T55" fmla="*/ 361 h 473"/>
                  <a:gd name="T56" fmla="*/ 324 w 727"/>
                  <a:gd name="T57" fmla="*/ 365 h 473"/>
                  <a:gd name="T58" fmla="*/ 370 w 727"/>
                  <a:gd name="T59" fmla="*/ 361 h 473"/>
                  <a:gd name="T60" fmla="*/ 411 w 727"/>
                  <a:gd name="T61" fmla="*/ 405 h 473"/>
                  <a:gd name="T62" fmla="*/ 416 w 727"/>
                  <a:gd name="T63" fmla="*/ 446 h 473"/>
                  <a:gd name="T64" fmla="*/ 452 w 727"/>
                  <a:gd name="T65" fmla="*/ 459 h 473"/>
                  <a:gd name="T66" fmla="*/ 487 w 727"/>
                  <a:gd name="T67" fmla="*/ 431 h 473"/>
                  <a:gd name="T68" fmla="*/ 524 w 727"/>
                  <a:gd name="T69" fmla="*/ 404 h 473"/>
                  <a:gd name="T70" fmla="*/ 557 w 727"/>
                  <a:gd name="T71" fmla="*/ 373 h 473"/>
                  <a:gd name="T72" fmla="*/ 594 w 727"/>
                  <a:gd name="T73" fmla="*/ 345 h 473"/>
                  <a:gd name="T74" fmla="*/ 632 w 727"/>
                  <a:gd name="T75" fmla="*/ 321 h 473"/>
                  <a:gd name="T76" fmla="*/ 668 w 727"/>
                  <a:gd name="T77" fmla="*/ 292 h 473"/>
                  <a:gd name="T78" fmla="*/ 704 w 727"/>
                  <a:gd name="T79" fmla="*/ 265 h 473"/>
                  <a:gd name="T80" fmla="*/ 707 w 727"/>
                  <a:gd name="T81" fmla="*/ 207 h 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27" h="473">
                    <a:moveTo>
                      <a:pt x="707" y="207"/>
                    </a:moveTo>
                    <a:cubicBezTo>
                      <a:pt x="689" y="194"/>
                      <a:pt x="688" y="195"/>
                      <a:pt x="669" y="181"/>
                    </a:cubicBezTo>
                    <a:cubicBezTo>
                      <a:pt x="651" y="168"/>
                      <a:pt x="647" y="173"/>
                      <a:pt x="629" y="159"/>
                    </a:cubicBezTo>
                    <a:cubicBezTo>
                      <a:pt x="611" y="145"/>
                      <a:pt x="612" y="144"/>
                      <a:pt x="594" y="130"/>
                    </a:cubicBezTo>
                    <a:cubicBezTo>
                      <a:pt x="576" y="116"/>
                      <a:pt x="575" y="118"/>
                      <a:pt x="557" y="104"/>
                    </a:cubicBezTo>
                    <a:cubicBezTo>
                      <a:pt x="539" y="91"/>
                      <a:pt x="539" y="91"/>
                      <a:pt x="520" y="77"/>
                    </a:cubicBezTo>
                    <a:cubicBezTo>
                      <a:pt x="502" y="63"/>
                      <a:pt x="508" y="55"/>
                      <a:pt x="490" y="42"/>
                    </a:cubicBezTo>
                    <a:cubicBezTo>
                      <a:pt x="472" y="28"/>
                      <a:pt x="472" y="28"/>
                      <a:pt x="454" y="14"/>
                    </a:cubicBezTo>
                    <a:cubicBezTo>
                      <a:pt x="436" y="0"/>
                      <a:pt x="416" y="10"/>
                      <a:pt x="416" y="30"/>
                    </a:cubicBezTo>
                    <a:cubicBezTo>
                      <a:pt x="416" y="51"/>
                      <a:pt x="417" y="51"/>
                      <a:pt x="417" y="71"/>
                    </a:cubicBezTo>
                    <a:cubicBezTo>
                      <a:pt x="417" y="92"/>
                      <a:pt x="392" y="110"/>
                      <a:pt x="370" y="110"/>
                    </a:cubicBezTo>
                    <a:cubicBezTo>
                      <a:pt x="347" y="110"/>
                      <a:pt x="347" y="107"/>
                      <a:pt x="324" y="107"/>
                    </a:cubicBezTo>
                    <a:cubicBezTo>
                      <a:pt x="301" y="107"/>
                      <a:pt x="301" y="114"/>
                      <a:pt x="278" y="114"/>
                    </a:cubicBezTo>
                    <a:cubicBezTo>
                      <a:pt x="255" y="114"/>
                      <a:pt x="255" y="114"/>
                      <a:pt x="232" y="114"/>
                    </a:cubicBezTo>
                    <a:cubicBezTo>
                      <a:pt x="209" y="114"/>
                      <a:pt x="209" y="114"/>
                      <a:pt x="186" y="114"/>
                    </a:cubicBezTo>
                    <a:cubicBezTo>
                      <a:pt x="164" y="114"/>
                      <a:pt x="164" y="111"/>
                      <a:pt x="141" y="111"/>
                    </a:cubicBezTo>
                    <a:cubicBezTo>
                      <a:pt x="118" y="111"/>
                      <a:pt x="118" y="117"/>
                      <a:pt x="95" y="117"/>
                    </a:cubicBezTo>
                    <a:cubicBezTo>
                      <a:pt x="72" y="117"/>
                      <a:pt x="72" y="107"/>
                      <a:pt x="49" y="107"/>
                    </a:cubicBezTo>
                    <a:cubicBezTo>
                      <a:pt x="26" y="107"/>
                      <a:pt x="6" y="137"/>
                      <a:pt x="6" y="162"/>
                    </a:cubicBezTo>
                    <a:cubicBezTo>
                      <a:pt x="6" y="188"/>
                      <a:pt x="5" y="188"/>
                      <a:pt x="5" y="213"/>
                    </a:cubicBezTo>
                    <a:cubicBezTo>
                      <a:pt x="5" y="238"/>
                      <a:pt x="0" y="238"/>
                      <a:pt x="0" y="263"/>
                    </a:cubicBezTo>
                    <a:cubicBezTo>
                      <a:pt x="0" y="288"/>
                      <a:pt x="8" y="288"/>
                      <a:pt x="8" y="314"/>
                    </a:cubicBezTo>
                    <a:cubicBezTo>
                      <a:pt x="8" y="339"/>
                      <a:pt x="26" y="361"/>
                      <a:pt x="49" y="361"/>
                    </a:cubicBezTo>
                    <a:cubicBezTo>
                      <a:pt x="72" y="361"/>
                      <a:pt x="72" y="362"/>
                      <a:pt x="95" y="362"/>
                    </a:cubicBezTo>
                    <a:cubicBezTo>
                      <a:pt x="118" y="362"/>
                      <a:pt x="118" y="362"/>
                      <a:pt x="141" y="362"/>
                    </a:cubicBezTo>
                    <a:cubicBezTo>
                      <a:pt x="164" y="362"/>
                      <a:pt x="164" y="365"/>
                      <a:pt x="186" y="365"/>
                    </a:cubicBezTo>
                    <a:cubicBezTo>
                      <a:pt x="209" y="365"/>
                      <a:pt x="209" y="364"/>
                      <a:pt x="232" y="364"/>
                    </a:cubicBezTo>
                    <a:cubicBezTo>
                      <a:pt x="255" y="364"/>
                      <a:pt x="255" y="361"/>
                      <a:pt x="278" y="361"/>
                    </a:cubicBezTo>
                    <a:cubicBezTo>
                      <a:pt x="301" y="361"/>
                      <a:pt x="301" y="365"/>
                      <a:pt x="324" y="365"/>
                    </a:cubicBezTo>
                    <a:cubicBezTo>
                      <a:pt x="347" y="365"/>
                      <a:pt x="347" y="361"/>
                      <a:pt x="370" y="361"/>
                    </a:cubicBezTo>
                    <a:cubicBezTo>
                      <a:pt x="392" y="361"/>
                      <a:pt x="411" y="384"/>
                      <a:pt x="411" y="405"/>
                    </a:cubicBezTo>
                    <a:cubicBezTo>
                      <a:pt x="411" y="425"/>
                      <a:pt x="416" y="425"/>
                      <a:pt x="416" y="446"/>
                    </a:cubicBezTo>
                    <a:cubicBezTo>
                      <a:pt x="416" y="466"/>
                      <a:pt x="434" y="473"/>
                      <a:pt x="452" y="459"/>
                    </a:cubicBezTo>
                    <a:cubicBezTo>
                      <a:pt x="470" y="446"/>
                      <a:pt x="469" y="444"/>
                      <a:pt x="487" y="431"/>
                    </a:cubicBezTo>
                    <a:cubicBezTo>
                      <a:pt x="505" y="417"/>
                      <a:pt x="506" y="417"/>
                      <a:pt x="524" y="404"/>
                    </a:cubicBezTo>
                    <a:cubicBezTo>
                      <a:pt x="542" y="390"/>
                      <a:pt x="539" y="387"/>
                      <a:pt x="557" y="373"/>
                    </a:cubicBezTo>
                    <a:cubicBezTo>
                      <a:pt x="576" y="359"/>
                      <a:pt x="575" y="359"/>
                      <a:pt x="594" y="345"/>
                    </a:cubicBezTo>
                    <a:cubicBezTo>
                      <a:pt x="612" y="331"/>
                      <a:pt x="614" y="335"/>
                      <a:pt x="632" y="321"/>
                    </a:cubicBezTo>
                    <a:cubicBezTo>
                      <a:pt x="650" y="307"/>
                      <a:pt x="650" y="306"/>
                      <a:pt x="668" y="292"/>
                    </a:cubicBezTo>
                    <a:cubicBezTo>
                      <a:pt x="686" y="279"/>
                      <a:pt x="684" y="274"/>
                      <a:pt x="704" y="265"/>
                    </a:cubicBezTo>
                    <a:cubicBezTo>
                      <a:pt x="727" y="255"/>
                      <a:pt x="725" y="221"/>
                      <a:pt x="707" y="207"/>
                    </a:cubicBezTo>
                    <a:close/>
                  </a:path>
                </a:pathLst>
              </a:custGeom>
              <a:solidFill>
                <a:srgbClr val="C00000"/>
              </a:solidFill>
              <a:ln w="3175">
                <a:solidFill>
                  <a:srgbClr val="C00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163BF6B6-539A-2445-8B51-CB9C3A529166}"/>
                </a:ext>
              </a:extLst>
            </p:cNvPr>
            <p:cNvGrpSpPr/>
            <p:nvPr/>
          </p:nvGrpSpPr>
          <p:grpSpPr>
            <a:xfrm>
              <a:off x="5781433" y="4417873"/>
              <a:ext cx="3362567" cy="2171417"/>
              <a:chOff x="5781433" y="4417873"/>
              <a:chExt cx="3362567" cy="2171417"/>
            </a:xfrm>
          </p:grpSpPr>
          <p:pic>
            <p:nvPicPr>
              <p:cNvPr id="72" name="Immagine 71">
                <a:extLst>
                  <a:ext uri="{FF2B5EF4-FFF2-40B4-BE49-F238E27FC236}">
                    <a16:creationId xmlns:a16="http://schemas.microsoft.com/office/drawing/2014/main" id="{8C5B9E8B-D511-6C48-8101-AA75A1E6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33604" y="4693924"/>
                <a:ext cx="1910396" cy="1895366"/>
              </a:xfrm>
              <a:prstGeom prst="rect">
                <a:avLst/>
              </a:prstGeom>
            </p:spPr>
          </p:pic>
          <p:grpSp>
            <p:nvGrpSpPr>
              <p:cNvPr id="74" name="Gruppo 73">
                <a:extLst>
                  <a:ext uri="{FF2B5EF4-FFF2-40B4-BE49-F238E27FC236}">
                    <a16:creationId xmlns:a16="http://schemas.microsoft.com/office/drawing/2014/main" id="{D1050711-966A-2241-A5B7-D499B11AD124}"/>
                  </a:ext>
                </a:extLst>
              </p:cNvPr>
              <p:cNvGrpSpPr/>
              <p:nvPr/>
            </p:nvGrpSpPr>
            <p:grpSpPr>
              <a:xfrm>
                <a:off x="5781433" y="4417873"/>
                <a:ext cx="1644692" cy="2034065"/>
                <a:chOff x="5452829" y="2867065"/>
                <a:chExt cx="1417961" cy="1753657"/>
              </a:xfrm>
            </p:grpSpPr>
            <p:grpSp>
              <p:nvGrpSpPr>
                <p:cNvPr id="75" name="Gruppo 74">
                  <a:extLst>
                    <a:ext uri="{FF2B5EF4-FFF2-40B4-BE49-F238E27FC236}">
                      <a16:creationId xmlns:a16="http://schemas.microsoft.com/office/drawing/2014/main" id="{6D39BF15-60DB-9242-836A-69A8655BAD87}"/>
                    </a:ext>
                  </a:extLst>
                </p:cNvPr>
                <p:cNvGrpSpPr/>
                <p:nvPr/>
              </p:nvGrpSpPr>
              <p:grpSpPr>
                <a:xfrm>
                  <a:off x="5452829" y="2867065"/>
                  <a:ext cx="1336169" cy="1753657"/>
                  <a:chOff x="-210265" y="5556124"/>
                  <a:chExt cx="1506893" cy="1977725"/>
                </a:xfrm>
              </p:grpSpPr>
              <p:pic>
                <p:nvPicPr>
                  <p:cNvPr id="77" name="Immagine 76">
                    <a:extLst>
                      <a:ext uri="{FF2B5EF4-FFF2-40B4-BE49-F238E27FC236}">
                        <a16:creationId xmlns:a16="http://schemas.microsoft.com/office/drawing/2014/main" id="{12B3435B-46E4-DA4F-A9D0-9116073772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-210265" y="6116614"/>
                    <a:ext cx="1435405" cy="1417235"/>
                  </a:xfrm>
                  <a:prstGeom prst="rect">
                    <a:avLst/>
                  </a:prstGeom>
                </p:spPr>
              </p:pic>
              <p:pic>
                <p:nvPicPr>
                  <p:cNvPr id="78" name="Immagine 77">
                    <a:extLst>
                      <a:ext uri="{FF2B5EF4-FFF2-40B4-BE49-F238E27FC236}">
                        <a16:creationId xmlns:a16="http://schemas.microsoft.com/office/drawing/2014/main" id="{4EE4681D-7152-5847-A4C3-26F22166BC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332221" y="5556124"/>
                    <a:ext cx="964407" cy="34825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6" name="CasellaDiTesto 75">
                  <a:extLst>
                    <a:ext uri="{FF2B5EF4-FFF2-40B4-BE49-F238E27FC236}">
                      <a16:creationId xmlns:a16="http://schemas.microsoft.com/office/drawing/2014/main" id="{FFA36E85-4F8D-AE4F-AC48-E11352F7EEFB}"/>
                    </a:ext>
                  </a:extLst>
                </p:cNvPr>
                <p:cNvSpPr txBox="1"/>
                <p:nvPr/>
              </p:nvSpPr>
              <p:spPr>
                <a:xfrm>
                  <a:off x="6249987" y="3148746"/>
                  <a:ext cx="620803" cy="278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sz="1500" b="1" dirty="0">
                      <a:solidFill>
                        <a:srgbClr val="FF0000"/>
                      </a:solidFill>
                      <a:latin typeface="Arial Unicode MS" panose="020B0604020202020204" pitchFamily="34" charset="-128"/>
                      <a:ea typeface="Arial Unicode MS" panose="020B0604020202020204" pitchFamily="34" charset="-128"/>
                      <a:cs typeface="Arial Unicode MS" panose="020B0604020202020204" pitchFamily="34" charset="-128"/>
                    </a:rPr>
                    <a:t>M 270</a:t>
                  </a:r>
                </a:p>
              </p:txBody>
            </p:sp>
          </p:grpSp>
        </p:grpSp>
      </p:grpSp>
      <p:grpSp>
        <p:nvGrpSpPr>
          <p:cNvPr id="9" name="Gruppo 8">
            <a:extLst>
              <a:ext uri="{FF2B5EF4-FFF2-40B4-BE49-F238E27FC236}">
                <a16:creationId xmlns:a16="http://schemas.microsoft.com/office/drawing/2014/main" id="{30B0C6FE-D504-9E46-A988-13FD74E97A6E}"/>
              </a:ext>
            </a:extLst>
          </p:cNvPr>
          <p:cNvGrpSpPr/>
          <p:nvPr/>
        </p:nvGrpSpPr>
        <p:grpSpPr>
          <a:xfrm>
            <a:off x="-39226" y="1247982"/>
            <a:ext cx="5820659" cy="5487095"/>
            <a:chOff x="-39226" y="1247982"/>
            <a:chExt cx="5820659" cy="5487095"/>
          </a:xfrm>
        </p:grpSpPr>
        <p:sp>
          <p:nvSpPr>
            <p:cNvPr id="57" name="CasellaDiTesto 56">
              <a:extLst>
                <a:ext uri="{FF2B5EF4-FFF2-40B4-BE49-F238E27FC236}">
                  <a16:creationId xmlns:a16="http://schemas.microsoft.com/office/drawing/2014/main" id="{F32CCC6E-5AE0-9B49-922C-962BB724A516}"/>
                </a:ext>
              </a:extLst>
            </p:cNvPr>
            <p:cNvSpPr txBox="1"/>
            <p:nvPr/>
          </p:nvSpPr>
          <p:spPr>
            <a:xfrm>
              <a:off x="-39226" y="1247982"/>
              <a:ext cx="1495922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500" b="1" dirty="0">
                  <a:solidFill>
                    <a:srgbClr val="C00000"/>
                  </a:solidFill>
                  <a:latin typeface="Myriad Pro Semibold" panose="020B0503030403020204" pitchFamily="34" charset="0"/>
                  <a:cs typeface="Candara"/>
                </a:rPr>
                <a:t>DESKTOP</a:t>
              </a:r>
            </a:p>
          </p:txBody>
        </p:sp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B6ECB3BF-2A34-CD42-8CF7-8F4689086557}"/>
                </a:ext>
              </a:extLst>
            </p:cNvPr>
            <p:cNvGrpSpPr/>
            <p:nvPr/>
          </p:nvGrpSpPr>
          <p:grpSpPr>
            <a:xfrm>
              <a:off x="79522" y="4312501"/>
              <a:ext cx="5701911" cy="2422576"/>
              <a:chOff x="56566" y="1120567"/>
              <a:chExt cx="5701911" cy="2422576"/>
            </a:xfrm>
          </p:grpSpPr>
          <p:sp>
            <p:nvSpPr>
              <p:cNvPr id="39" name="Freccia destra 38">
                <a:extLst>
                  <a:ext uri="{FF2B5EF4-FFF2-40B4-BE49-F238E27FC236}">
                    <a16:creationId xmlns:a16="http://schemas.microsoft.com/office/drawing/2014/main" id="{CACAB946-BAA9-444E-B763-DADA459B940A}"/>
                  </a:ext>
                </a:extLst>
              </p:cNvPr>
              <p:cNvSpPr/>
              <p:nvPr/>
            </p:nvSpPr>
            <p:spPr>
              <a:xfrm>
                <a:off x="1417726" y="1120567"/>
                <a:ext cx="4340751" cy="2422576"/>
              </a:xfrm>
              <a:prstGeom prst="rightArrow">
                <a:avLst>
                  <a:gd name="adj1" fmla="val 50000"/>
                  <a:gd name="adj2" fmla="val 61186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0" name="Immagine 39">
                <a:extLst>
                  <a:ext uri="{FF2B5EF4-FFF2-40B4-BE49-F238E27FC236}">
                    <a16:creationId xmlns:a16="http://schemas.microsoft.com/office/drawing/2014/main" id="{61E0B6E8-918F-794D-BA34-0180766A0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566" y="1767251"/>
                <a:ext cx="1304338" cy="1199549"/>
              </a:xfrm>
              <a:prstGeom prst="rect">
                <a:avLst/>
              </a:prstGeom>
            </p:spPr>
          </p:pic>
          <p:grpSp>
            <p:nvGrpSpPr>
              <p:cNvPr id="41" name="Gruppo 40">
                <a:extLst>
                  <a:ext uri="{FF2B5EF4-FFF2-40B4-BE49-F238E27FC236}">
                    <a16:creationId xmlns:a16="http://schemas.microsoft.com/office/drawing/2014/main" id="{B0BF0112-5A7C-DE4B-B85E-0384759A8FB6}"/>
                  </a:ext>
                </a:extLst>
              </p:cNvPr>
              <p:cNvGrpSpPr/>
              <p:nvPr/>
            </p:nvGrpSpPr>
            <p:grpSpPr>
              <a:xfrm>
                <a:off x="1354157" y="1750801"/>
                <a:ext cx="1582484" cy="1115264"/>
                <a:chOff x="1658957" y="1482399"/>
                <a:chExt cx="1582484" cy="1115264"/>
              </a:xfrm>
            </p:grpSpPr>
            <p:sp>
              <p:nvSpPr>
                <p:cNvPr id="53" name="CasellaDiTesto 52">
                  <a:extLst>
                    <a:ext uri="{FF2B5EF4-FFF2-40B4-BE49-F238E27FC236}">
                      <a16:creationId xmlns:a16="http://schemas.microsoft.com/office/drawing/2014/main" id="{39AC1506-BE79-B34E-B877-75E9B07932EB}"/>
                    </a:ext>
                  </a:extLst>
                </p:cNvPr>
                <p:cNvSpPr txBox="1"/>
                <p:nvPr/>
              </p:nvSpPr>
              <p:spPr>
                <a:xfrm>
                  <a:off x="1658957" y="1482399"/>
                  <a:ext cx="158248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it-IT" b="1" dirty="0">
                      <a:latin typeface="Myriad Pro Semibold" panose="020B0503030403020204" pitchFamily="34" charset="0"/>
                      <a:cs typeface="Candara"/>
                    </a:rPr>
                    <a:t>PART</a:t>
                  </a:r>
                </a:p>
                <a:p>
                  <a:pPr algn="ctr"/>
                  <a:r>
                    <a:rPr lang="it-IT" b="1" dirty="0">
                      <a:latin typeface="Myriad Pro Semibold" panose="020B0503030403020204" pitchFamily="34" charset="0"/>
                      <a:cs typeface="Candara"/>
                    </a:rPr>
                    <a:t>ORIENTATION</a:t>
                  </a:r>
                </a:p>
              </p:txBody>
            </p:sp>
            <p:pic>
              <p:nvPicPr>
                <p:cNvPr id="54" name="Immagine 53">
                  <a:extLst>
                    <a:ext uri="{FF2B5EF4-FFF2-40B4-BE49-F238E27FC236}">
                      <a16:creationId xmlns:a16="http://schemas.microsoft.com/office/drawing/2014/main" id="{22CEB4CD-4604-C540-9931-D818A56641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94054" y="2085373"/>
                  <a:ext cx="512290" cy="512290"/>
                </a:xfrm>
                <a:prstGeom prst="rect">
                  <a:avLst/>
                </a:prstGeom>
              </p:spPr>
            </p:pic>
          </p:grpSp>
          <p:grpSp>
            <p:nvGrpSpPr>
              <p:cNvPr id="42" name="Gruppo 41">
                <a:extLst>
                  <a:ext uri="{FF2B5EF4-FFF2-40B4-BE49-F238E27FC236}">
                    <a16:creationId xmlns:a16="http://schemas.microsoft.com/office/drawing/2014/main" id="{1F44A21F-E3F3-DE4C-840D-BF1E77EDDD42}"/>
                  </a:ext>
                </a:extLst>
              </p:cNvPr>
              <p:cNvGrpSpPr/>
              <p:nvPr/>
            </p:nvGrpSpPr>
            <p:grpSpPr>
              <a:xfrm>
                <a:off x="3053557" y="1750801"/>
                <a:ext cx="1494319" cy="1069816"/>
                <a:chOff x="3358357" y="1482399"/>
                <a:chExt cx="1494319" cy="1069816"/>
              </a:xfrm>
            </p:grpSpPr>
            <p:sp>
              <p:nvSpPr>
                <p:cNvPr id="51" name="CasellaDiTesto 50">
                  <a:extLst>
                    <a:ext uri="{FF2B5EF4-FFF2-40B4-BE49-F238E27FC236}">
                      <a16:creationId xmlns:a16="http://schemas.microsoft.com/office/drawing/2014/main" id="{882D5631-9BE9-5A4D-BB82-1008E5FE306E}"/>
                    </a:ext>
                  </a:extLst>
                </p:cNvPr>
                <p:cNvSpPr txBox="1"/>
                <p:nvPr/>
              </p:nvSpPr>
              <p:spPr>
                <a:xfrm>
                  <a:off x="3358357" y="1482399"/>
                  <a:ext cx="149431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it-IT" b="1" dirty="0">
                      <a:latin typeface="Myriad Pro Semibold" panose="020B0503030403020204" pitchFamily="34" charset="0"/>
                      <a:cs typeface="Candara"/>
                    </a:rPr>
                    <a:t>SUPPORT</a:t>
                  </a:r>
                </a:p>
                <a:p>
                  <a:pPr algn="ctr"/>
                  <a:r>
                    <a:rPr lang="it-IT" b="1" dirty="0">
                      <a:latin typeface="Myriad Pro Semibold" panose="020B0503030403020204" pitchFamily="34" charset="0"/>
                      <a:cs typeface="Candara"/>
                    </a:rPr>
                    <a:t>STRUCTURES</a:t>
                  </a:r>
                </a:p>
              </p:txBody>
            </p:sp>
            <p:pic>
              <p:nvPicPr>
                <p:cNvPr id="52" name="Immagine 51">
                  <a:extLst>
                    <a:ext uri="{FF2B5EF4-FFF2-40B4-BE49-F238E27FC236}">
                      <a16:creationId xmlns:a16="http://schemas.microsoft.com/office/drawing/2014/main" id="{6063AEDF-2C37-EC46-8763-18F218D62E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60907" y="2134157"/>
                  <a:ext cx="489217" cy="418058"/>
                </a:xfrm>
                <a:prstGeom prst="rect">
                  <a:avLst/>
                </a:prstGeom>
              </p:spPr>
            </p:pic>
          </p:grpSp>
          <p:grpSp>
            <p:nvGrpSpPr>
              <p:cNvPr id="43" name="Gruppo 42">
                <a:extLst>
                  <a:ext uri="{FF2B5EF4-FFF2-40B4-BE49-F238E27FC236}">
                    <a16:creationId xmlns:a16="http://schemas.microsoft.com/office/drawing/2014/main" id="{56EC3B31-0B72-DC42-A637-71B23A4ED808}"/>
                  </a:ext>
                </a:extLst>
              </p:cNvPr>
              <p:cNvGrpSpPr/>
              <p:nvPr/>
            </p:nvGrpSpPr>
            <p:grpSpPr>
              <a:xfrm>
                <a:off x="4664792" y="1904689"/>
                <a:ext cx="986167" cy="959535"/>
                <a:chOff x="4969592" y="1636287"/>
                <a:chExt cx="986167" cy="959535"/>
              </a:xfrm>
            </p:grpSpPr>
            <p:sp>
              <p:nvSpPr>
                <p:cNvPr id="49" name="CasellaDiTesto 48">
                  <a:extLst>
                    <a:ext uri="{FF2B5EF4-FFF2-40B4-BE49-F238E27FC236}">
                      <a16:creationId xmlns:a16="http://schemas.microsoft.com/office/drawing/2014/main" id="{7ACF348D-3862-8C48-B881-7F143A4A50A3}"/>
                    </a:ext>
                  </a:extLst>
                </p:cNvPr>
                <p:cNvSpPr txBox="1"/>
                <p:nvPr/>
              </p:nvSpPr>
              <p:spPr>
                <a:xfrm>
                  <a:off x="4969592" y="1636287"/>
                  <a:ext cx="986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it-IT" b="1" dirty="0">
                      <a:latin typeface="Myriad Pro Semibold" panose="020B0503030403020204" pitchFamily="34" charset="0"/>
                      <a:cs typeface="Candara"/>
                    </a:rPr>
                    <a:t>SLICING</a:t>
                  </a:r>
                </a:p>
              </p:txBody>
            </p:sp>
            <p:pic>
              <p:nvPicPr>
                <p:cNvPr id="50" name="Immagine 49">
                  <a:extLst>
                    <a:ext uri="{FF2B5EF4-FFF2-40B4-BE49-F238E27FC236}">
                      <a16:creationId xmlns:a16="http://schemas.microsoft.com/office/drawing/2014/main" id="{DEC90B51-3241-1945-AAF9-0BE403783B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50729" y="2087214"/>
                  <a:ext cx="623893" cy="508608"/>
                </a:xfrm>
                <a:prstGeom prst="rect">
                  <a:avLst/>
                </a:prstGeom>
              </p:spPr>
            </p:pic>
          </p:grpSp>
        </p:grpSp>
        <p:sp>
          <p:nvSpPr>
            <p:cNvPr id="58" name="CasellaDiTesto 57">
              <a:extLst>
                <a:ext uri="{FF2B5EF4-FFF2-40B4-BE49-F238E27FC236}">
                  <a16:creationId xmlns:a16="http://schemas.microsoft.com/office/drawing/2014/main" id="{73AD2C55-BDDF-5C4A-AEC3-93839F5080E6}"/>
                </a:ext>
              </a:extLst>
            </p:cNvPr>
            <p:cNvSpPr txBox="1"/>
            <p:nvPr/>
          </p:nvSpPr>
          <p:spPr>
            <a:xfrm>
              <a:off x="-11489" y="4442415"/>
              <a:ext cx="1883849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500" b="1" dirty="0">
                  <a:solidFill>
                    <a:srgbClr val="C00000"/>
                  </a:solidFill>
                  <a:latin typeface="Myriad Pro Semibold" panose="020B0503030403020204" pitchFamily="34" charset="0"/>
                  <a:cs typeface="Candara"/>
                </a:rPr>
                <a:t>INDUSTRIAL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550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49823A0-A2F8-5748-8F9A-8512B6446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">
            <a:off x="5032424" y="2771673"/>
            <a:ext cx="3510793" cy="3651627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259297" y="155771"/>
            <a:ext cx="3829895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Anatomy</a:t>
            </a:r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 of a </a:t>
            </a:r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slice</a:t>
            </a:r>
            <a:endParaRPr lang="it-IT" sz="3500" b="1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sp>
        <p:nvSpPr>
          <p:cNvPr id="2" name="CasellaDiTesto 1"/>
          <p:cNvSpPr txBox="1"/>
          <p:nvPr/>
        </p:nvSpPr>
        <p:spPr>
          <a:xfrm>
            <a:off x="-264660" y="1080918"/>
            <a:ext cx="8138000" cy="18620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Objects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encoded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piece-wise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linear open/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closed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curves</a:t>
            </a:r>
            <a:b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</a:b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300" b="1" i="1" dirty="0">
                <a:solidFill>
                  <a:srgbClr val="C0000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Outer </a:t>
            </a:r>
            <a:r>
              <a:rPr lang="it-IT" sz="2300" b="1" i="1" dirty="0" err="1">
                <a:solidFill>
                  <a:srgbClr val="C0000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perimeter</a:t>
            </a:r>
            <a:r>
              <a:rPr lang="it-IT" sz="2300" b="1" i="1" dirty="0">
                <a:solidFill>
                  <a:srgbClr val="C0000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b="1" i="1" dirty="0" err="1">
                <a:solidFill>
                  <a:srgbClr val="C0000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is</a:t>
            </a:r>
            <a:r>
              <a:rPr lang="it-IT" sz="2300" b="1" i="1" dirty="0">
                <a:solidFill>
                  <a:srgbClr val="C0000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 a CCW </a:t>
            </a:r>
            <a:r>
              <a:rPr lang="it-IT" sz="2300" b="1" i="1" dirty="0" err="1">
                <a:solidFill>
                  <a:srgbClr val="C0000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closed</a:t>
            </a:r>
            <a:r>
              <a:rPr lang="it-IT" sz="2300" b="1" i="1" dirty="0">
                <a:solidFill>
                  <a:srgbClr val="C0000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 curve</a:t>
            </a: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300" b="1" i="1" dirty="0" err="1">
                <a:solidFill>
                  <a:srgbClr val="0070C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Holes</a:t>
            </a:r>
            <a:r>
              <a:rPr lang="it-IT" sz="2300" b="1" i="1" dirty="0">
                <a:solidFill>
                  <a:srgbClr val="0070C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 are CW </a:t>
            </a:r>
            <a:r>
              <a:rPr lang="it-IT" sz="2300" b="1" i="1" dirty="0" err="1">
                <a:solidFill>
                  <a:srgbClr val="0070C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closed</a:t>
            </a:r>
            <a:r>
              <a:rPr lang="it-IT" sz="2300" b="1" i="1" dirty="0">
                <a:solidFill>
                  <a:srgbClr val="0070C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b="1" i="1" dirty="0" err="1">
                <a:solidFill>
                  <a:srgbClr val="0070C0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curves</a:t>
            </a:r>
            <a:endParaRPr lang="it-IT" sz="2300" b="1" i="1" dirty="0">
              <a:solidFill>
                <a:srgbClr val="0070C0"/>
              </a:solidFill>
              <a:latin typeface="Myriad Pro Semibold" panose="020B0503030403020204" pitchFamily="34" charset="0"/>
              <a:ea typeface="Adobe 고딕 Std B"/>
              <a:cs typeface="Candara"/>
            </a:endParaRP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300" b="1" i="1" dirty="0" err="1">
                <a:solidFill>
                  <a:srgbClr val="009051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Supports</a:t>
            </a:r>
            <a:r>
              <a:rPr lang="it-IT" sz="2300" b="1" i="1" dirty="0">
                <a:solidFill>
                  <a:srgbClr val="009051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 are open </a:t>
            </a:r>
            <a:r>
              <a:rPr lang="it-IT" sz="2300" b="1" i="1" dirty="0" err="1">
                <a:solidFill>
                  <a:srgbClr val="009051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curves</a:t>
            </a:r>
            <a:endParaRPr lang="it-IT" sz="2300" b="1" i="1" dirty="0">
              <a:solidFill>
                <a:srgbClr val="009051"/>
              </a:solidFill>
              <a:latin typeface="Myriad Pro Semibold" panose="020B0503030403020204" pitchFamily="34" charset="0"/>
              <a:ea typeface="Adobe 고딕 Std B"/>
              <a:cs typeface="Candara"/>
            </a:endParaRPr>
          </a:p>
        </p:txBody>
      </p:sp>
      <p:grpSp>
        <p:nvGrpSpPr>
          <p:cNvPr id="145" name="Gruppo 144">
            <a:extLst>
              <a:ext uri="{FF2B5EF4-FFF2-40B4-BE49-F238E27FC236}">
                <a16:creationId xmlns:a16="http://schemas.microsoft.com/office/drawing/2014/main" id="{3B0747A7-CD8E-4746-9E89-0A752EA00CAE}"/>
              </a:ext>
            </a:extLst>
          </p:cNvPr>
          <p:cNvGrpSpPr/>
          <p:nvPr/>
        </p:nvGrpSpPr>
        <p:grpSpPr>
          <a:xfrm rot="19800000">
            <a:off x="5060218" y="2750372"/>
            <a:ext cx="3377588" cy="3755438"/>
            <a:chOff x="1710094" y="1779964"/>
            <a:chExt cx="3976063" cy="4420865"/>
          </a:xfrm>
        </p:grpSpPr>
        <p:cxnSp>
          <p:nvCxnSpPr>
            <p:cNvPr id="14" name="Connettore 1 13">
              <a:extLst>
                <a:ext uri="{FF2B5EF4-FFF2-40B4-BE49-F238E27FC236}">
                  <a16:creationId xmlns:a16="http://schemas.microsoft.com/office/drawing/2014/main" id="{85AF6421-3242-C646-A71E-C33BBEB6C953}"/>
                </a:ext>
              </a:extLst>
            </p:cNvPr>
            <p:cNvCxnSpPr>
              <a:cxnSpLocks/>
            </p:cNvCxnSpPr>
            <p:nvPr/>
          </p:nvCxnSpPr>
          <p:spPr>
            <a:xfrm rot="1800000" flipV="1">
              <a:off x="3162317" y="1793321"/>
              <a:ext cx="1118740" cy="645903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>
              <a:extLst>
                <a:ext uri="{FF2B5EF4-FFF2-40B4-BE49-F238E27FC236}">
                  <a16:creationId xmlns:a16="http://schemas.microsoft.com/office/drawing/2014/main" id="{7DFD516B-F509-B741-95E4-DC548343DAA0}"/>
                </a:ext>
              </a:extLst>
            </p:cNvPr>
            <p:cNvCxnSpPr>
              <a:cxnSpLocks/>
            </p:cNvCxnSpPr>
            <p:nvPr/>
          </p:nvCxnSpPr>
          <p:spPr>
            <a:xfrm rot="1800000" flipV="1">
              <a:off x="2767098" y="1779964"/>
              <a:ext cx="1907058" cy="110104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5">
              <a:extLst>
                <a:ext uri="{FF2B5EF4-FFF2-40B4-BE49-F238E27FC236}">
                  <a16:creationId xmlns:a16="http://schemas.microsoft.com/office/drawing/2014/main" id="{661F7C48-0C86-444D-92FB-DB633C4D0C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5873" y="2540443"/>
              <a:ext cx="1083756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6">
              <a:extLst>
                <a:ext uri="{FF2B5EF4-FFF2-40B4-BE49-F238E27FC236}">
                  <a16:creationId xmlns:a16="http://schemas.microsoft.com/office/drawing/2014/main" id="{2449FE18-0B18-3648-988B-A0A20FA356B7}"/>
                </a:ext>
              </a:extLst>
            </p:cNvPr>
            <p:cNvCxnSpPr>
              <a:cxnSpLocks/>
            </p:cNvCxnSpPr>
            <p:nvPr/>
          </p:nvCxnSpPr>
          <p:spPr>
            <a:xfrm>
              <a:off x="4511493" y="2742646"/>
              <a:ext cx="757464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">
              <a:extLst>
                <a:ext uri="{FF2B5EF4-FFF2-40B4-BE49-F238E27FC236}">
                  <a16:creationId xmlns:a16="http://schemas.microsoft.com/office/drawing/2014/main" id="{E1B09FF8-5F25-8C43-9DC1-7253A2DB604F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21" y="2952071"/>
              <a:ext cx="657638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>
              <a:extLst>
                <a:ext uri="{FF2B5EF4-FFF2-40B4-BE49-F238E27FC236}">
                  <a16:creationId xmlns:a16="http://schemas.microsoft.com/office/drawing/2014/main" id="{7F76B2E7-1249-3F4A-B6E6-751D95497E6D}"/>
                </a:ext>
              </a:extLst>
            </p:cNvPr>
            <p:cNvCxnSpPr>
              <a:cxnSpLocks/>
            </p:cNvCxnSpPr>
            <p:nvPr/>
          </p:nvCxnSpPr>
          <p:spPr>
            <a:xfrm>
              <a:off x="4948560" y="3164989"/>
              <a:ext cx="561395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9">
              <a:extLst>
                <a:ext uri="{FF2B5EF4-FFF2-40B4-BE49-F238E27FC236}">
                  <a16:creationId xmlns:a16="http://schemas.microsoft.com/office/drawing/2014/main" id="{A832017C-8090-5D4C-8F0A-A86D5E70CD35}"/>
                </a:ext>
              </a:extLst>
            </p:cNvPr>
            <p:cNvCxnSpPr>
              <a:cxnSpLocks/>
            </p:cNvCxnSpPr>
            <p:nvPr/>
          </p:nvCxnSpPr>
          <p:spPr>
            <a:xfrm>
              <a:off x="5063257" y="3373171"/>
              <a:ext cx="549780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0">
              <a:extLst>
                <a:ext uri="{FF2B5EF4-FFF2-40B4-BE49-F238E27FC236}">
                  <a16:creationId xmlns:a16="http://schemas.microsoft.com/office/drawing/2014/main" id="{05E4A295-13AD-974F-AEC7-0B610A7E198F}"/>
                </a:ext>
              </a:extLst>
            </p:cNvPr>
            <p:cNvCxnSpPr>
              <a:cxnSpLocks/>
            </p:cNvCxnSpPr>
            <p:nvPr/>
          </p:nvCxnSpPr>
          <p:spPr>
            <a:xfrm>
              <a:off x="5146107" y="3576617"/>
              <a:ext cx="540050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1">
              <a:extLst>
                <a:ext uri="{FF2B5EF4-FFF2-40B4-BE49-F238E27FC236}">
                  <a16:creationId xmlns:a16="http://schemas.microsoft.com/office/drawing/2014/main" id="{171951EB-9AC4-0043-8D91-55506FC6C648}"/>
                </a:ext>
              </a:extLst>
            </p:cNvPr>
            <p:cNvCxnSpPr>
              <a:cxnSpLocks/>
            </p:cNvCxnSpPr>
            <p:nvPr/>
          </p:nvCxnSpPr>
          <p:spPr>
            <a:xfrm>
              <a:off x="5194656" y="3789535"/>
              <a:ext cx="468964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2">
              <a:extLst>
                <a:ext uri="{FF2B5EF4-FFF2-40B4-BE49-F238E27FC236}">
                  <a16:creationId xmlns:a16="http://schemas.microsoft.com/office/drawing/2014/main" id="{64D58205-E613-AB4F-B3BB-089A2ED871D6}"/>
                </a:ext>
              </a:extLst>
            </p:cNvPr>
            <p:cNvCxnSpPr>
              <a:cxnSpLocks/>
            </p:cNvCxnSpPr>
            <p:nvPr/>
          </p:nvCxnSpPr>
          <p:spPr>
            <a:xfrm>
              <a:off x="5206684" y="3991247"/>
              <a:ext cx="474070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>
              <a:extLst>
                <a:ext uri="{FF2B5EF4-FFF2-40B4-BE49-F238E27FC236}">
                  <a16:creationId xmlns:a16="http://schemas.microsoft.com/office/drawing/2014/main" id="{1FD6D9BC-3240-1744-B9C4-73BEC576F1A5}"/>
                </a:ext>
              </a:extLst>
            </p:cNvPr>
            <p:cNvCxnSpPr>
              <a:cxnSpLocks/>
            </p:cNvCxnSpPr>
            <p:nvPr/>
          </p:nvCxnSpPr>
          <p:spPr>
            <a:xfrm>
              <a:off x="5195727" y="4195694"/>
              <a:ext cx="480688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>
              <a:extLst>
                <a:ext uri="{FF2B5EF4-FFF2-40B4-BE49-F238E27FC236}">
                  <a16:creationId xmlns:a16="http://schemas.microsoft.com/office/drawing/2014/main" id="{BCA5914B-F19D-294B-8E08-EFFDB984FAFB}"/>
                </a:ext>
              </a:extLst>
            </p:cNvPr>
            <p:cNvCxnSpPr>
              <a:cxnSpLocks/>
            </p:cNvCxnSpPr>
            <p:nvPr/>
          </p:nvCxnSpPr>
          <p:spPr>
            <a:xfrm>
              <a:off x="5151490" y="4411729"/>
              <a:ext cx="497631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>
              <a:extLst>
                <a:ext uri="{FF2B5EF4-FFF2-40B4-BE49-F238E27FC236}">
                  <a16:creationId xmlns:a16="http://schemas.microsoft.com/office/drawing/2014/main" id="{B864EC31-ACE2-5449-8852-A08B216438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6768" y="4614565"/>
              <a:ext cx="566271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>
              <a:extLst>
                <a:ext uri="{FF2B5EF4-FFF2-40B4-BE49-F238E27FC236}">
                  <a16:creationId xmlns:a16="http://schemas.microsoft.com/office/drawing/2014/main" id="{1CD9ED84-072A-C741-8519-52F7B7E92139}"/>
                </a:ext>
              </a:extLst>
            </p:cNvPr>
            <p:cNvCxnSpPr>
              <a:cxnSpLocks/>
            </p:cNvCxnSpPr>
            <p:nvPr/>
          </p:nvCxnSpPr>
          <p:spPr>
            <a:xfrm>
              <a:off x="4955725" y="4828673"/>
              <a:ext cx="557608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>
              <a:extLst>
                <a:ext uri="{FF2B5EF4-FFF2-40B4-BE49-F238E27FC236}">
                  <a16:creationId xmlns:a16="http://schemas.microsoft.com/office/drawing/2014/main" id="{AC7CB7A9-7234-9641-BC11-6C22B62F1F73}"/>
                </a:ext>
              </a:extLst>
            </p:cNvPr>
            <p:cNvCxnSpPr>
              <a:cxnSpLocks/>
            </p:cNvCxnSpPr>
            <p:nvPr/>
          </p:nvCxnSpPr>
          <p:spPr>
            <a:xfrm>
              <a:off x="4798740" y="5036855"/>
              <a:ext cx="612116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>
              <a:extLst>
                <a:ext uri="{FF2B5EF4-FFF2-40B4-BE49-F238E27FC236}">
                  <a16:creationId xmlns:a16="http://schemas.microsoft.com/office/drawing/2014/main" id="{93C5D5FF-301F-0447-9018-F20D32EAB8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3909" y="5245036"/>
              <a:ext cx="696438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>
              <a:extLst>
                <a:ext uri="{FF2B5EF4-FFF2-40B4-BE49-F238E27FC236}">
                  <a16:creationId xmlns:a16="http://schemas.microsoft.com/office/drawing/2014/main" id="{F93F7876-C79F-8B42-B623-B158BBAE65EE}"/>
                </a:ext>
              </a:extLst>
            </p:cNvPr>
            <p:cNvCxnSpPr>
              <a:cxnSpLocks/>
            </p:cNvCxnSpPr>
            <p:nvPr/>
          </p:nvCxnSpPr>
          <p:spPr>
            <a:xfrm>
              <a:off x="4122665" y="5453219"/>
              <a:ext cx="931992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>
              <a:extLst>
                <a:ext uri="{FF2B5EF4-FFF2-40B4-BE49-F238E27FC236}">
                  <a16:creationId xmlns:a16="http://schemas.microsoft.com/office/drawing/2014/main" id="{4EFFF95F-38F0-E445-9C36-2ADE69CCFACC}"/>
                </a:ext>
              </a:extLst>
            </p:cNvPr>
            <p:cNvCxnSpPr>
              <a:cxnSpLocks/>
            </p:cNvCxnSpPr>
            <p:nvPr/>
          </p:nvCxnSpPr>
          <p:spPr>
            <a:xfrm rot="1800000" flipV="1">
              <a:off x="2793119" y="5121972"/>
              <a:ext cx="1868635" cy="1078857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>
              <a:extLst>
                <a:ext uri="{FF2B5EF4-FFF2-40B4-BE49-F238E27FC236}">
                  <a16:creationId xmlns:a16="http://schemas.microsoft.com/office/drawing/2014/main" id="{EAD4647F-40CC-CA47-B037-D309D2818290}"/>
                </a:ext>
              </a:extLst>
            </p:cNvPr>
            <p:cNvCxnSpPr>
              <a:cxnSpLocks/>
            </p:cNvCxnSpPr>
            <p:nvPr/>
          </p:nvCxnSpPr>
          <p:spPr>
            <a:xfrm rot="1800000" flipV="1">
              <a:off x="3124869" y="5540516"/>
              <a:ext cx="1139924" cy="658136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>
              <a:extLst>
                <a:ext uri="{FF2B5EF4-FFF2-40B4-BE49-F238E27FC236}">
                  <a16:creationId xmlns:a16="http://schemas.microsoft.com/office/drawing/2014/main" id="{A4E9843A-D2D7-584A-85DE-E12C7B7FBE48}"/>
                </a:ext>
              </a:extLst>
            </p:cNvPr>
            <p:cNvCxnSpPr>
              <a:cxnSpLocks/>
            </p:cNvCxnSpPr>
            <p:nvPr/>
          </p:nvCxnSpPr>
          <p:spPr>
            <a:xfrm>
              <a:off x="2368529" y="5457085"/>
              <a:ext cx="960774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99">
              <a:extLst>
                <a:ext uri="{FF2B5EF4-FFF2-40B4-BE49-F238E27FC236}">
                  <a16:creationId xmlns:a16="http://schemas.microsoft.com/office/drawing/2014/main" id="{ABEA2A36-2AAC-A44C-A56F-9052DC52AD58}"/>
                </a:ext>
              </a:extLst>
            </p:cNvPr>
            <p:cNvCxnSpPr>
              <a:cxnSpLocks/>
            </p:cNvCxnSpPr>
            <p:nvPr/>
          </p:nvCxnSpPr>
          <p:spPr>
            <a:xfrm>
              <a:off x="2157539" y="5243047"/>
              <a:ext cx="691377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>
              <a:extLst>
                <a:ext uri="{FF2B5EF4-FFF2-40B4-BE49-F238E27FC236}">
                  <a16:creationId xmlns:a16="http://schemas.microsoft.com/office/drawing/2014/main" id="{AE330F13-84B7-2143-AEFF-F3751264F0DB}"/>
                </a:ext>
              </a:extLst>
            </p:cNvPr>
            <p:cNvCxnSpPr>
              <a:cxnSpLocks/>
            </p:cNvCxnSpPr>
            <p:nvPr/>
          </p:nvCxnSpPr>
          <p:spPr>
            <a:xfrm>
              <a:off x="2054018" y="5040493"/>
              <a:ext cx="565889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>
              <a:extLst>
                <a:ext uri="{FF2B5EF4-FFF2-40B4-BE49-F238E27FC236}">
                  <a16:creationId xmlns:a16="http://schemas.microsoft.com/office/drawing/2014/main" id="{25DE00F5-E9A3-D34F-843C-A69CE3CD3E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8154" y="4828673"/>
              <a:ext cx="529155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>
              <a:extLst>
                <a:ext uri="{FF2B5EF4-FFF2-40B4-BE49-F238E27FC236}">
                  <a16:creationId xmlns:a16="http://schemas.microsoft.com/office/drawing/2014/main" id="{64A59AA2-EE15-394B-8DD9-C27ABB78BFA3}"/>
                </a:ext>
              </a:extLst>
            </p:cNvPr>
            <p:cNvCxnSpPr>
              <a:cxnSpLocks/>
            </p:cNvCxnSpPr>
            <p:nvPr/>
          </p:nvCxnSpPr>
          <p:spPr>
            <a:xfrm>
              <a:off x="1847352" y="4620491"/>
              <a:ext cx="471336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14">
              <a:extLst>
                <a:ext uri="{FF2B5EF4-FFF2-40B4-BE49-F238E27FC236}">
                  <a16:creationId xmlns:a16="http://schemas.microsoft.com/office/drawing/2014/main" id="{28412C58-602A-254E-8E26-BEB041B30D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1287" y="4415495"/>
              <a:ext cx="470598" cy="2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17">
              <a:extLst>
                <a:ext uri="{FF2B5EF4-FFF2-40B4-BE49-F238E27FC236}">
                  <a16:creationId xmlns:a16="http://schemas.microsoft.com/office/drawing/2014/main" id="{0084DE31-14F2-1047-8350-879A71899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0094" y="4209907"/>
              <a:ext cx="493940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0">
              <a:extLst>
                <a:ext uri="{FF2B5EF4-FFF2-40B4-BE49-F238E27FC236}">
                  <a16:creationId xmlns:a16="http://schemas.microsoft.com/office/drawing/2014/main" id="{9D0E3DD4-D612-4D42-B1DD-1D96179EB5E1}"/>
                </a:ext>
              </a:extLst>
            </p:cNvPr>
            <p:cNvCxnSpPr>
              <a:cxnSpLocks/>
            </p:cNvCxnSpPr>
            <p:nvPr/>
          </p:nvCxnSpPr>
          <p:spPr>
            <a:xfrm>
              <a:off x="1760823" y="3995942"/>
              <a:ext cx="439288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3">
              <a:extLst>
                <a:ext uri="{FF2B5EF4-FFF2-40B4-BE49-F238E27FC236}">
                  <a16:creationId xmlns:a16="http://schemas.microsoft.com/office/drawing/2014/main" id="{4AA979C1-2E48-0B43-8216-6317D83153E6}"/>
                </a:ext>
              </a:extLst>
            </p:cNvPr>
            <p:cNvCxnSpPr>
              <a:cxnSpLocks/>
            </p:cNvCxnSpPr>
            <p:nvPr/>
          </p:nvCxnSpPr>
          <p:spPr>
            <a:xfrm>
              <a:off x="1756867" y="3789249"/>
              <a:ext cx="479168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126">
              <a:extLst>
                <a:ext uri="{FF2B5EF4-FFF2-40B4-BE49-F238E27FC236}">
                  <a16:creationId xmlns:a16="http://schemas.microsoft.com/office/drawing/2014/main" id="{FB8AC590-F642-EE47-8AF3-EA4BB354914C}"/>
                </a:ext>
              </a:extLst>
            </p:cNvPr>
            <p:cNvCxnSpPr>
              <a:cxnSpLocks/>
            </p:cNvCxnSpPr>
            <p:nvPr/>
          </p:nvCxnSpPr>
          <p:spPr>
            <a:xfrm>
              <a:off x="1764934" y="3582223"/>
              <a:ext cx="503053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ttore 1 129">
              <a:extLst>
                <a:ext uri="{FF2B5EF4-FFF2-40B4-BE49-F238E27FC236}">
                  <a16:creationId xmlns:a16="http://schemas.microsoft.com/office/drawing/2014/main" id="{820DC7EF-C08B-6849-B751-F9D98C8E09C2}"/>
                </a:ext>
              </a:extLst>
            </p:cNvPr>
            <p:cNvCxnSpPr>
              <a:cxnSpLocks/>
            </p:cNvCxnSpPr>
            <p:nvPr/>
          </p:nvCxnSpPr>
          <p:spPr>
            <a:xfrm>
              <a:off x="1834567" y="3368855"/>
              <a:ext cx="507994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ttore 1 132">
              <a:extLst>
                <a:ext uri="{FF2B5EF4-FFF2-40B4-BE49-F238E27FC236}">
                  <a16:creationId xmlns:a16="http://schemas.microsoft.com/office/drawing/2014/main" id="{3F454757-7EFF-8143-8534-406DE0391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7203" y="3150344"/>
              <a:ext cx="580964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>
              <a:extLst>
                <a:ext uri="{FF2B5EF4-FFF2-40B4-BE49-F238E27FC236}">
                  <a16:creationId xmlns:a16="http://schemas.microsoft.com/office/drawing/2014/main" id="{14D6B153-9DCF-7A48-B18E-2567EA74C6D1}"/>
                </a:ext>
              </a:extLst>
            </p:cNvPr>
            <p:cNvCxnSpPr>
              <a:cxnSpLocks/>
            </p:cNvCxnSpPr>
            <p:nvPr/>
          </p:nvCxnSpPr>
          <p:spPr>
            <a:xfrm>
              <a:off x="2097500" y="2950579"/>
              <a:ext cx="550178" cy="1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>
              <a:extLst>
                <a:ext uri="{FF2B5EF4-FFF2-40B4-BE49-F238E27FC236}">
                  <a16:creationId xmlns:a16="http://schemas.microsoft.com/office/drawing/2014/main" id="{EC617E51-D19E-AE4D-BA05-40E8EAC57B3E}"/>
                </a:ext>
              </a:extLst>
            </p:cNvPr>
            <p:cNvCxnSpPr>
              <a:cxnSpLocks/>
            </p:cNvCxnSpPr>
            <p:nvPr/>
          </p:nvCxnSpPr>
          <p:spPr>
            <a:xfrm>
              <a:off x="2200536" y="2739238"/>
              <a:ext cx="726232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>
              <a:extLst>
                <a:ext uri="{FF2B5EF4-FFF2-40B4-BE49-F238E27FC236}">
                  <a16:creationId xmlns:a16="http://schemas.microsoft.com/office/drawing/2014/main" id="{F6E633EE-9208-1541-9DE9-C879ABACB29A}"/>
                </a:ext>
              </a:extLst>
            </p:cNvPr>
            <p:cNvCxnSpPr>
              <a:cxnSpLocks/>
            </p:cNvCxnSpPr>
            <p:nvPr/>
          </p:nvCxnSpPr>
          <p:spPr>
            <a:xfrm>
              <a:off x="2359352" y="2533844"/>
              <a:ext cx="1118569" cy="0"/>
            </a:xfrm>
            <a:prstGeom prst="line">
              <a:avLst/>
            </a:prstGeom>
            <a:ln w="50800" cap="rnd" cmpd="sng">
              <a:solidFill>
                <a:srgbClr val="00905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Ovale 146">
            <a:extLst>
              <a:ext uri="{FF2B5EF4-FFF2-40B4-BE49-F238E27FC236}">
                <a16:creationId xmlns:a16="http://schemas.microsoft.com/office/drawing/2014/main" id="{A389F93A-A77D-7B4B-8170-F379BAC27AEF}"/>
              </a:ext>
            </a:extLst>
          </p:cNvPr>
          <p:cNvSpPr/>
          <p:nvPr/>
        </p:nvSpPr>
        <p:spPr>
          <a:xfrm>
            <a:off x="5498930" y="3365294"/>
            <a:ext cx="2533335" cy="2533335"/>
          </a:xfrm>
          <a:prstGeom prst="ellipse">
            <a:avLst/>
          </a:prstGeom>
          <a:noFill/>
          <a:ln w="508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DE612439-8160-E448-916A-1332BD0A7321}"/>
              </a:ext>
            </a:extLst>
          </p:cNvPr>
          <p:cNvGrpSpPr/>
          <p:nvPr/>
        </p:nvGrpSpPr>
        <p:grpSpPr>
          <a:xfrm>
            <a:off x="5895035" y="3659417"/>
            <a:ext cx="1734338" cy="1979323"/>
            <a:chOff x="5895035" y="3659417"/>
            <a:chExt cx="1734338" cy="1979323"/>
          </a:xfrm>
        </p:grpSpPr>
        <p:sp>
          <p:nvSpPr>
            <p:cNvPr id="148" name="Ovale 147">
              <a:extLst>
                <a:ext uri="{FF2B5EF4-FFF2-40B4-BE49-F238E27FC236}">
                  <a16:creationId xmlns:a16="http://schemas.microsoft.com/office/drawing/2014/main" id="{1485BAF0-38CA-1444-B9AE-4FB988CDA5B0}"/>
                </a:ext>
              </a:extLst>
            </p:cNvPr>
            <p:cNvSpPr/>
            <p:nvPr/>
          </p:nvSpPr>
          <p:spPr>
            <a:xfrm>
              <a:off x="5994801" y="3860747"/>
              <a:ext cx="1554856" cy="1554856"/>
            </a:xfrm>
            <a:prstGeom prst="ellipse">
              <a:avLst/>
            </a:prstGeom>
            <a:noFill/>
            <a:ln w="5080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49" name="Ovale 148">
              <a:extLst>
                <a:ext uri="{FF2B5EF4-FFF2-40B4-BE49-F238E27FC236}">
                  <a16:creationId xmlns:a16="http://schemas.microsoft.com/office/drawing/2014/main" id="{4992289C-C17C-FB4D-BAEE-A130684AC298}"/>
                </a:ext>
              </a:extLst>
            </p:cNvPr>
            <p:cNvSpPr/>
            <p:nvPr/>
          </p:nvSpPr>
          <p:spPr>
            <a:xfrm>
              <a:off x="5899969" y="5044159"/>
              <a:ext cx="129461" cy="129461"/>
            </a:xfrm>
            <a:prstGeom prst="ellipse">
              <a:avLst/>
            </a:prstGeom>
            <a:noFill/>
            <a:ln w="5080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50" name="Ovale 149">
              <a:extLst>
                <a:ext uri="{FF2B5EF4-FFF2-40B4-BE49-F238E27FC236}">
                  <a16:creationId xmlns:a16="http://schemas.microsoft.com/office/drawing/2014/main" id="{692842B6-BAFD-2C43-9516-EAC2782780D6}"/>
                </a:ext>
              </a:extLst>
            </p:cNvPr>
            <p:cNvSpPr/>
            <p:nvPr/>
          </p:nvSpPr>
          <p:spPr>
            <a:xfrm>
              <a:off x="5895035" y="4127418"/>
              <a:ext cx="129461" cy="129461"/>
            </a:xfrm>
            <a:prstGeom prst="ellipse">
              <a:avLst/>
            </a:prstGeom>
            <a:noFill/>
            <a:ln w="5080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51" name="Ovale 150">
              <a:extLst>
                <a:ext uri="{FF2B5EF4-FFF2-40B4-BE49-F238E27FC236}">
                  <a16:creationId xmlns:a16="http://schemas.microsoft.com/office/drawing/2014/main" id="{122F8FAD-DB63-EF4B-A4AB-B2B526800024}"/>
                </a:ext>
              </a:extLst>
            </p:cNvPr>
            <p:cNvSpPr/>
            <p:nvPr/>
          </p:nvSpPr>
          <p:spPr>
            <a:xfrm>
              <a:off x="6694389" y="3659417"/>
              <a:ext cx="129461" cy="129461"/>
            </a:xfrm>
            <a:prstGeom prst="ellipse">
              <a:avLst/>
            </a:prstGeom>
            <a:noFill/>
            <a:ln w="5080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52" name="Ovale 151">
              <a:extLst>
                <a:ext uri="{FF2B5EF4-FFF2-40B4-BE49-F238E27FC236}">
                  <a16:creationId xmlns:a16="http://schemas.microsoft.com/office/drawing/2014/main" id="{13BED877-60AF-374A-95CE-62533E0A41BF}"/>
                </a:ext>
              </a:extLst>
            </p:cNvPr>
            <p:cNvSpPr/>
            <p:nvPr/>
          </p:nvSpPr>
          <p:spPr>
            <a:xfrm>
              <a:off x="6696911" y="5509279"/>
              <a:ext cx="129461" cy="129461"/>
            </a:xfrm>
            <a:prstGeom prst="ellipse">
              <a:avLst/>
            </a:prstGeom>
            <a:noFill/>
            <a:ln w="5080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53" name="Ovale 152">
              <a:extLst>
                <a:ext uri="{FF2B5EF4-FFF2-40B4-BE49-F238E27FC236}">
                  <a16:creationId xmlns:a16="http://schemas.microsoft.com/office/drawing/2014/main" id="{CF9CA321-3BEE-0A4C-8E52-F1C7510540C0}"/>
                </a:ext>
              </a:extLst>
            </p:cNvPr>
            <p:cNvSpPr/>
            <p:nvPr/>
          </p:nvSpPr>
          <p:spPr>
            <a:xfrm>
              <a:off x="7499912" y="4120543"/>
              <a:ext cx="129461" cy="129461"/>
            </a:xfrm>
            <a:prstGeom prst="ellipse">
              <a:avLst/>
            </a:prstGeom>
            <a:noFill/>
            <a:ln w="5080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54" name="Ovale 153">
              <a:extLst>
                <a:ext uri="{FF2B5EF4-FFF2-40B4-BE49-F238E27FC236}">
                  <a16:creationId xmlns:a16="http://schemas.microsoft.com/office/drawing/2014/main" id="{25CD6143-48B4-F64A-9E3A-ED65FB52BA6E}"/>
                </a:ext>
              </a:extLst>
            </p:cNvPr>
            <p:cNvSpPr/>
            <p:nvPr/>
          </p:nvSpPr>
          <p:spPr>
            <a:xfrm>
              <a:off x="7495290" y="5044159"/>
              <a:ext cx="129461" cy="129461"/>
            </a:xfrm>
            <a:prstGeom prst="ellipse">
              <a:avLst/>
            </a:prstGeom>
            <a:noFill/>
            <a:ln w="5080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67" name="Gruppo 166">
            <a:extLst>
              <a:ext uri="{FF2B5EF4-FFF2-40B4-BE49-F238E27FC236}">
                <a16:creationId xmlns:a16="http://schemas.microsoft.com/office/drawing/2014/main" id="{8E8D56E8-D100-A24A-B002-918DB4E4DCB7}"/>
              </a:ext>
            </a:extLst>
          </p:cNvPr>
          <p:cNvGrpSpPr/>
          <p:nvPr/>
        </p:nvGrpSpPr>
        <p:grpSpPr>
          <a:xfrm>
            <a:off x="880541" y="3851560"/>
            <a:ext cx="3529139" cy="1554795"/>
            <a:chOff x="3707464" y="1831529"/>
            <a:chExt cx="1802363" cy="794048"/>
          </a:xfrm>
        </p:grpSpPr>
        <p:pic>
          <p:nvPicPr>
            <p:cNvPr id="161" name="Immagine 160">
              <a:extLst>
                <a:ext uri="{FF2B5EF4-FFF2-40B4-BE49-F238E27FC236}">
                  <a16:creationId xmlns:a16="http://schemas.microsoft.com/office/drawing/2014/main" id="{3DBEE9C7-F4B9-744B-9CCA-CF1A374B1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7464" y="1831529"/>
              <a:ext cx="1802363" cy="794048"/>
            </a:xfrm>
            <a:prstGeom prst="rect">
              <a:avLst/>
            </a:prstGeom>
          </p:spPr>
        </p:pic>
        <p:cxnSp>
          <p:nvCxnSpPr>
            <p:cNvPr id="162" name="Connettore 1 161">
              <a:extLst>
                <a:ext uri="{FF2B5EF4-FFF2-40B4-BE49-F238E27FC236}">
                  <a16:creationId xmlns:a16="http://schemas.microsoft.com/office/drawing/2014/main" id="{B64189C2-6D6E-3240-8744-D497F0A619B1}"/>
                </a:ext>
              </a:extLst>
            </p:cNvPr>
            <p:cNvCxnSpPr>
              <a:cxnSpLocks/>
            </p:cNvCxnSpPr>
            <p:nvPr/>
          </p:nvCxnSpPr>
          <p:spPr>
            <a:xfrm>
              <a:off x="3800158" y="2540664"/>
              <a:ext cx="1615608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po 8">
            <a:extLst>
              <a:ext uri="{FF2B5EF4-FFF2-40B4-BE49-F238E27FC236}">
                <a16:creationId xmlns:a16="http://schemas.microsoft.com/office/drawing/2014/main" id="{0019630B-1C8D-E447-9D5E-22526C9E5FC7}"/>
              </a:ext>
            </a:extLst>
          </p:cNvPr>
          <p:cNvGrpSpPr/>
          <p:nvPr/>
        </p:nvGrpSpPr>
        <p:grpSpPr>
          <a:xfrm>
            <a:off x="979714" y="4954773"/>
            <a:ext cx="3344635" cy="398277"/>
            <a:chOff x="979714" y="4954773"/>
            <a:chExt cx="3344635" cy="398277"/>
          </a:xfrm>
        </p:grpSpPr>
        <p:sp>
          <p:nvSpPr>
            <p:cNvPr id="3" name="Figura a mano libera 2">
              <a:extLst>
                <a:ext uri="{FF2B5EF4-FFF2-40B4-BE49-F238E27FC236}">
                  <a16:creationId xmlns:a16="http://schemas.microsoft.com/office/drawing/2014/main" id="{D0FB9FD1-993D-0540-B93B-AA7C02A5AE44}"/>
                </a:ext>
              </a:extLst>
            </p:cNvPr>
            <p:cNvSpPr/>
            <p:nvPr/>
          </p:nvSpPr>
          <p:spPr>
            <a:xfrm>
              <a:off x="979714" y="4954773"/>
              <a:ext cx="599704" cy="397823"/>
            </a:xfrm>
            <a:custGeom>
              <a:avLst/>
              <a:gdLst>
                <a:gd name="connsiteX0" fmla="*/ 0 w 599704"/>
                <a:gd name="connsiteY0" fmla="*/ 0 h 397823"/>
                <a:gd name="connsiteX1" fmla="*/ 0 w 599704"/>
                <a:gd name="connsiteY1" fmla="*/ 397823 h 397823"/>
                <a:gd name="connsiteX2" fmla="*/ 599704 w 599704"/>
                <a:gd name="connsiteY2" fmla="*/ 397823 h 397823"/>
                <a:gd name="connsiteX3" fmla="*/ 599704 w 599704"/>
                <a:gd name="connsiteY3" fmla="*/ 160317 h 397823"/>
                <a:gd name="connsiteX4" fmla="*/ 421574 w 599704"/>
                <a:gd name="connsiteY4" fmla="*/ 160317 h 397823"/>
                <a:gd name="connsiteX5" fmla="*/ 421574 w 599704"/>
                <a:gd name="connsiteY5" fmla="*/ 5938 h 397823"/>
                <a:gd name="connsiteX6" fmla="*/ 0 w 599704"/>
                <a:gd name="connsiteY6" fmla="*/ 0 h 397823"/>
                <a:gd name="connsiteX0" fmla="*/ 0 w 599704"/>
                <a:gd name="connsiteY0" fmla="*/ 0 h 397823"/>
                <a:gd name="connsiteX1" fmla="*/ 0 w 599704"/>
                <a:gd name="connsiteY1" fmla="*/ 397823 h 397823"/>
                <a:gd name="connsiteX2" fmla="*/ 599704 w 599704"/>
                <a:gd name="connsiteY2" fmla="*/ 397823 h 397823"/>
                <a:gd name="connsiteX3" fmla="*/ 599704 w 599704"/>
                <a:gd name="connsiteY3" fmla="*/ 160317 h 397823"/>
                <a:gd name="connsiteX4" fmla="*/ 421574 w 599704"/>
                <a:gd name="connsiteY4" fmla="*/ 160317 h 397823"/>
                <a:gd name="connsiteX5" fmla="*/ 421574 w 599704"/>
                <a:gd name="connsiteY5" fmla="*/ 2763 h 397823"/>
                <a:gd name="connsiteX6" fmla="*/ 0 w 599704"/>
                <a:gd name="connsiteY6" fmla="*/ 0 h 397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9704" h="397823">
                  <a:moveTo>
                    <a:pt x="0" y="0"/>
                  </a:moveTo>
                  <a:lnTo>
                    <a:pt x="0" y="397823"/>
                  </a:lnTo>
                  <a:lnTo>
                    <a:pt x="599704" y="397823"/>
                  </a:lnTo>
                  <a:lnTo>
                    <a:pt x="599704" y="160317"/>
                  </a:lnTo>
                  <a:lnTo>
                    <a:pt x="421574" y="160317"/>
                  </a:lnTo>
                  <a:lnTo>
                    <a:pt x="421574" y="2763"/>
                  </a:lnTo>
                  <a:lnTo>
                    <a:pt x="0" y="0"/>
                  </a:lnTo>
                  <a:close/>
                </a:path>
              </a:pathLst>
            </a:custGeom>
            <a:pattFill prst="pct25">
              <a:fgClr>
                <a:srgbClr val="009051"/>
              </a:fgClr>
              <a:bgClr>
                <a:schemeClr val="bg1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igura a mano libera 7">
              <a:extLst>
                <a:ext uri="{FF2B5EF4-FFF2-40B4-BE49-F238E27FC236}">
                  <a16:creationId xmlns:a16="http://schemas.microsoft.com/office/drawing/2014/main" id="{ADD70375-4224-9E4D-93E0-CB7828123868}"/>
                </a:ext>
              </a:extLst>
            </p:cNvPr>
            <p:cNvSpPr/>
            <p:nvPr/>
          </p:nvSpPr>
          <p:spPr>
            <a:xfrm>
              <a:off x="3717924" y="4959350"/>
              <a:ext cx="606425" cy="393700"/>
            </a:xfrm>
            <a:custGeom>
              <a:avLst/>
              <a:gdLst>
                <a:gd name="connsiteX0" fmla="*/ 0 w 603250"/>
                <a:gd name="connsiteY0" fmla="*/ 384175 h 387350"/>
                <a:gd name="connsiteX1" fmla="*/ 0 w 603250"/>
                <a:gd name="connsiteY1" fmla="*/ 155575 h 387350"/>
                <a:gd name="connsiteX2" fmla="*/ 177800 w 603250"/>
                <a:gd name="connsiteY2" fmla="*/ 155575 h 387350"/>
                <a:gd name="connsiteX3" fmla="*/ 177800 w 603250"/>
                <a:gd name="connsiteY3" fmla="*/ 0 h 387350"/>
                <a:gd name="connsiteX4" fmla="*/ 603250 w 603250"/>
                <a:gd name="connsiteY4" fmla="*/ 0 h 387350"/>
                <a:gd name="connsiteX5" fmla="*/ 603250 w 603250"/>
                <a:gd name="connsiteY5" fmla="*/ 387350 h 387350"/>
                <a:gd name="connsiteX6" fmla="*/ 0 w 603250"/>
                <a:gd name="connsiteY6" fmla="*/ 384175 h 387350"/>
                <a:gd name="connsiteX0" fmla="*/ 0 w 603250"/>
                <a:gd name="connsiteY0" fmla="*/ 387350 h 387350"/>
                <a:gd name="connsiteX1" fmla="*/ 0 w 603250"/>
                <a:gd name="connsiteY1" fmla="*/ 155575 h 387350"/>
                <a:gd name="connsiteX2" fmla="*/ 177800 w 603250"/>
                <a:gd name="connsiteY2" fmla="*/ 155575 h 387350"/>
                <a:gd name="connsiteX3" fmla="*/ 177800 w 603250"/>
                <a:gd name="connsiteY3" fmla="*/ 0 h 387350"/>
                <a:gd name="connsiteX4" fmla="*/ 603250 w 603250"/>
                <a:gd name="connsiteY4" fmla="*/ 0 h 387350"/>
                <a:gd name="connsiteX5" fmla="*/ 603250 w 603250"/>
                <a:gd name="connsiteY5" fmla="*/ 387350 h 387350"/>
                <a:gd name="connsiteX6" fmla="*/ 0 w 603250"/>
                <a:gd name="connsiteY6" fmla="*/ 387350 h 387350"/>
                <a:gd name="connsiteX0" fmla="*/ 0 w 603250"/>
                <a:gd name="connsiteY0" fmla="*/ 387350 h 393700"/>
                <a:gd name="connsiteX1" fmla="*/ 0 w 603250"/>
                <a:gd name="connsiteY1" fmla="*/ 155575 h 393700"/>
                <a:gd name="connsiteX2" fmla="*/ 177800 w 603250"/>
                <a:gd name="connsiteY2" fmla="*/ 155575 h 393700"/>
                <a:gd name="connsiteX3" fmla="*/ 177800 w 603250"/>
                <a:gd name="connsiteY3" fmla="*/ 0 h 393700"/>
                <a:gd name="connsiteX4" fmla="*/ 603250 w 603250"/>
                <a:gd name="connsiteY4" fmla="*/ 0 h 393700"/>
                <a:gd name="connsiteX5" fmla="*/ 603250 w 603250"/>
                <a:gd name="connsiteY5" fmla="*/ 393700 h 393700"/>
                <a:gd name="connsiteX6" fmla="*/ 0 w 603250"/>
                <a:gd name="connsiteY6" fmla="*/ 387350 h 393700"/>
                <a:gd name="connsiteX0" fmla="*/ 0 w 606425"/>
                <a:gd name="connsiteY0" fmla="*/ 387350 h 393700"/>
                <a:gd name="connsiteX1" fmla="*/ 3175 w 606425"/>
                <a:gd name="connsiteY1" fmla="*/ 155575 h 393700"/>
                <a:gd name="connsiteX2" fmla="*/ 180975 w 606425"/>
                <a:gd name="connsiteY2" fmla="*/ 155575 h 393700"/>
                <a:gd name="connsiteX3" fmla="*/ 180975 w 606425"/>
                <a:gd name="connsiteY3" fmla="*/ 0 h 393700"/>
                <a:gd name="connsiteX4" fmla="*/ 606425 w 606425"/>
                <a:gd name="connsiteY4" fmla="*/ 0 h 393700"/>
                <a:gd name="connsiteX5" fmla="*/ 606425 w 606425"/>
                <a:gd name="connsiteY5" fmla="*/ 393700 h 393700"/>
                <a:gd name="connsiteX6" fmla="*/ 0 w 606425"/>
                <a:gd name="connsiteY6" fmla="*/ 387350 h 393700"/>
                <a:gd name="connsiteX0" fmla="*/ 0 w 606425"/>
                <a:gd name="connsiteY0" fmla="*/ 390525 h 393700"/>
                <a:gd name="connsiteX1" fmla="*/ 3175 w 606425"/>
                <a:gd name="connsiteY1" fmla="*/ 155575 h 393700"/>
                <a:gd name="connsiteX2" fmla="*/ 180975 w 606425"/>
                <a:gd name="connsiteY2" fmla="*/ 155575 h 393700"/>
                <a:gd name="connsiteX3" fmla="*/ 180975 w 606425"/>
                <a:gd name="connsiteY3" fmla="*/ 0 h 393700"/>
                <a:gd name="connsiteX4" fmla="*/ 606425 w 606425"/>
                <a:gd name="connsiteY4" fmla="*/ 0 h 393700"/>
                <a:gd name="connsiteX5" fmla="*/ 606425 w 606425"/>
                <a:gd name="connsiteY5" fmla="*/ 393700 h 393700"/>
                <a:gd name="connsiteX6" fmla="*/ 0 w 606425"/>
                <a:gd name="connsiteY6" fmla="*/ 390525 h 39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6425" h="393700">
                  <a:moveTo>
                    <a:pt x="0" y="390525"/>
                  </a:moveTo>
                  <a:cubicBezTo>
                    <a:pt x="1058" y="313267"/>
                    <a:pt x="2117" y="232833"/>
                    <a:pt x="3175" y="155575"/>
                  </a:cubicBezTo>
                  <a:lnTo>
                    <a:pt x="180975" y="155575"/>
                  </a:lnTo>
                  <a:lnTo>
                    <a:pt x="180975" y="0"/>
                  </a:lnTo>
                  <a:lnTo>
                    <a:pt x="606425" y="0"/>
                  </a:lnTo>
                  <a:lnTo>
                    <a:pt x="606425" y="393700"/>
                  </a:lnTo>
                  <a:lnTo>
                    <a:pt x="0" y="390525"/>
                  </a:lnTo>
                  <a:close/>
                </a:path>
              </a:pathLst>
            </a:custGeom>
            <a:pattFill prst="pct25">
              <a:fgClr>
                <a:srgbClr val="009051"/>
              </a:fgClr>
              <a:bgClr>
                <a:schemeClr val="bg1"/>
              </a:bgClr>
            </a:patt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963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7" y="155771"/>
            <a:ext cx="2436886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Slice2Mesh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-264661" y="1080918"/>
            <a:ext cx="8809521" cy="4462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Transform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into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volumetric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meshes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20887F1-2496-264B-B4B4-FC206212B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89" y="1837547"/>
            <a:ext cx="2664821" cy="228164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50D5068-EA13-F742-B2D5-9C8984AB9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160" y="1837547"/>
            <a:ext cx="2670627" cy="2281644"/>
          </a:xfrm>
          <a:prstGeom prst="rect">
            <a:avLst/>
          </a:prstGeom>
        </p:spPr>
      </p:pic>
      <p:grpSp>
        <p:nvGrpSpPr>
          <p:cNvPr id="22" name="Gruppo 21">
            <a:extLst>
              <a:ext uri="{FF2B5EF4-FFF2-40B4-BE49-F238E27FC236}">
                <a16:creationId xmlns:a16="http://schemas.microsoft.com/office/drawing/2014/main" id="{1B825953-2AA9-9341-8A4C-3D40672B4E76}"/>
              </a:ext>
            </a:extLst>
          </p:cNvPr>
          <p:cNvGrpSpPr/>
          <p:nvPr/>
        </p:nvGrpSpPr>
        <p:grpSpPr>
          <a:xfrm>
            <a:off x="318289" y="4246196"/>
            <a:ext cx="5660240" cy="2009442"/>
            <a:chOff x="342039" y="4186821"/>
            <a:chExt cx="5660240" cy="2009442"/>
          </a:xfrm>
        </p:grpSpPr>
        <p:sp>
          <p:nvSpPr>
            <p:cNvPr id="24" name="Rettangolo arrotondato 23">
              <a:extLst>
                <a:ext uri="{FF2B5EF4-FFF2-40B4-BE49-F238E27FC236}">
                  <a16:creationId xmlns:a16="http://schemas.microsoft.com/office/drawing/2014/main" id="{812BFDBF-5707-D54F-AF14-5F1CEA06CAF7}"/>
                </a:ext>
              </a:extLst>
            </p:cNvPr>
            <p:cNvSpPr/>
            <p:nvPr/>
          </p:nvSpPr>
          <p:spPr>
            <a:xfrm>
              <a:off x="342039" y="4186821"/>
              <a:ext cx="5660240" cy="200944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rgbClr val="003D6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Immagine 14">
              <a:extLst>
                <a:ext uri="{FF2B5EF4-FFF2-40B4-BE49-F238E27FC236}">
                  <a16:creationId xmlns:a16="http://schemas.microsoft.com/office/drawing/2014/main" id="{0ED68E09-B883-434E-99AD-D7282C78F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74042" y="4186821"/>
              <a:ext cx="2546103" cy="1591314"/>
            </a:xfrm>
            <a:prstGeom prst="rect">
              <a:avLst/>
            </a:prstGeom>
          </p:spPr>
        </p:pic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96396F83-0D24-9C47-A03E-A726FA83B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0757" y="4186821"/>
              <a:ext cx="2546103" cy="1591314"/>
            </a:xfrm>
            <a:prstGeom prst="rect">
              <a:avLst/>
            </a:prstGeom>
          </p:spPr>
        </p:pic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7B68CDF5-FA14-C040-91A9-3D86D1276916}"/>
                </a:ext>
              </a:extLst>
            </p:cNvPr>
            <p:cNvSpPr txBox="1"/>
            <p:nvPr/>
          </p:nvSpPr>
          <p:spPr>
            <a:xfrm>
              <a:off x="1888085" y="5857186"/>
              <a:ext cx="277191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5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SLICE CONFORMING (OUTSIDE)</a:t>
              </a:r>
            </a:p>
          </p:txBody>
        </p:sp>
      </p:grpSp>
      <p:grpSp>
        <p:nvGrpSpPr>
          <p:cNvPr id="3" name="Gruppo 2">
            <a:extLst>
              <a:ext uri="{FF2B5EF4-FFF2-40B4-BE49-F238E27FC236}">
                <a16:creationId xmlns:a16="http://schemas.microsoft.com/office/drawing/2014/main" id="{2746FC51-5E10-A34A-976B-FA175A92996D}"/>
              </a:ext>
            </a:extLst>
          </p:cNvPr>
          <p:cNvGrpSpPr/>
          <p:nvPr/>
        </p:nvGrpSpPr>
        <p:grpSpPr>
          <a:xfrm>
            <a:off x="6137837" y="1816142"/>
            <a:ext cx="2763271" cy="4427621"/>
            <a:chOff x="6161587" y="1768642"/>
            <a:chExt cx="2763271" cy="4427621"/>
          </a:xfrm>
        </p:grpSpPr>
        <p:sp>
          <p:nvSpPr>
            <p:cNvPr id="18" name="Rettangolo arrotondato 17">
              <a:extLst>
                <a:ext uri="{FF2B5EF4-FFF2-40B4-BE49-F238E27FC236}">
                  <a16:creationId xmlns:a16="http://schemas.microsoft.com/office/drawing/2014/main" id="{6E49515F-96AF-6D4D-8AD2-DAC786AE511F}"/>
                </a:ext>
              </a:extLst>
            </p:cNvPr>
            <p:cNvSpPr/>
            <p:nvPr/>
          </p:nvSpPr>
          <p:spPr>
            <a:xfrm>
              <a:off x="6161587" y="1768642"/>
              <a:ext cx="2763271" cy="44276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rgbClr val="003D6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" name="Gruppo 18">
              <a:extLst>
                <a:ext uri="{FF2B5EF4-FFF2-40B4-BE49-F238E27FC236}">
                  <a16:creationId xmlns:a16="http://schemas.microsoft.com/office/drawing/2014/main" id="{D68F6754-1E9E-544D-8BFF-BFF38C754457}"/>
                </a:ext>
              </a:extLst>
            </p:cNvPr>
            <p:cNvGrpSpPr/>
            <p:nvPr/>
          </p:nvGrpSpPr>
          <p:grpSpPr>
            <a:xfrm>
              <a:off x="6248636" y="1998611"/>
              <a:ext cx="2589171" cy="4096717"/>
              <a:chOff x="6248636" y="1986736"/>
              <a:chExt cx="2589171" cy="4096717"/>
            </a:xfrm>
          </p:grpSpPr>
          <p:pic>
            <p:nvPicPr>
              <p:cNvPr id="10" name="Immagine 9">
                <a:extLst>
                  <a:ext uri="{FF2B5EF4-FFF2-40B4-BE49-F238E27FC236}">
                    <a16:creationId xmlns:a16="http://schemas.microsoft.com/office/drawing/2014/main" id="{C24D6393-21E4-414F-8FF5-374D8D798B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81081" y="1986736"/>
                <a:ext cx="2324280" cy="1749580"/>
              </a:xfrm>
              <a:prstGeom prst="rect">
                <a:avLst/>
              </a:prstGeom>
            </p:spPr>
          </p:pic>
          <p:pic>
            <p:nvPicPr>
              <p:cNvPr id="12" name="Immagine 11">
                <a:extLst>
                  <a:ext uri="{FF2B5EF4-FFF2-40B4-BE49-F238E27FC236}">
                    <a16:creationId xmlns:a16="http://schemas.microsoft.com/office/drawing/2014/main" id="{92ED849E-F43C-B446-AF70-680601F099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1081" y="4333873"/>
                <a:ext cx="2328047" cy="1749580"/>
              </a:xfrm>
              <a:prstGeom prst="rect">
                <a:avLst/>
              </a:prstGeom>
            </p:spPr>
          </p:pic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6F17C3AE-541C-4245-A271-5BF99BA8CFBB}"/>
                  </a:ext>
                </a:extLst>
              </p:cNvPr>
              <p:cNvSpPr txBox="1"/>
              <p:nvPr/>
            </p:nvSpPr>
            <p:spPr>
              <a:xfrm>
                <a:off x="6248636" y="3897898"/>
                <a:ext cx="2589171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sz="1500" b="1" dirty="0">
                    <a:solidFill>
                      <a:srgbClr val="003D6C"/>
                    </a:solidFill>
                    <a:latin typeface="Myriad Pro Semibold" panose="020B0503030403020204" pitchFamily="34" charset="0"/>
                    <a:cs typeface="Candara"/>
                  </a:rPr>
                  <a:t>SLICE CONFORMING (INSIDE)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853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14"/>
          <a:stretch/>
        </p:blipFill>
        <p:spPr>
          <a:xfrm>
            <a:off x="713450" y="2336682"/>
            <a:ext cx="7594527" cy="54000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B9F60DE7-5885-D74A-B35C-D44404882B4B}"/>
              </a:ext>
            </a:extLst>
          </p:cNvPr>
          <p:cNvSpPr/>
          <p:nvPr/>
        </p:nvSpPr>
        <p:spPr>
          <a:xfrm>
            <a:off x="259297" y="155771"/>
            <a:ext cx="2170787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Basic idea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B1F40CA-C725-D746-96B2-C21EEA996E34}"/>
              </a:ext>
            </a:extLst>
          </p:cNvPr>
          <p:cNvSpPr txBox="1"/>
          <p:nvPr/>
        </p:nvSpPr>
        <p:spPr>
          <a:xfrm>
            <a:off x="259297" y="1058848"/>
            <a:ext cx="8691468" cy="1508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Extrude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each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along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build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direction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Merge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adjacent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conforming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way</a:t>
            </a: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Tetmesh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resulting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PLC to produce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tetrahedral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mesh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41014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53" r="33651" b="16833"/>
          <a:stretch/>
        </p:blipFill>
        <p:spPr>
          <a:xfrm>
            <a:off x="868680" y="2342674"/>
            <a:ext cx="6965331" cy="44910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EA13C7DD-A831-ED47-BD51-F7809F8614DE}"/>
              </a:ext>
            </a:extLst>
          </p:cNvPr>
          <p:cNvSpPr/>
          <p:nvPr/>
        </p:nvSpPr>
        <p:spPr>
          <a:xfrm>
            <a:off x="259297" y="155771"/>
            <a:ext cx="2170787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Basic idea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4B95D6EF-0B7A-0646-BAD0-048F5A001399}"/>
              </a:ext>
            </a:extLst>
          </p:cNvPr>
          <p:cNvGrpSpPr/>
          <p:nvPr/>
        </p:nvGrpSpPr>
        <p:grpSpPr>
          <a:xfrm>
            <a:off x="2691055" y="3287084"/>
            <a:ext cx="6408862" cy="1924996"/>
            <a:chOff x="2691055" y="3287084"/>
            <a:chExt cx="6408862" cy="1924996"/>
          </a:xfrm>
        </p:grpSpPr>
        <p:grpSp>
          <p:nvGrpSpPr>
            <p:cNvPr id="2" name="Gruppo 1">
              <a:extLst>
                <a:ext uri="{FF2B5EF4-FFF2-40B4-BE49-F238E27FC236}">
                  <a16:creationId xmlns:a16="http://schemas.microsoft.com/office/drawing/2014/main" id="{8A8415DC-9115-294A-8D95-778F5A5BDBE4}"/>
                </a:ext>
              </a:extLst>
            </p:cNvPr>
            <p:cNvGrpSpPr/>
            <p:nvPr/>
          </p:nvGrpSpPr>
          <p:grpSpPr>
            <a:xfrm>
              <a:off x="2691055" y="3287084"/>
              <a:ext cx="6408862" cy="1924996"/>
              <a:chOff x="2691055" y="2829884"/>
              <a:chExt cx="6408862" cy="1924996"/>
            </a:xfrm>
          </p:grpSpPr>
          <p:grpSp>
            <p:nvGrpSpPr>
              <p:cNvPr id="10" name="Gruppo 9"/>
              <p:cNvGrpSpPr/>
              <p:nvPr/>
            </p:nvGrpSpPr>
            <p:grpSpPr>
              <a:xfrm>
                <a:off x="2691055" y="3600152"/>
                <a:ext cx="3205279" cy="1154728"/>
                <a:chOff x="2691055" y="2685752"/>
                <a:chExt cx="3205279" cy="1154728"/>
              </a:xfrm>
            </p:grpSpPr>
            <p:sp>
              <p:nvSpPr>
                <p:cNvPr id="8" name="Anello 7"/>
                <p:cNvSpPr/>
                <p:nvPr/>
              </p:nvSpPr>
              <p:spPr>
                <a:xfrm rot="20491545">
                  <a:off x="2691055" y="3161211"/>
                  <a:ext cx="796835" cy="679269"/>
                </a:xfrm>
                <a:prstGeom prst="donut">
                  <a:avLst>
                    <a:gd name="adj" fmla="val 10038"/>
                  </a:avLst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Anello 10"/>
                <p:cNvSpPr/>
                <p:nvPr/>
              </p:nvSpPr>
              <p:spPr>
                <a:xfrm rot="20491545">
                  <a:off x="4182434" y="3082078"/>
                  <a:ext cx="1048933" cy="679269"/>
                </a:xfrm>
                <a:prstGeom prst="donut">
                  <a:avLst>
                    <a:gd name="adj" fmla="val 10038"/>
                  </a:avLst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Anello 11"/>
                <p:cNvSpPr/>
                <p:nvPr/>
              </p:nvSpPr>
              <p:spPr>
                <a:xfrm rot="20491545">
                  <a:off x="5341710" y="2685752"/>
                  <a:ext cx="554624" cy="512560"/>
                </a:xfrm>
                <a:prstGeom prst="donut">
                  <a:avLst>
                    <a:gd name="adj" fmla="val 11525"/>
                  </a:avLst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43A70258-4C13-284B-9F39-A380B84AE84E}"/>
                  </a:ext>
                </a:extLst>
              </p:cNvPr>
              <p:cNvSpPr txBox="1"/>
              <p:nvPr/>
            </p:nvSpPr>
            <p:spPr>
              <a:xfrm>
                <a:off x="6884246" y="2829884"/>
                <a:ext cx="2215671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it-IT" sz="2500" b="1" dirty="0">
                    <a:solidFill>
                      <a:srgbClr val="C00000"/>
                    </a:solidFill>
                    <a:latin typeface="Myriad Pro" panose="020B0503030403020204" pitchFamily="34" charset="0"/>
                    <a:cs typeface="Candara"/>
                  </a:rPr>
                  <a:t>NON</a:t>
                </a:r>
              </a:p>
              <a:p>
                <a:pPr algn="ctr"/>
                <a:r>
                  <a:rPr lang="it-IT" sz="2500" b="1" dirty="0">
                    <a:solidFill>
                      <a:srgbClr val="C00000"/>
                    </a:solidFill>
                    <a:latin typeface="Myriad Pro" panose="020B0503030403020204" pitchFamily="34" charset="0"/>
                    <a:cs typeface="Candara"/>
                  </a:rPr>
                  <a:t>CONFORMING</a:t>
                </a:r>
              </a:p>
            </p:txBody>
          </p:sp>
        </p:grpSp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908649B0-F1BF-AA43-95E1-FF031DFA06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8360" y="3982684"/>
              <a:ext cx="741804" cy="190247"/>
            </a:xfrm>
            <a:prstGeom prst="straightConnector1">
              <a:avLst/>
            </a:prstGeom>
            <a:ln w="101600">
              <a:solidFill>
                <a:srgbClr val="C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345F2FB-E7AF-F74B-B7EE-47CB217C87A9}"/>
              </a:ext>
            </a:extLst>
          </p:cNvPr>
          <p:cNvSpPr txBox="1"/>
          <p:nvPr/>
        </p:nvSpPr>
        <p:spPr>
          <a:xfrm>
            <a:off x="259297" y="1058848"/>
            <a:ext cx="8691468" cy="1508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Extrude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each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along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build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direction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Merge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adjacent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conforming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way</a:t>
            </a: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Tetmesh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resulting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PLC to produce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tetrahedral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mesh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59349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o 24">
            <a:extLst>
              <a:ext uri="{FF2B5EF4-FFF2-40B4-BE49-F238E27FC236}">
                <a16:creationId xmlns:a16="http://schemas.microsoft.com/office/drawing/2014/main" id="{7BED9029-10A9-B343-B1D7-780169F5D7D4}"/>
              </a:ext>
            </a:extLst>
          </p:cNvPr>
          <p:cNvGrpSpPr/>
          <p:nvPr/>
        </p:nvGrpSpPr>
        <p:grpSpPr>
          <a:xfrm>
            <a:off x="845820" y="2342674"/>
            <a:ext cx="6988191" cy="5400000"/>
            <a:chOff x="845820" y="1885474"/>
            <a:chExt cx="6988191" cy="5400000"/>
          </a:xfrm>
        </p:grpSpPr>
        <p:pic>
          <p:nvPicPr>
            <p:cNvPr id="7" name="Immagine 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898" r="1"/>
            <a:stretch/>
          </p:blipFill>
          <p:spPr>
            <a:xfrm>
              <a:off x="845820" y="1885474"/>
              <a:ext cx="6988191" cy="5400000"/>
            </a:xfrm>
            <a:prstGeom prst="rect">
              <a:avLst/>
            </a:prstGeom>
          </p:spPr>
        </p:pic>
        <p:cxnSp>
          <p:nvCxnSpPr>
            <p:cNvPr id="21" name="Connettore 1 20">
              <a:extLst>
                <a:ext uri="{FF2B5EF4-FFF2-40B4-BE49-F238E27FC236}">
                  <a16:creationId xmlns:a16="http://schemas.microsoft.com/office/drawing/2014/main" id="{19487EE7-DEE8-524C-B50C-C174C00CEB20}"/>
                </a:ext>
              </a:extLst>
            </p:cNvPr>
            <p:cNvCxnSpPr>
              <a:cxnSpLocks/>
            </p:cNvCxnSpPr>
            <p:nvPr/>
          </p:nvCxnSpPr>
          <p:spPr>
            <a:xfrm>
              <a:off x="2983043" y="2173574"/>
              <a:ext cx="1663908" cy="1064301"/>
            </a:xfrm>
            <a:prstGeom prst="line">
              <a:avLst/>
            </a:prstGeom>
            <a:ln w="1270" cap="rnd" cmpd="sng">
              <a:solidFill>
                <a:schemeClr val="tx1">
                  <a:alpha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ttangolo 12">
            <a:extLst>
              <a:ext uri="{FF2B5EF4-FFF2-40B4-BE49-F238E27FC236}">
                <a16:creationId xmlns:a16="http://schemas.microsoft.com/office/drawing/2014/main" id="{5BD7505B-15DB-7F47-9E8B-D12EAEB52273}"/>
              </a:ext>
            </a:extLst>
          </p:cNvPr>
          <p:cNvSpPr/>
          <p:nvPr/>
        </p:nvSpPr>
        <p:spPr>
          <a:xfrm>
            <a:off x="259297" y="155771"/>
            <a:ext cx="2170787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Basic idea</a:t>
            </a: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B83F6050-69B4-7C43-A926-5ADA41AAFEFA}"/>
              </a:ext>
            </a:extLst>
          </p:cNvPr>
          <p:cNvGrpSpPr/>
          <p:nvPr/>
        </p:nvGrpSpPr>
        <p:grpSpPr>
          <a:xfrm>
            <a:off x="2691055" y="3287084"/>
            <a:ext cx="6408862" cy="1924996"/>
            <a:chOff x="2691055" y="2829884"/>
            <a:chExt cx="6408862" cy="1924996"/>
          </a:xfrm>
        </p:grpSpPr>
        <p:grpSp>
          <p:nvGrpSpPr>
            <p:cNvPr id="8" name="Gruppo 7"/>
            <p:cNvGrpSpPr/>
            <p:nvPr/>
          </p:nvGrpSpPr>
          <p:grpSpPr>
            <a:xfrm>
              <a:off x="2691055" y="3600152"/>
              <a:ext cx="3205279" cy="1154728"/>
              <a:chOff x="2691055" y="2685752"/>
              <a:chExt cx="3205279" cy="1154728"/>
            </a:xfrm>
          </p:grpSpPr>
          <p:sp>
            <p:nvSpPr>
              <p:cNvPr id="9" name="Anello 8"/>
              <p:cNvSpPr/>
              <p:nvPr/>
            </p:nvSpPr>
            <p:spPr>
              <a:xfrm rot="20491545">
                <a:off x="2691055" y="3161211"/>
                <a:ext cx="796835" cy="679269"/>
              </a:xfrm>
              <a:prstGeom prst="donut">
                <a:avLst>
                  <a:gd name="adj" fmla="val 10038"/>
                </a:avLst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Anello 9"/>
              <p:cNvSpPr/>
              <p:nvPr/>
            </p:nvSpPr>
            <p:spPr>
              <a:xfrm rot="20491545">
                <a:off x="4182434" y="3082078"/>
                <a:ext cx="1048933" cy="679269"/>
              </a:xfrm>
              <a:prstGeom prst="donut">
                <a:avLst>
                  <a:gd name="adj" fmla="val 10038"/>
                </a:avLst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Anello 10"/>
              <p:cNvSpPr/>
              <p:nvPr/>
            </p:nvSpPr>
            <p:spPr>
              <a:xfrm rot="20491545">
                <a:off x="5341710" y="2685752"/>
                <a:ext cx="554624" cy="512560"/>
              </a:xfrm>
              <a:prstGeom prst="donut">
                <a:avLst>
                  <a:gd name="adj" fmla="val 11525"/>
                </a:avLst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9CAE68A0-2D02-4140-9441-3EF16AA7FFF9}"/>
                </a:ext>
              </a:extLst>
            </p:cNvPr>
            <p:cNvSpPr txBox="1"/>
            <p:nvPr/>
          </p:nvSpPr>
          <p:spPr>
            <a:xfrm>
              <a:off x="6884246" y="2829884"/>
              <a:ext cx="2215671" cy="861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endParaRPr lang="it-IT" sz="2500" b="1" dirty="0">
                <a:solidFill>
                  <a:srgbClr val="00B050"/>
                </a:solidFill>
                <a:latin typeface="Myriad Pro" panose="020B0503030403020204" pitchFamily="34" charset="0"/>
                <a:cs typeface="Candara"/>
              </a:endParaRPr>
            </a:p>
            <a:p>
              <a:pPr algn="ctr"/>
              <a:r>
                <a:rPr lang="it-IT" sz="2500" b="1" dirty="0">
                  <a:solidFill>
                    <a:srgbClr val="00B050"/>
                  </a:solidFill>
                  <a:latin typeface="Myriad Pro" panose="020B0503030403020204" pitchFamily="34" charset="0"/>
                  <a:cs typeface="Candara"/>
                </a:rPr>
                <a:t>CONFORMING</a:t>
              </a:r>
            </a:p>
          </p:txBody>
        </p:sp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D4250D92-AEF0-ED46-91E7-7E7CAFE08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8360" y="3525484"/>
              <a:ext cx="741804" cy="190247"/>
            </a:xfrm>
            <a:prstGeom prst="straightConnector1">
              <a:avLst/>
            </a:prstGeom>
            <a:ln w="101600">
              <a:solidFill>
                <a:srgbClr val="00B05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49EF371-8549-CE4E-8228-96F82434042D}"/>
              </a:ext>
            </a:extLst>
          </p:cNvPr>
          <p:cNvSpPr txBox="1"/>
          <p:nvPr/>
        </p:nvSpPr>
        <p:spPr>
          <a:xfrm>
            <a:off x="259297" y="1058848"/>
            <a:ext cx="8691468" cy="1508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Extrude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each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along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build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direction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Merge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adjacent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conforming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way</a:t>
            </a: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Tetmesh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resulting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PLC to produce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tetrahedral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mesh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70723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7" y="155771"/>
            <a:ext cx="2170787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Basic idea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2F6491C-4615-BE4E-8E19-87A1FC723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678" y="3502599"/>
            <a:ext cx="3302875" cy="3216110"/>
          </a:xfrm>
          <a:prstGeom prst="rect">
            <a:avLst/>
          </a:prstGeom>
        </p:spPr>
      </p:pic>
      <p:grpSp>
        <p:nvGrpSpPr>
          <p:cNvPr id="16" name="Gruppo 15">
            <a:extLst>
              <a:ext uri="{FF2B5EF4-FFF2-40B4-BE49-F238E27FC236}">
                <a16:creationId xmlns:a16="http://schemas.microsoft.com/office/drawing/2014/main" id="{D80F4C7D-4267-134C-B04B-40F625947BE9}"/>
              </a:ext>
            </a:extLst>
          </p:cNvPr>
          <p:cNvGrpSpPr/>
          <p:nvPr/>
        </p:nvGrpSpPr>
        <p:grpSpPr>
          <a:xfrm>
            <a:off x="1180540" y="3468161"/>
            <a:ext cx="1824773" cy="1462979"/>
            <a:chOff x="179500" y="2435704"/>
            <a:chExt cx="2216708" cy="1777205"/>
          </a:xfrm>
        </p:grpSpPr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7BED17A1-7B45-334A-927D-E75E5908C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3394" y="3089447"/>
              <a:ext cx="1156344" cy="1123462"/>
            </a:xfrm>
            <a:prstGeom prst="rect">
              <a:avLst/>
            </a:prstGeom>
          </p:spPr>
        </p:pic>
        <p:cxnSp>
          <p:nvCxnSpPr>
            <p:cNvPr id="15" name="Connettore 2 14">
              <a:extLst>
                <a:ext uri="{FF2B5EF4-FFF2-40B4-BE49-F238E27FC236}">
                  <a16:creationId xmlns:a16="http://schemas.microsoft.com/office/drawing/2014/main" id="{D18E50D4-AE35-3746-BFD2-688274252C2F}"/>
                </a:ext>
              </a:extLst>
            </p:cNvPr>
            <p:cNvCxnSpPr>
              <a:cxnSpLocks/>
            </p:cNvCxnSpPr>
            <p:nvPr/>
          </p:nvCxnSpPr>
          <p:spPr>
            <a:xfrm rot="900000">
              <a:off x="1564825" y="3740103"/>
              <a:ext cx="831383" cy="0"/>
            </a:xfrm>
            <a:prstGeom prst="straightConnector1">
              <a:avLst/>
            </a:prstGeom>
            <a:ln w="101600">
              <a:solidFill>
                <a:srgbClr val="C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410F1CA0-55A6-D24B-9574-576B38D0342A}"/>
                </a:ext>
              </a:extLst>
            </p:cNvPr>
            <p:cNvSpPr txBox="1"/>
            <p:nvPr/>
          </p:nvSpPr>
          <p:spPr>
            <a:xfrm>
              <a:off x="179500" y="2435704"/>
              <a:ext cx="1410238" cy="672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500" b="1" dirty="0">
                  <a:latin typeface="Myriad Pro Semibold" panose="020B0503030403020204" pitchFamily="34" charset="0"/>
                  <a:cs typeface="Candara"/>
                </a:rPr>
                <a:t>OUTER</a:t>
              </a:r>
            </a:p>
            <a:p>
              <a:pPr algn="ctr"/>
              <a:r>
                <a:rPr lang="it-IT" sz="1500" b="1" dirty="0">
                  <a:latin typeface="Myriad Pro Semibold" panose="020B0503030403020204" pitchFamily="34" charset="0"/>
                  <a:cs typeface="Candara"/>
                </a:rPr>
                <a:t>BOUNDARY</a:t>
              </a:r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4C2775EB-92D3-D042-A9F7-62F8D459500A}"/>
              </a:ext>
            </a:extLst>
          </p:cNvPr>
          <p:cNvGrpSpPr/>
          <p:nvPr/>
        </p:nvGrpSpPr>
        <p:grpSpPr>
          <a:xfrm>
            <a:off x="6087763" y="4521948"/>
            <a:ext cx="2212737" cy="1220326"/>
            <a:chOff x="6167228" y="3924737"/>
            <a:chExt cx="2688001" cy="1482434"/>
          </a:xfrm>
        </p:grpSpPr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F1B01E32-AAA4-9941-A6D4-EF3CE9B0C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28934" y="4060439"/>
              <a:ext cx="1726295" cy="926171"/>
            </a:xfrm>
            <a:prstGeom prst="rect">
              <a:avLst/>
            </a:prstGeom>
          </p:spPr>
        </p:pic>
        <p:cxnSp>
          <p:nvCxnSpPr>
            <p:cNvPr id="17" name="Connettore 2 16">
              <a:extLst>
                <a:ext uri="{FF2B5EF4-FFF2-40B4-BE49-F238E27FC236}">
                  <a16:creationId xmlns:a16="http://schemas.microsoft.com/office/drawing/2014/main" id="{37F92C5E-C51A-CE4F-8B42-34353C049997}"/>
                </a:ext>
              </a:extLst>
            </p:cNvPr>
            <p:cNvCxnSpPr>
              <a:cxnSpLocks/>
            </p:cNvCxnSpPr>
            <p:nvPr/>
          </p:nvCxnSpPr>
          <p:spPr>
            <a:xfrm rot="12600000">
              <a:off x="6284925" y="3924737"/>
              <a:ext cx="831384" cy="0"/>
            </a:xfrm>
            <a:prstGeom prst="straightConnector1">
              <a:avLst/>
            </a:prstGeom>
            <a:ln w="101600">
              <a:solidFill>
                <a:srgbClr val="C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A6760420-43C8-D84B-A80A-062C0C7C677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227780" y="4380102"/>
              <a:ext cx="831384" cy="0"/>
            </a:xfrm>
            <a:prstGeom prst="straightConnector1">
              <a:avLst/>
            </a:prstGeom>
            <a:ln w="101600">
              <a:solidFill>
                <a:srgbClr val="C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2 18">
              <a:extLst>
                <a:ext uri="{FF2B5EF4-FFF2-40B4-BE49-F238E27FC236}">
                  <a16:creationId xmlns:a16="http://schemas.microsoft.com/office/drawing/2014/main" id="{2595DC77-D392-FE40-A087-1B733EB5DA28}"/>
                </a:ext>
              </a:extLst>
            </p:cNvPr>
            <p:cNvCxnSpPr>
              <a:cxnSpLocks/>
            </p:cNvCxnSpPr>
            <p:nvPr/>
          </p:nvCxnSpPr>
          <p:spPr>
            <a:xfrm rot="9900000">
              <a:off x="6167228" y="4822391"/>
              <a:ext cx="831384" cy="0"/>
            </a:xfrm>
            <a:prstGeom prst="straightConnector1">
              <a:avLst/>
            </a:prstGeom>
            <a:ln w="101600">
              <a:solidFill>
                <a:srgbClr val="C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asellaDiTesto 23">
              <a:extLst>
                <a:ext uri="{FF2B5EF4-FFF2-40B4-BE49-F238E27FC236}">
                  <a16:creationId xmlns:a16="http://schemas.microsoft.com/office/drawing/2014/main" id="{A804C25A-DF0A-8A41-B71B-471781C6E89F}"/>
                </a:ext>
              </a:extLst>
            </p:cNvPr>
            <p:cNvSpPr txBox="1"/>
            <p:nvPr/>
          </p:nvSpPr>
          <p:spPr>
            <a:xfrm>
              <a:off x="7158471" y="5014595"/>
              <a:ext cx="1581601" cy="392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500" b="1" dirty="0">
                  <a:latin typeface="Myriad Pro Semibold" panose="020B0503030403020204" pitchFamily="34" charset="0"/>
                  <a:cs typeface="Candara"/>
                </a:rPr>
                <a:t>INNER SLICES</a:t>
              </a:r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60EF6010-6F57-1C40-BBB0-1DBE5CAFA4EA}"/>
              </a:ext>
            </a:extLst>
          </p:cNvPr>
          <p:cNvGrpSpPr/>
          <p:nvPr/>
        </p:nvGrpSpPr>
        <p:grpSpPr>
          <a:xfrm>
            <a:off x="959619" y="5295827"/>
            <a:ext cx="2141641" cy="1150390"/>
            <a:chOff x="-134088" y="4531594"/>
            <a:chExt cx="2601634" cy="1397477"/>
          </a:xfrm>
        </p:grpSpPr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21727B42-B984-6D49-A006-8CC41E1DE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0853" y="4531594"/>
              <a:ext cx="1304312" cy="1397477"/>
            </a:xfrm>
            <a:prstGeom prst="rect">
              <a:avLst/>
            </a:prstGeom>
          </p:spPr>
        </p:pic>
        <p:cxnSp>
          <p:nvCxnSpPr>
            <p:cNvPr id="22" name="Connettore 2 21">
              <a:extLst>
                <a:ext uri="{FF2B5EF4-FFF2-40B4-BE49-F238E27FC236}">
                  <a16:creationId xmlns:a16="http://schemas.microsoft.com/office/drawing/2014/main" id="{91E72E99-95D1-F24B-93C1-81D69AD880A4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1636163" y="4863758"/>
              <a:ext cx="831383" cy="0"/>
            </a:xfrm>
            <a:prstGeom prst="straightConnector1">
              <a:avLst/>
            </a:prstGeom>
            <a:ln w="101600">
              <a:solidFill>
                <a:srgbClr val="C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9DBE8412-70E8-FF48-B184-34482ABC3EE6}"/>
                </a:ext>
              </a:extLst>
            </p:cNvPr>
            <p:cNvSpPr txBox="1"/>
            <p:nvPr/>
          </p:nvSpPr>
          <p:spPr>
            <a:xfrm>
              <a:off x="-134088" y="4537895"/>
              <a:ext cx="1342083" cy="9534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500" b="1" dirty="0">
                  <a:latin typeface="Myriad Pro Semibold" panose="020B0503030403020204" pitchFamily="34" charset="0"/>
                  <a:cs typeface="Candara"/>
                </a:rPr>
                <a:t>NON </a:t>
              </a:r>
            </a:p>
            <a:p>
              <a:pPr algn="ctr"/>
              <a:r>
                <a:rPr lang="it-IT" sz="1500" b="1" dirty="0">
                  <a:latin typeface="Myriad Pro Semibold" panose="020B0503030403020204" pitchFamily="34" charset="0"/>
                  <a:cs typeface="Candara"/>
                </a:rPr>
                <a:t>MANIFOLD</a:t>
              </a:r>
            </a:p>
            <a:p>
              <a:pPr algn="ctr"/>
              <a:r>
                <a:rPr lang="it-IT" sz="1500" b="1" dirty="0">
                  <a:latin typeface="Myriad Pro Semibold" panose="020B0503030403020204" pitchFamily="34" charset="0"/>
                  <a:cs typeface="Candara"/>
                </a:rPr>
                <a:t>EDGES</a:t>
              </a:r>
            </a:p>
          </p:txBody>
        </p:sp>
      </p:grp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ED33E58-88E2-AD4F-A657-825191E07B5B}"/>
              </a:ext>
            </a:extLst>
          </p:cNvPr>
          <p:cNvSpPr txBox="1"/>
          <p:nvPr/>
        </p:nvSpPr>
        <p:spPr>
          <a:xfrm>
            <a:off x="259297" y="1058848"/>
            <a:ext cx="8691468" cy="2231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Extrude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each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along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build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direction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Merge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adjacent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conforming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way</a:t>
            </a: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Tetmesh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resulting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PLC to produce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tetrahedral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mesh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914400" lvl="1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Use standard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tools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(i.e.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Tetgen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)</a:t>
            </a:r>
          </a:p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Tetrahedra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do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not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span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multiple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slices</a:t>
            </a:r>
            <a:endParaRPr lang="it-IT" sz="2000" i="1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Filtering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reproduces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temporal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evolution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of the domain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14111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/>
          <p:cNvGrpSpPr/>
          <p:nvPr/>
        </p:nvGrpSpPr>
        <p:grpSpPr>
          <a:xfrm>
            <a:off x="6410880" y="2445676"/>
            <a:ext cx="1196156" cy="895078"/>
            <a:chOff x="6410880" y="2445676"/>
            <a:chExt cx="1196156" cy="895078"/>
          </a:xfrm>
        </p:grpSpPr>
        <p:cxnSp>
          <p:nvCxnSpPr>
            <p:cNvPr id="64" name="Connettore 1 63"/>
            <p:cNvCxnSpPr>
              <a:endCxn id="57" idx="5"/>
            </p:cNvCxnSpPr>
            <p:nvPr/>
          </p:nvCxnSpPr>
          <p:spPr>
            <a:xfrm flipH="1" flipV="1">
              <a:off x="6410880" y="2445676"/>
              <a:ext cx="1196156" cy="895078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66"/>
            <p:cNvCxnSpPr>
              <a:endCxn id="57" idx="5"/>
            </p:cNvCxnSpPr>
            <p:nvPr/>
          </p:nvCxnSpPr>
          <p:spPr>
            <a:xfrm flipH="1" flipV="1">
              <a:off x="6410880" y="2445676"/>
              <a:ext cx="510131" cy="895078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asellaDiTesto 12"/>
          <p:cNvSpPr txBox="1"/>
          <p:nvPr/>
        </p:nvSpPr>
        <p:spPr>
          <a:xfrm>
            <a:off x="78481" y="2679221"/>
            <a:ext cx="5306907" cy="31598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SzPct val="60000"/>
              <a:buFont typeface="Lucida Grande"/>
              <a:buChar char="▶"/>
            </a:pPr>
            <a:r>
              <a:rPr lang="it-IT" sz="2300" b="1" i="1" dirty="0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For </a:t>
            </a:r>
            <a:r>
              <a:rPr lang="it-IT" sz="2300" b="1" i="1" dirty="0" err="1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each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edge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e of 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each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s</a:t>
            </a:r>
            <a:r>
              <a:rPr lang="it-IT" sz="2300" i="1" baseline="-250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</a:t>
            </a:r>
            <a:br>
              <a:rPr lang="it-IT" sz="2300" i="1" baseline="-250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</a:br>
            <a:endParaRPr lang="it-IT" sz="2300" i="1" baseline="-250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Create a copy 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e’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and </a:t>
            </a:r>
            <a:r>
              <a:rPr lang="it-IT" sz="2300" b="1" i="1" dirty="0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lift </a:t>
            </a:r>
            <a:r>
              <a:rPr lang="it-IT" sz="2300" b="1" i="1" dirty="0" err="1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it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to s</a:t>
            </a:r>
            <a:r>
              <a:rPr lang="it-IT" sz="2300" i="1" baseline="-250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i+1</a:t>
            </a:r>
            <a:br>
              <a:rPr lang="it-IT" sz="2300" i="1" baseline="-250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</a:br>
            <a:endParaRPr lang="it-IT" sz="2300" i="1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b="1" i="1" dirty="0" err="1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Intersect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e’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with 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all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edges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s</a:t>
            </a:r>
            <a:r>
              <a:rPr lang="it-IT" sz="2300" i="1" baseline="-250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i+1</a:t>
            </a:r>
            <a:br>
              <a:rPr lang="it-IT" sz="2300" i="1" baseline="-250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</a:br>
            <a:endParaRPr lang="it-IT" sz="2300" i="1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300" b="1" i="1" dirty="0" err="1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Triangulate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the 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resulting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“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quads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”</a:t>
            </a:r>
          </a:p>
          <a:p>
            <a:pPr marL="914400" lvl="1" indent="-457200">
              <a:buSzPct val="60000"/>
              <a:buFont typeface="Lucida Grande"/>
              <a:buChar char="▶"/>
            </a:pPr>
            <a:endParaRPr lang="it-IT" sz="2300" i="1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457200" indent="-457200">
              <a:buSzPct val="60000"/>
              <a:buFont typeface="Lucida Grande"/>
              <a:buChar char="▶"/>
            </a:pP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Run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b="1" i="1" dirty="0" err="1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Tetgen</a:t>
            </a:r>
            <a:r>
              <a:rPr lang="it-IT" sz="2300" b="1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on the 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resulting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PLC</a:t>
            </a:r>
          </a:p>
        </p:txBody>
      </p:sp>
      <p:grpSp>
        <p:nvGrpSpPr>
          <p:cNvPr id="124" name="Gruppo 123"/>
          <p:cNvGrpSpPr/>
          <p:nvPr/>
        </p:nvGrpSpPr>
        <p:grpSpPr>
          <a:xfrm>
            <a:off x="5625597" y="2445676"/>
            <a:ext cx="2538981" cy="3554732"/>
            <a:chOff x="6006177" y="1430617"/>
            <a:chExt cx="2319582" cy="3247560"/>
          </a:xfrm>
        </p:grpSpPr>
        <p:cxnSp>
          <p:nvCxnSpPr>
            <p:cNvPr id="90" name="Connettore 1 89"/>
            <p:cNvCxnSpPr>
              <a:endCxn id="51" idx="5"/>
            </p:cNvCxnSpPr>
            <p:nvPr/>
          </p:nvCxnSpPr>
          <p:spPr>
            <a:xfrm flipH="1" flipV="1">
              <a:off x="6006177" y="2515583"/>
              <a:ext cx="644303" cy="998118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/>
            <p:cNvCxnSpPr/>
            <p:nvPr/>
          </p:nvCxnSpPr>
          <p:spPr>
            <a:xfrm flipV="1">
              <a:off x="6650481" y="2450948"/>
              <a:ext cx="6547" cy="105593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/>
            <p:cNvCxnSpPr>
              <a:cxnSpLocks/>
              <a:stCxn id="19" idx="1"/>
            </p:cNvCxnSpPr>
            <p:nvPr/>
          </p:nvCxnSpPr>
          <p:spPr>
            <a:xfrm flipH="1" flipV="1">
              <a:off x="6656695" y="2460522"/>
              <a:ext cx="456420" cy="98538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/>
            <p:cNvCxnSpPr>
              <a:cxnSpLocks/>
              <a:stCxn id="22" idx="7"/>
            </p:cNvCxnSpPr>
            <p:nvPr/>
          </p:nvCxnSpPr>
          <p:spPr>
            <a:xfrm flipV="1">
              <a:off x="7897787" y="2460522"/>
              <a:ext cx="168986" cy="98538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/>
            <p:cNvCxnSpPr>
              <a:cxnSpLocks/>
              <a:stCxn id="23" idx="1"/>
            </p:cNvCxnSpPr>
            <p:nvPr/>
          </p:nvCxnSpPr>
          <p:spPr>
            <a:xfrm flipH="1" flipV="1">
              <a:off x="8061658" y="2467130"/>
              <a:ext cx="264101" cy="978779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3"/>
            <p:cNvCxnSpPr>
              <a:endCxn id="58" idx="3"/>
            </p:cNvCxnSpPr>
            <p:nvPr/>
          </p:nvCxnSpPr>
          <p:spPr>
            <a:xfrm flipV="1">
              <a:off x="7826607" y="1430617"/>
              <a:ext cx="171411" cy="804304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16"/>
            <p:cNvCxnSpPr>
              <a:cxnSpLocks/>
              <a:stCxn id="16" idx="1"/>
            </p:cNvCxnSpPr>
            <p:nvPr/>
          </p:nvCxnSpPr>
          <p:spPr>
            <a:xfrm flipH="1" flipV="1">
              <a:off x="7182672" y="3797466"/>
              <a:ext cx="595544" cy="880711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19"/>
            <p:cNvCxnSpPr>
              <a:cxnSpLocks/>
              <a:stCxn id="14" idx="7"/>
            </p:cNvCxnSpPr>
            <p:nvPr/>
          </p:nvCxnSpPr>
          <p:spPr>
            <a:xfrm flipV="1">
              <a:off x="6725627" y="3797465"/>
              <a:ext cx="451128" cy="87814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uppo 128"/>
          <p:cNvGrpSpPr/>
          <p:nvPr/>
        </p:nvGrpSpPr>
        <p:grpSpPr>
          <a:xfrm>
            <a:off x="5457425" y="2980745"/>
            <a:ext cx="3607552" cy="3360998"/>
            <a:chOff x="5852537" y="1919450"/>
            <a:chExt cx="3295816" cy="3070567"/>
          </a:xfrm>
        </p:grpSpPr>
        <p:cxnSp>
          <p:nvCxnSpPr>
            <p:cNvPr id="3" name="Connettore 1 2"/>
            <p:cNvCxnSpPr/>
            <p:nvPr/>
          </p:nvCxnSpPr>
          <p:spPr>
            <a:xfrm>
              <a:off x="6661987" y="4741818"/>
              <a:ext cx="1119908" cy="0"/>
            </a:xfrm>
            <a:prstGeom prst="line">
              <a:avLst/>
            </a:prstGeom>
            <a:ln w="63500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e 13"/>
            <p:cNvSpPr>
              <a:spLocks noChangeAspect="1"/>
            </p:cNvSpPr>
            <p:nvPr/>
          </p:nvSpPr>
          <p:spPr>
            <a:xfrm>
              <a:off x="6571987" y="4649250"/>
              <a:ext cx="180000" cy="180000"/>
            </a:xfrm>
            <a:prstGeom prst="ellipse">
              <a:avLst/>
            </a:prstGeom>
            <a:solidFill>
              <a:srgbClr val="003D6C"/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16" name="Ovale 15"/>
            <p:cNvSpPr>
              <a:spLocks noChangeAspect="1"/>
            </p:cNvSpPr>
            <p:nvPr/>
          </p:nvSpPr>
          <p:spPr>
            <a:xfrm>
              <a:off x="7751856" y="4651817"/>
              <a:ext cx="180000" cy="180000"/>
            </a:xfrm>
            <a:prstGeom prst="ellipse">
              <a:avLst/>
            </a:prstGeom>
            <a:solidFill>
              <a:srgbClr val="003D6C"/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cxnSp>
          <p:nvCxnSpPr>
            <p:cNvPr id="17" name="Connettore 1 16"/>
            <p:cNvCxnSpPr/>
            <p:nvPr/>
          </p:nvCxnSpPr>
          <p:spPr>
            <a:xfrm>
              <a:off x="6007702" y="3509553"/>
              <a:ext cx="1128570" cy="0"/>
            </a:xfrm>
            <a:prstGeom prst="line">
              <a:avLst/>
            </a:prstGeom>
            <a:ln w="63500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e 17"/>
            <p:cNvSpPr>
              <a:spLocks noChangeAspect="1"/>
            </p:cNvSpPr>
            <p:nvPr/>
          </p:nvSpPr>
          <p:spPr>
            <a:xfrm>
              <a:off x="5852537" y="3419549"/>
              <a:ext cx="180000" cy="180000"/>
            </a:xfrm>
            <a:prstGeom prst="ellipse">
              <a:avLst/>
            </a:prstGeom>
            <a:solidFill>
              <a:srgbClr val="003D6C"/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19" name="Ovale 18"/>
            <p:cNvSpPr>
              <a:spLocks noChangeAspect="1"/>
            </p:cNvSpPr>
            <p:nvPr/>
          </p:nvSpPr>
          <p:spPr>
            <a:xfrm>
              <a:off x="7086755" y="3419549"/>
              <a:ext cx="180000" cy="180000"/>
            </a:xfrm>
            <a:prstGeom prst="ellipse">
              <a:avLst/>
            </a:prstGeom>
            <a:solidFill>
              <a:srgbClr val="003D6C"/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cxnSp>
          <p:nvCxnSpPr>
            <p:cNvPr id="21" name="Connettore 1 20"/>
            <p:cNvCxnSpPr/>
            <p:nvPr/>
          </p:nvCxnSpPr>
          <p:spPr>
            <a:xfrm>
              <a:off x="7784630" y="3509555"/>
              <a:ext cx="564286" cy="0"/>
            </a:xfrm>
            <a:prstGeom prst="line">
              <a:avLst/>
            </a:prstGeom>
            <a:ln w="63500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e 21"/>
            <p:cNvSpPr>
              <a:spLocks noChangeAspect="1"/>
            </p:cNvSpPr>
            <p:nvPr/>
          </p:nvSpPr>
          <p:spPr>
            <a:xfrm>
              <a:off x="7744147" y="3419549"/>
              <a:ext cx="180000" cy="180000"/>
            </a:xfrm>
            <a:prstGeom prst="ellipse">
              <a:avLst/>
            </a:prstGeom>
            <a:solidFill>
              <a:srgbClr val="003D6C"/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23" name="Ovale 22"/>
            <p:cNvSpPr>
              <a:spLocks noChangeAspect="1"/>
            </p:cNvSpPr>
            <p:nvPr/>
          </p:nvSpPr>
          <p:spPr>
            <a:xfrm>
              <a:off x="8299399" y="3419549"/>
              <a:ext cx="180000" cy="180000"/>
            </a:xfrm>
            <a:prstGeom prst="ellipse">
              <a:avLst/>
            </a:prstGeom>
            <a:solidFill>
              <a:srgbClr val="003D6C"/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cxnSp>
          <p:nvCxnSpPr>
            <p:cNvPr id="24" name="Connettore 1 23"/>
            <p:cNvCxnSpPr/>
            <p:nvPr/>
          </p:nvCxnSpPr>
          <p:spPr>
            <a:xfrm>
              <a:off x="6634480" y="2244558"/>
              <a:ext cx="1375521" cy="0"/>
            </a:xfrm>
            <a:prstGeom prst="line">
              <a:avLst/>
            </a:prstGeom>
            <a:ln w="63500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e 24"/>
            <p:cNvSpPr>
              <a:spLocks noChangeAspect="1"/>
            </p:cNvSpPr>
            <p:nvPr/>
          </p:nvSpPr>
          <p:spPr>
            <a:xfrm>
              <a:off x="6571987" y="2154558"/>
              <a:ext cx="180000" cy="180000"/>
            </a:xfrm>
            <a:prstGeom prst="ellipse">
              <a:avLst/>
            </a:prstGeom>
            <a:solidFill>
              <a:srgbClr val="003D6C"/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26" name="Ovale 25"/>
            <p:cNvSpPr>
              <a:spLocks noChangeAspect="1"/>
            </p:cNvSpPr>
            <p:nvPr/>
          </p:nvSpPr>
          <p:spPr>
            <a:xfrm>
              <a:off x="7973681" y="2154558"/>
              <a:ext cx="180000" cy="180000"/>
            </a:xfrm>
            <a:prstGeom prst="ellipse">
              <a:avLst/>
            </a:prstGeom>
            <a:solidFill>
              <a:srgbClr val="003D6C"/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29" name="Rettangolo 28"/>
            <p:cNvSpPr/>
            <p:nvPr/>
          </p:nvSpPr>
          <p:spPr>
            <a:xfrm>
              <a:off x="8561674" y="4413596"/>
              <a:ext cx="486502" cy="5764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3500" b="1" i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s</a:t>
              </a:r>
              <a:r>
                <a:rPr lang="it-IT" sz="3500" b="1" i="1" baseline="-25000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0</a:t>
              </a:r>
              <a:endParaRPr lang="it-IT" sz="3500" b="1" i="1" dirty="0">
                <a:latin typeface="Myriad Pro Semibold" panose="020B0503030403020204" pitchFamily="34" charset="0"/>
              </a:endParaRPr>
            </a:p>
          </p:txBody>
        </p:sp>
        <p:sp>
          <p:nvSpPr>
            <p:cNvPr id="31" name="Rettangolo 30"/>
            <p:cNvSpPr/>
            <p:nvPr/>
          </p:nvSpPr>
          <p:spPr>
            <a:xfrm>
              <a:off x="8623237" y="3166523"/>
              <a:ext cx="525116" cy="5764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it-IT" sz="3500" b="1" i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s</a:t>
              </a:r>
              <a:r>
                <a:rPr lang="it-IT" sz="3500" b="1" i="1" baseline="-25000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1</a:t>
              </a:r>
              <a:endParaRPr lang="it-IT" sz="3500" b="1" i="1" dirty="0">
                <a:latin typeface="Myriad Pro Semibold" panose="020B0503030403020204" pitchFamily="34" charset="0"/>
              </a:endParaRPr>
            </a:p>
          </p:txBody>
        </p:sp>
        <p:sp>
          <p:nvSpPr>
            <p:cNvPr id="32" name="Rettangolo 31"/>
            <p:cNvSpPr/>
            <p:nvPr/>
          </p:nvSpPr>
          <p:spPr>
            <a:xfrm>
              <a:off x="8623533" y="1919450"/>
              <a:ext cx="486502" cy="5764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3500" b="1" i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s</a:t>
              </a:r>
              <a:r>
                <a:rPr lang="it-IT" sz="3500" b="1" i="1" baseline="-25000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2</a:t>
              </a:r>
              <a:endParaRPr lang="it-IT" sz="3500" b="1" i="1" dirty="0">
                <a:latin typeface="Myriad Pro Semibold" panose="020B0503030403020204" pitchFamily="34" charset="0"/>
              </a:endParaRPr>
            </a:p>
          </p:txBody>
        </p:sp>
      </p:grpSp>
      <p:grpSp>
        <p:nvGrpSpPr>
          <p:cNvPr id="128" name="Gruppo 127"/>
          <p:cNvGrpSpPr/>
          <p:nvPr/>
        </p:nvGrpSpPr>
        <p:grpSpPr>
          <a:xfrm>
            <a:off x="5457425" y="2277505"/>
            <a:ext cx="2875325" cy="2831951"/>
            <a:chOff x="5852537" y="1276978"/>
            <a:chExt cx="2626862" cy="2587236"/>
          </a:xfrm>
        </p:grpSpPr>
        <p:cxnSp>
          <p:nvCxnSpPr>
            <p:cNvPr id="47" name="Connettore 1 46"/>
            <p:cNvCxnSpPr/>
            <p:nvPr/>
          </p:nvCxnSpPr>
          <p:spPr>
            <a:xfrm>
              <a:off x="6661987" y="3774215"/>
              <a:ext cx="1119908" cy="0"/>
            </a:xfrm>
            <a:prstGeom prst="line">
              <a:avLst/>
            </a:prstGeom>
            <a:ln w="635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e 47"/>
            <p:cNvSpPr>
              <a:spLocks noChangeAspect="1"/>
            </p:cNvSpPr>
            <p:nvPr/>
          </p:nvSpPr>
          <p:spPr>
            <a:xfrm>
              <a:off x="6571987" y="3681647"/>
              <a:ext cx="180000" cy="180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49" name="Ovale 48"/>
            <p:cNvSpPr>
              <a:spLocks noChangeAspect="1"/>
            </p:cNvSpPr>
            <p:nvPr/>
          </p:nvSpPr>
          <p:spPr>
            <a:xfrm>
              <a:off x="7751856" y="3684214"/>
              <a:ext cx="180000" cy="180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cxnSp>
          <p:nvCxnSpPr>
            <p:cNvPr id="50" name="Connettore 1 49"/>
            <p:cNvCxnSpPr/>
            <p:nvPr/>
          </p:nvCxnSpPr>
          <p:spPr>
            <a:xfrm>
              <a:off x="6007702" y="2451947"/>
              <a:ext cx="1128570" cy="0"/>
            </a:xfrm>
            <a:prstGeom prst="line">
              <a:avLst/>
            </a:prstGeom>
            <a:ln w="635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e 50"/>
            <p:cNvSpPr>
              <a:spLocks noChangeAspect="1"/>
            </p:cNvSpPr>
            <p:nvPr/>
          </p:nvSpPr>
          <p:spPr>
            <a:xfrm>
              <a:off x="5852537" y="2361943"/>
              <a:ext cx="180000" cy="180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52" name="Ovale 51"/>
            <p:cNvSpPr>
              <a:spLocks noChangeAspect="1"/>
            </p:cNvSpPr>
            <p:nvPr/>
          </p:nvSpPr>
          <p:spPr>
            <a:xfrm>
              <a:off x="7086755" y="2361943"/>
              <a:ext cx="180000" cy="180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cxnSp>
          <p:nvCxnSpPr>
            <p:cNvPr id="53" name="Connettore 1 52"/>
            <p:cNvCxnSpPr/>
            <p:nvPr/>
          </p:nvCxnSpPr>
          <p:spPr>
            <a:xfrm>
              <a:off x="7784630" y="2451949"/>
              <a:ext cx="564286" cy="0"/>
            </a:xfrm>
            <a:prstGeom prst="line">
              <a:avLst/>
            </a:prstGeom>
            <a:ln w="635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e 53"/>
            <p:cNvSpPr>
              <a:spLocks noChangeAspect="1"/>
            </p:cNvSpPr>
            <p:nvPr/>
          </p:nvSpPr>
          <p:spPr>
            <a:xfrm>
              <a:off x="7744147" y="2361943"/>
              <a:ext cx="180000" cy="180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55" name="Ovale 54"/>
            <p:cNvSpPr>
              <a:spLocks noChangeAspect="1"/>
            </p:cNvSpPr>
            <p:nvPr/>
          </p:nvSpPr>
          <p:spPr>
            <a:xfrm>
              <a:off x="8299399" y="2361943"/>
              <a:ext cx="180000" cy="180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cxnSp>
          <p:nvCxnSpPr>
            <p:cNvPr id="56" name="Connettore 1 55"/>
            <p:cNvCxnSpPr/>
            <p:nvPr/>
          </p:nvCxnSpPr>
          <p:spPr>
            <a:xfrm>
              <a:off x="6632456" y="1366978"/>
              <a:ext cx="1375521" cy="0"/>
            </a:xfrm>
            <a:prstGeom prst="line">
              <a:avLst/>
            </a:prstGeom>
            <a:ln w="635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e 56"/>
            <p:cNvSpPr>
              <a:spLocks noChangeAspect="1"/>
            </p:cNvSpPr>
            <p:nvPr/>
          </p:nvSpPr>
          <p:spPr>
            <a:xfrm>
              <a:off x="6569963" y="1276978"/>
              <a:ext cx="180000" cy="180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58" name="Ovale 57"/>
            <p:cNvSpPr>
              <a:spLocks noChangeAspect="1"/>
            </p:cNvSpPr>
            <p:nvPr/>
          </p:nvSpPr>
          <p:spPr>
            <a:xfrm>
              <a:off x="7971657" y="1276978"/>
              <a:ext cx="180000" cy="180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</p:grpSp>
      <p:grpSp>
        <p:nvGrpSpPr>
          <p:cNvPr id="127" name="Gruppo 126"/>
          <p:cNvGrpSpPr/>
          <p:nvPr/>
        </p:nvGrpSpPr>
        <p:grpSpPr>
          <a:xfrm>
            <a:off x="5555938" y="2474530"/>
            <a:ext cx="2678299" cy="3497024"/>
            <a:chOff x="5942537" y="1456978"/>
            <a:chExt cx="2446862" cy="3194839"/>
          </a:xfrm>
        </p:grpSpPr>
        <p:cxnSp>
          <p:nvCxnSpPr>
            <p:cNvPr id="59" name="Connettore 2 58"/>
            <p:cNvCxnSpPr>
              <a:cxnSpLocks/>
              <a:stCxn id="14" idx="0"/>
              <a:endCxn id="48" idx="4"/>
            </p:cNvCxnSpPr>
            <p:nvPr/>
          </p:nvCxnSpPr>
          <p:spPr>
            <a:xfrm flipV="1">
              <a:off x="6661987" y="3861647"/>
              <a:ext cx="0" cy="787603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2 61"/>
            <p:cNvCxnSpPr>
              <a:cxnSpLocks/>
              <a:stCxn id="16" idx="0"/>
              <a:endCxn id="49" idx="4"/>
            </p:cNvCxnSpPr>
            <p:nvPr/>
          </p:nvCxnSpPr>
          <p:spPr>
            <a:xfrm flipV="1">
              <a:off x="7841856" y="3864214"/>
              <a:ext cx="0" cy="787603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2 64"/>
            <p:cNvCxnSpPr>
              <a:cxnSpLocks/>
              <a:stCxn id="18" idx="0"/>
              <a:endCxn id="51" idx="4"/>
            </p:cNvCxnSpPr>
            <p:nvPr/>
          </p:nvCxnSpPr>
          <p:spPr>
            <a:xfrm flipV="1">
              <a:off x="5942537" y="2541943"/>
              <a:ext cx="0" cy="877606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2 67"/>
            <p:cNvCxnSpPr>
              <a:cxnSpLocks/>
              <a:stCxn id="19" idx="0"/>
              <a:endCxn id="52" idx="4"/>
            </p:cNvCxnSpPr>
            <p:nvPr/>
          </p:nvCxnSpPr>
          <p:spPr>
            <a:xfrm flipV="1">
              <a:off x="7176755" y="2541943"/>
              <a:ext cx="0" cy="877606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2 70"/>
            <p:cNvCxnSpPr>
              <a:cxnSpLocks/>
              <a:stCxn id="22" idx="0"/>
              <a:endCxn id="54" idx="4"/>
            </p:cNvCxnSpPr>
            <p:nvPr/>
          </p:nvCxnSpPr>
          <p:spPr>
            <a:xfrm flipV="1">
              <a:off x="7834147" y="2541943"/>
              <a:ext cx="0" cy="877606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2 73"/>
            <p:cNvCxnSpPr>
              <a:cxnSpLocks/>
              <a:stCxn id="23" idx="0"/>
              <a:endCxn id="55" idx="4"/>
            </p:cNvCxnSpPr>
            <p:nvPr/>
          </p:nvCxnSpPr>
          <p:spPr>
            <a:xfrm flipV="1">
              <a:off x="8389399" y="2541943"/>
              <a:ext cx="0" cy="877606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2 77"/>
            <p:cNvCxnSpPr>
              <a:cxnSpLocks/>
              <a:stCxn id="25" idx="0"/>
              <a:endCxn id="57" idx="4"/>
            </p:cNvCxnSpPr>
            <p:nvPr/>
          </p:nvCxnSpPr>
          <p:spPr>
            <a:xfrm flipH="1" flipV="1">
              <a:off x="6659963" y="1456978"/>
              <a:ext cx="2024" cy="69758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2 80"/>
            <p:cNvCxnSpPr>
              <a:cxnSpLocks/>
              <a:stCxn id="26" idx="0"/>
              <a:endCxn id="58" idx="4"/>
            </p:cNvCxnSpPr>
            <p:nvPr/>
          </p:nvCxnSpPr>
          <p:spPr>
            <a:xfrm flipH="1" flipV="1">
              <a:off x="8061657" y="1456978"/>
              <a:ext cx="2024" cy="69758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uppo 125"/>
          <p:cNvGrpSpPr/>
          <p:nvPr/>
        </p:nvGrpSpPr>
        <p:grpSpPr>
          <a:xfrm>
            <a:off x="6196843" y="3432911"/>
            <a:ext cx="1815776" cy="1793167"/>
            <a:chOff x="6528060" y="2332543"/>
            <a:chExt cx="1658871" cy="1638216"/>
          </a:xfrm>
        </p:grpSpPr>
        <p:sp>
          <p:nvSpPr>
            <p:cNvPr id="84" name="Croce 83"/>
            <p:cNvSpPr/>
            <p:nvPr/>
          </p:nvSpPr>
          <p:spPr>
            <a:xfrm rot="18900000">
              <a:off x="6531422" y="2332543"/>
              <a:ext cx="244916" cy="244916"/>
            </a:xfrm>
            <a:prstGeom prst="plus">
              <a:avLst>
                <a:gd name="adj" fmla="val 4161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85" name="Croce 84"/>
            <p:cNvSpPr/>
            <p:nvPr/>
          </p:nvSpPr>
          <p:spPr>
            <a:xfrm rot="18900000">
              <a:off x="7942015" y="2339000"/>
              <a:ext cx="244916" cy="244916"/>
            </a:xfrm>
            <a:prstGeom prst="plus">
              <a:avLst>
                <a:gd name="adj" fmla="val 4161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86" name="Croce 85"/>
            <p:cNvSpPr/>
            <p:nvPr/>
          </p:nvSpPr>
          <p:spPr>
            <a:xfrm rot="18900000">
              <a:off x="6528060" y="3391243"/>
              <a:ext cx="244916" cy="244916"/>
            </a:xfrm>
            <a:prstGeom prst="plus">
              <a:avLst>
                <a:gd name="adj" fmla="val 4161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87" name="Anello 86"/>
            <p:cNvSpPr/>
            <p:nvPr/>
          </p:nvSpPr>
          <p:spPr>
            <a:xfrm rot="16200000">
              <a:off x="7495562" y="3447181"/>
              <a:ext cx="673023" cy="374133"/>
            </a:xfrm>
            <a:prstGeom prst="donut">
              <a:avLst>
                <a:gd name="adj" fmla="val 10038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  <a:latin typeface="Myriad Pro" panose="020B0503030403020204" pitchFamily="34" charset="0"/>
              </a:endParaRPr>
            </a:p>
          </p:txBody>
        </p:sp>
        <p:sp>
          <p:nvSpPr>
            <p:cNvPr id="88" name="Croce 87"/>
            <p:cNvSpPr/>
            <p:nvPr/>
          </p:nvSpPr>
          <p:spPr>
            <a:xfrm rot="18900000">
              <a:off x="7054297" y="3675007"/>
              <a:ext cx="244916" cy="244916"/>
            </a:xfrm>
            <a:prstGeom prst="plus">
              <a:avLst>
                <a:gd name="adj" fmla="val 4161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</p:grpSp>
      <p:sp>
        <p:nvSpPr>
          <p:cNvPr id="132" name="CasellaDiTesto 131"/>
          <p:cNvSpPr txBox="1"/>
          <p:nvPr/>
        </p:nvSpPr>
        <p:spPr>
          <a:xfrm>
            <a:off x="150022" y="1070615"/>
            <a:ext cx="566533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300" b="1" dirty="0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rPr>
              <a:t>Input:</a:t>
            </a:r>
            <a:r>
              <a:rPr lang="it-IT" sz="23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 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a set of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slices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 (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</a:t>
            </a:r>
            <a:r>
              <a:rPr lang="it-IT" sz="2300" i="1" baseline="-250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0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,</a:t>
            </a:r>
            <a:r>
              <a:rPr lang="mr-IN" sz="2300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…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,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</a:t>
            </a:r>
            <a:r>
              <a:rPr lang="it-IT" sz="2300" i="1" baseline="-250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n</a:t>
            </a:r>
            <a:r>
              <a:rPr lang="it-IT" sz="23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)</a:t>
            </a:r>
          </a:p>
          <a:p>
            <a:r>
              <a:rPr lang="it-IT" sz="2300" b="1" dirty="0">
                <a:solidFill>
                  <a:srgbClr val="003D6C"/>
                </a:solidFill>
                <a:latin typeface="Myriad Pro Semibold" panose="020B0503030403020204" pitchFamily="34" charset="0"/>
                <a:ea typeface="Adobe 고딕 Std B"/>
                <a:cs typeface="Candara"/>
              </a:rPr>
              <a:t>Output: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simulation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ready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tetrahedral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mesh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  <p:grpSp>
        <p:nvGrpSpPr>
          <p:cNvPr id="11" name="Gruppo 10"/>
          <p:cNvGrpSpPr/>
          <p:nvPr/>
        </p:nvGrpSpPr>
        <p:grpSpPr>
          <a:xfrm>
            <a:off x="6786971" y="3203557"/>
            <a:ext cx="965283" cy="269699"/>
            <a:chOff x="6786971" y="3203557"/>
            <a:chExt cx="965283" cy="269699"/>
          </a:xfrm>
        </p:grpSpPr>
        <p:sp>
          <p:nvSpPr>
            <p:cNvPr id="61" name="Croce 60"/>
            <p:cNvSpPr/>
            <p:nvPr/>
          </p:nvSpPr>
          <p:spPr>
            <a:xfrm rot="18900000">
              <a:off x="6786971" y="3205175"/>
              <a:ext cx="268081" cy="268081"/>
            </a:xfrm>
            <a:prstGeom prst="plus">
              <a:avLst>
                <a:gd name="adj" fmla="val 4161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  <p:sp>
          <p:nvSpPr>
            <p:cNvPr id="63" name="Croce 62"/>
            <p:cNvSpPr/>
            <p:nvPr/>
          </p:nvSpPr>
          <p:spPr>
            <a:xfrm rot="18900000">
              <a:off x="7484173" y="3203557"/>
              <a:ext cx="268081" cy="268081"/>
            </a:xfrm>
            <a:prstGeom prst="plus">
              <a:avLst>
                <a:gd name="adj" fmla="val 4161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Myriad Pro" panose="020B0503030403020204" pitchFamily="34" charset="0"/>
              </a:endParaRPr>
            </a:p>
          </p:txBody>
        </p:sp>
      </p:grpSp>
      <p:sp>
        <p:nvSpPr>
          <p:cNvPr id="66" name="Rettangolo 65">
            <a:extLst>
              <a:ext uri="{FF2B5EF4-FFF2-40B4-BE49-F238E27FC236}">
                <a16:creationId xmlns:a16="http://schemas.microsoft.com/office/drawing/2014/main" id="{226DD009-57C8-2A47-BA76-7AB91444D61E}"/>
              </a:ext>
            </a:extLst>
          </p:cNvPr>
          <p:cNvSpPr/>
          <p:nvPr/>
        </p:nvSpPr>
        <p:spPr>
          <a:xfrm>
            <a:off x="259297" y="155771"/>
            <a:ext cx="3643946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Lifting </a:t>
            </a:r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Algorithm</a:t>
            </a:r>
            <a:endParaRPr lang="it-IT" sz="3500" b="1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67903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7" y="155771"/>
            <a:ext cx="3932487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Support</a:t>
            </a:r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 </a:t>
            </a:r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structures</a:t>
            </a:r>
            <a:endParaRPr lang="it-IT" sz="3500" b="1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sp>
        <p:nvSpPr>
          <p:cNvPr id="2" name="CasellaDiTesto 1"/>
          <p:cNvSpPr txBox="1"/>
          <p:nvPr/>
        </p:nvSpPr>
        <p:spPr>
          <a:xfrm>
            <a:off x="-264660" y="1080918"/>
            <a:ext cx="8711430" cy="18774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Support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structures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are 1D open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curves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replicated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at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each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We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use curve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thickening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.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Thickening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radius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matches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1371600" lvl="2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The 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filament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cross-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section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FDM</a:t>
            </a: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The Laser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beam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SLS/SLM</a:t>
            </a: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…</a:t>
            </a:r>
          </a:p>
        </p:txBody>
      </p: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B9D039C7-25D7-E94D-8937-2F21D93EE99D}"/>
              </a:ext>
            </a:extLst>
          </p:cNvPr>
          <p:cNvGrpSpPr/>
          <p:nvPr/>
        </p:nvGrpSpPr>
        <p:grpSpPr>
          <a:xfrm>
            <a:off x="6390456" y="1641491"/>
            <a:ext cx="2688557" cy="1475001"/>
            <a:chOff x="2426250" y="1656818"/>
            <a:chExt cx="3779495" cy="2073514"/>
          </a:xfrm>
        </p:grpSpPr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8A13FFE2-19BB-3A4E-80C7-3D835B314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756606">
              <a:off x="2735840" y="1656818"/>
              <a:ext cx="3091072" cy="2073514"/>
            </a:xfrm>
            <a:prstGeom prst="rect">
              <a:avLst/>
            </a:prstGeom>
          </p:spPr>
        </p:pic>
        <p:sp>
          <p:nvSpPr>
            <p:cNvPr id="61" name="CasellaDiTesto 60">
              <a:extLst>
                <a:ext uri="{FF2B5EF4-FFF2-40B4-BE49-F238E27FC236}">
                  <a16:creationId xmlns:a16="http://schemas.microsoft.com/office/drawing/2014/main" id="{C1B4EEBD-3C94-3948-AE39-B8F5ADB27EEC}"/>
                </a:ext>
              </a:extLst>
            </p:cNvPr>
            <p:cNvSpPr txBox="1"/>
            <p:nvPr/>
          </p:nvSpPr>
          <p:spPr>
            <a:xfrm>
              <a:off x="2426250" y="3092874"/>
              <a:ext cx="3779495" cy="4542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500" b="1" dirty="0" err="1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Boost</a:t>
              </a:r>
              <a:r>
                <a:rPr lang="it-IT" sz="15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 </a:t>
              </a:r>
              <a:r>
                <a:rPr lang="it-IT" sz="1500" b="1" dirty="0" err="1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Polygon</a:t>
              </a:r>
              <a:r>
                <a:rPr lang="it-IT" sz="15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 Library (buffer)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630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7" y="155771"/>
            <a:ext cx="3932487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Support</a:t>
            </a:r>
            <a:r>
              <a:rPr lang="it-IT" sz="3500" b="1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 </a:t>
            </a:r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structures</a:t>
            </a:r>
            <a:endParaRPr lang="it-IT" sz="3500" b="1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sp>
        <p:nvSpPr>
          <p:cNvPr id="2" name="CasellaDiTesto 1"/>
          <p:cNvSpPr txBox="1"/>
          <p:nvPr/>
        </p:nvSpPr>
        <p:spPr>
          <a:xfrm>
            <a:off x="-264660" y="1080918"/>
            <a:ext cx="8711430" cy="18774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Support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structures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are 1D open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curves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replicated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at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each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We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use curve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thickening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.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Thickening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radius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matches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1371600" lvl="2" indent="-457200">
              <a:lnSpc>
                <a:spcPct val="150000"/>
              </a:lnSpc>
              <a:buSzPct val="60000"/>
              <a:buFont typeface="Lucida Grande"/>
              <a:buChar char="▶"/>
            </a:pP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The 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filament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cross-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section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FDM</a:t>
            </a: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The Laser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beam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SLS/SLM</a:t>
            </a: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…</a:t>
            </a:r>
          </a:p>
        </p:txBody>
      </p: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B9D039C7-25D7-E94D-8937-2F21D93EE99D}"/>
              </a:ext>
            </a:extLst>
          </p:cNvPr>
          <p:cNvGrpSpPr/>
          <p:nvPr/>
        </p:nvGrpSpPr>
        <p:grpSpPr>
          <a:xfrm>
            <a:off x="6390456" y="1641491"/>
            <a:ext cx="2688557" cy="1475001"/>
            <a:chOff x="2426250" y="1656818"/>
            <a:chExt cx="3779495" cy="2073514"/>
          </a:xfrm>
        </p:grpSpPr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8A13FFE2-19BB-3A4E-80C7-3D835B314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756606">
              <a:off x="2735840" y="1656818"/>
              <a:ext cx="3091072" cy="2073514"/>
            </a:xfrm>
            <a:prstGeom prst="rect">
              <a:avLst/>
            </a:prstGeom>
          </p:spPr>
        </p:pic>
        <p:sp>
          <p:nvSpPr>
            <p:cNvPr id="61" name="CasellaDiTesto 60">
              <a:extLst>
                <a:ext uri="{FF2B5EF4-FFF2-40B4-BE49-F238E27FC236}">
                  <a16:creationId xmlns:a16="http://schemas.microsoft.com/office/drawing/2014/main" id="{C1B4EEBD-3C94-3948-AE39-B8F5ADB27EEC}"/>
                </a:ext>
              </a:extLst>
            </p:cNvPr>
            <p:cNvSpPr txBox="1"/>
            <p:nvPr/>
          </p:nvSpPr>
          <p:spPr>
            <a:xfrm>
              <a:off x="2426250" y="3092874"/>
              <a:ext cx="3779495" cy="4542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500" b="1" dirty="0" err="1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Boost</a:t>
              </a:r>
              <a:r>
                <a:rPr lang="it-IT" sz="15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 </a:t>
              </a:r>
              <a:r>
                <a:rPr lang="it-IT" sz="1500" b="1" dirty="0" err="1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Polygon</a:t>
              </a:r>
              <a:r>
                <a:rPr lang="it-IT" sz="1500" b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 Library (buffer)</a:t>
              </a:r>
            </a:p>
          </p:txBody>
        </p:sp>
      </p:grpSp>
      <p:pic>
        <p:nvPicPr>
          <p:cNvPr id="64" name="Immagine 63">
            <a:extLst>
              <a:ext uri="{FF2B5EF4-FFF2-40B4-BE49-F238E27FC236}">
                <a16:creationId xmlns:a16="http://schemas.microsoft.com/office/drawing/2014/main" id="{D53E18BC-5AA1-8D49-A430-3B1503707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06" y="3378268"/>
            <a:ext cx="2849714" cy="2998244"/>
          </a:xfrm>
          <a:prstGeom prst="rect">
            <a:avLst/>
          </a:prstGeom>
        </p:spPr>
      </p:pic>
      <p:grpSp>
        <p:nvGrpSpPr>
          <p:cNvPr id="73" name="Gruppo 72">
            <a:extLst>
              <a:ext uri="{FF2B5EF4-FFF2-40B4-BE49-F238E27FC236}">
                <a16:creationId xmlns:a16="http://schemas.microsoft.com/office/drawing/2014/main" id="{B99B47B9-A39D-684C-95D7-07DBCD2915D7}"/>
              </a:ext>
            </a:extLst>
          </p:cNvPr>
          <p:cNvGrpSpPr/>
          <p:nvPr/>
        </p:nvGrpSpPr>
        <p:grpSpPr>
          <a:xfrm>
            <a:off x="6246715" y="3824393"/>
            <a:ext cx="2063630" cy="2082180"/>
            <a:chOff x="6388164" y="3847866"/>
            <a:chExt cx="2063630" cy="2082180"/>
          </a:xfrm>
        </p:grpSpPr>
        <p:pic>
          <p:nvPicPr>
            <p:cNvPr id="67" name="Immagine 66">
              <a:extLst>
                <a:ext uri="{FF2B5EF4-FFF2-40B4-BE49-F238E27FC236}">
                  <a16:creationId xmlns:a16="http://schemas.microsoft.com/office/drawing/2014/main" id="{7152A1EA-A4E1-3542-8353-E0A16216D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0456" y="3847866"/>
              <a:ext cx="2061338" cy="2059047"/>
            </a:xfrm>
            <a:prstGeom prst="rect">
              <a:avLst/>
            </a:prstGeom>
          </p:spPr>
        </p:pic>
        <p:sp>
          <p:nvSpPr>
            <p:cNvPr id="72" name="Rettangolo 71">
              <a:extLst>
                <a:ext uri="{FF2B5EF4-FFF2-40B4-BE49-F238E27FC236}">
                  <a16:creationId xmlns:a16="http://schemas.microsoft.com/office/drawing/2014/main" id="{B0182F3C-00F8-8942-B5CE-148A043FCCA4}"/>
                </a:ext>
              </a:extLst>
            </p:cNvPr>
            <p:cNvSpPr/>
            <p:nvPr/>
          </p:nvSpPr>
          <p:spPr>
            <a:xfrm>
              <a:off x="6388164" y="3870999"/>
              <a:ext cx="2059047" cy="2059047"/>
            </a:xfrm>
            <a:prstGeom prst="rect">
              <a:avLst/>
            </a:prstGeom>
            <a:noFill/>
            <a:ln w="63500">
              <a:solidFill>
                <a:srgbClr val="003D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uppo 2">
            <a:extLst>
              <a:ext uri="{FF2B5EF4-FFF2-40B4-BE49-F238E27FC236}">
                <a16:creationId xmlns:a16="http://schemas.microsoft.com/office/drawing/2014/main" id="{63E34CE0-9FD8-2C4F-8699-D5115FC59C77}"/>
              </a:ext>
            </a:extLst>
          </p:cNvPr>
          <p:cNvGrpSpPr/>
          <p:nvPr/>
        </p:nvGrpSpPr>
        <p:grpSpPr>
          <a:xfrm>
            <a:off x="2857676" y="3847526"/>
            <a:ext cx="3391331" cy="2059387"/>
            <a:chOff x="2857676" y="3847526"/>
            <a:chExt cx="3391331" cy="2059387"/>
          </a:xfrm>
        </p:grpSpPr>
        <p:sp>
          <p:nvSpPr>
            <p:cNvPr id="70" name="Rettangolo 69">
              <a:extLst>
                <a:ext uri="{FF2B5EF4-FFF2-40B4-BE49-F238E27FC236}">
                  <a16:creationId xmlns:a16="http://schemas.microsoft.com/office/drawing/2014/main" id="{C27D1131-D903-4D46-9A93-B2299D2E706F}"/>
                </a:ext>
              </a:extLst>
            </p:cNvPr>
            <p:cNvSpPr/>
            <p:nvPr/>
          </p:nvSpPr>
          <p:spPr>
            <a:xfrm>
              <a:off x="2857676" y="4194810"/>
              <a:ext cx="319864" cy="319864"/>
            </a:xfrm>
            <a:prstGeom prst="rect">
              <a:avLst/>
            </a:prstGeom>
            <a:noFill/>
            <a:ln w="63500">
              <a:solidFill>
                <a:srgbClr val="003D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4" name="Gruppo 73">
              <a:extLst>
                <a:ext uri="{FF2B5EF4-FFF2-40B4-BE49-F238E27FC236}">
                  <a16:creationId xmlns:a16="http://schemas.microsoft.com/office/drawing/2014/main" id="{E5C3D80F-57A5-7040-A704-2E0F1D50A566}"/>
                </a:ext>
              </a:extLst>
            </p:cNvPr>
            <p:cNvGrpSpPr/>
            <p:nvPr/>
          </p:nvGrpSpPr>
          <p:grpSpPr>
            <a:xfrm>
              <a:off x="4187668" y="3847866"/>
              <a:ext cx="2061339" cy="2059047"/>
              <a:chOff x="3730468" y="3847866"/>
              <a:chExt cx="2061339" cy="2059047"/>
            </a:xfrm>
          </p:grpSpPr>
          <p:pic>
            <p:nvPicPr>
              <p:cNvPr id="69" name="Immagine 68">
                <a:extLst>
                  <a:ext uri="{FF2B5EF4-FFF2-40B4-BE49-F238E27FC236}">
                    <a16:creationId xmlns:a16="http://schemas.microsoft.com/office/drawing/2014/main" id="{2C7F439C-D831-024B-9A96-1315CA0444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0469" y="3847866"/>
                <a:ext cx="2061338" cy="2059047"/>
              </a:xfrm>
              <a:prstGeom prst="rect">
                <a:avLst/>
              </a:prstGeom>
            </p:spPr>
          </p:pic>
          <p:sp>
            <p:nvSpPr>
              <p:cNvPr id="71" name="Rettangolo 70">
                <a:extLst>
                  <a:ext uri="{FF2B5EF4-FFF2-40B4-BE49-F238E27FC236}">
                    <a16:creationId xmlns:a16="http://schemas.microsoft.com/office/drawing/2014/main" id="{83DE8DF7-5045-BB48-95CA-DF8A0A2F8EC3}"/>
                  </a:ext>
                </a:extLst>
              </p:cNvPr>
              <p:cNvSpPr/>
              <p:nvPr/>
            </p:nvSpPr>
            <p:spPr>
              <a:xfrm>
                <a:off x="3730468" y="3847866"/>
                <a:ext cx="2059047" cy="2059047"/>
              </a:xfrm>
              <a:prstGeom prst="rect">
                <a:avLst/>
              </a:prstGeom>
              <a:noFill/>
              <a:ln w="63500">
                <a:solidFill>
                  <a:srgbClr val="003D6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75" name="Connettore 1 74">
              <a:extLst>
                <a:ext uri="{FF2B5EF4-FFF2-40B4-BE49-F238E27FC236}">
                  <a16:creationId xmlns:a16="http://schemas.microsoft.com/office/drawing/2014/main" id="{C32775D1-51E1-F140-8E97-8C158E4AD7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3132" y="3847526"/>
              <a:ext cx="1024536" cy="357344"/>
            </a:xfrm>
            <a:prstGeom prst="line">
              <a:avLst/>
            </a:prstGeom>
            <a:ln w="63500" cap="rnd" cmpd="sng">
              <a:solidFill>
                <a:srgbClr val="003D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77">
              <a:extLst>
                <a:ext uri="{FF2B5EF4-FFF2-40B4-BE49-F238E27FC236}">
                  <a16:creationId xmlns:a16="http://schemas.microsoft.com/office/drawing/2014/main" id="{FB4EC6BE-4BA8-5941-AF8F-31A1B08129E3}"/>
                </a:ext>
              </a:extLst>
            </p:cNvPr>
            <p:cNvCxnSpPr>
              <a:cxnSpLocks/>
            </p:cNvCxnSpPr>
            <p:nvPr/>
          </p:nvCxnSpPr>
          <p:spPr>
            <a:xfrm>
              <a:off x="3177540" y="4488762"/>
              <a:ext cx="1012420" cy="1417811"/>
            </a:xfrm>
            <a:prstGeom prst="line">
              <a:avLst/>
            </a:prstGeom>
            <a:ln w="63500" cap="rnd" cmpd="sng">
              <a:solidFill>
                <a:srgbClr val="003D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102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7" y="155771"/>
            <a:ext cx="3212739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Considerations</a:t>
            </a:r>
            <a:endParaRPr lang="it-IT" sz="3500" b="1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sp>
        <p:nvSpPr>
          <p:cNvPr id="2" name="CasellaDiTesto 1"/>
          <p:cNvSpPr txBox="1"/>
          <p:nvPr/>
        </p:nvSpPr>
        <p:spPr>
          <a:xfrm>
            <a:off x="-264660" y="1080918"/>
            <a:ext cx="8619990" cy="10618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Working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space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offers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number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of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advantages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Complexity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of 3D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objects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disappears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: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everything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2D!</a:t>
            </a: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Complex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of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supports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/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infills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disappears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well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: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everything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2D!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591A0420-0C77-5847-AB49-97E068788964}"/>
              </a:ext>
            </a:extLst>
          </p:cNvPr>
          <p:cNvGrpSpPr/>
          <p:nvPr/>
        </p:nvGrpSpPr>
        <p:grpSpPr>
          <a:xfrm>
            <a:off x="89914" y="2744729"/>
            <a:ext cx="8955852" cy="3629577"/>
            <a:chOff x="89914" y="2744729"/>
            <a:chExt cx="8955852" cy="3629577"/>
          </a:xfrm>
        </p:grpSpPr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563E44ED-68B0-D248-903D-64F51F55D446}"/>
                </a:ext>
              </a:extLst>
            </p:cNvPr>
            <p:cNvGrpSpPr/>
            <p:nvPr/>
          </p:nvGrpSpPr>
          <p:grpSpPr>
            <a:xfrm>
              <a:off x="89914" y="2744729"/>
              <a:ext cx="3744694" cy="3629577"/>
              <a:chOff x="56566" y="2664458"/>
              <a:chExt cx="3744694" cy="3629577"/>
            </a:xfrm>
          </p:grpSpPr>
          <p:pic>
            <p:nvPicPr>
              <p:cNvPr id="8" name="Immagine 7">
                <a:extLst>
                  <a:ext uri="{FF2B5EF4-FFF2-40B4-BE49-F238E27FC236}">
                    <a16:creationId xmlns:a16="http://schemas.microsoft.com/office/drawing/2014/main" id="{E7EE9AB9-7929-DE47-A09C-0F4BBC6187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0968" y="2664458"/>
                <a:ext cx="1666625" cy="1984303"/>
              </a:xfrm>
              <a:prstGeom prst="rect">
                <a:avLst/>
              </a:prstGeom>
            </p:spPr>
          </p:pic>
          <p:pic>
            <p:nvPicPr>
              <p:cNvPr id="9" name="Immagine 8">
                <a:extLst>
                  <a:ext uri="{FF2B5EF4-FFF2-40B4-BE49-F238E27FC236}">
                    <a16:creationId xmlns:a16="http://schemas.microsoft.com/office/drawing/2014/main" id="{5B065BB6-F1C5-4F47-9F0A-F3DC2BA4E5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176" y="2664459"/>
                <a:ext cx="1645749" cy="1984303"/>
              </a:xfrm>
              <a:prstGeom prst="rect">
                <a:avLst/>
              </a:prstGeom>
            </p:spPr>
          </p:pic>
          <p:pic>
            <p:nvPicPr>
              <p:cNvPr id="10" name="Immagine 9">
                <a:extLst>
                  <a:ext uri="{FF2B5EF4-FFF2-40B4-BE49-F238E27FC236}">
                    <a16:creationId xmlns:a16="http://schemas.microsoft.com/office/drawing/2014/main" id="{475B3B10-E285-4745-AC47-95B8A156C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66" y="4630865"/>
                <a:ext cx="1829810" cy="1629173"/>
              </a:xfrm>
              <a:prstGeom prst="rect">
                <a:avLst/>
              </a:prstGeom>
            </p:spPr>
          </p:pic>
          <p:pic>
            <p:nvPicPr>
              <p:cNvPr id="11" name="Immagine 10">
                <a:extLst>
                  <a:ext uri="{FF2B5EF4-FFF2-40B4-BE49-F238E27FC236}">
                    <a16:creationId xmlns:a16="http://schemas.microsoft.com/office/drawing/2014/main" id="{0474FBC5-0284-4940-9457-21A957BA86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1413" y="4664862"/>
                <a:ext cx="1849847" cy="1629173"/>
              </a:xfrm>
              <a:prstGeom prst="rect">
                <a:avLst/>
              </a:prstGeom>
            </p:spPr>
          </p:pic>
        </p:grp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127F986D-609E-1B4A-A646-D31FAFC9E8B3}"/>
                </a:ext>
              </a:extLst>
            </p:cNvPr>
            <p:cNvGrpSpPr/>
            <p:nvPr/>
          </p:nvGrpSpPr>
          <p:grpSpPr>
            <a:xfrm>
              <a:off x="4302009" y="2967694"/>
              <a:ext cx="4743757" cy="3326341"/>
              <a:chOff x="4220128" y="2950234"/>
              <a:chExt cx="4743757" cy="3326341"/>
            </a:xfrm>
          </p:grpSpPr>
          <p:pic>
            <p:nvPicPr>
              <p:cNvPr id="13" name="Immagine 12">
                <a:extLst>
                  <a:ext uri="{FF2B5EF4-FFF2-40B4-BE49-F238E27FC236}">
                    <a16:creationId xmlns:a16="http://schemas.microsoft.com/office/drawing/2014/main" id="{CCDD3E8A-1058-EF41-8A35-771EA89A18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36734" y="2950234"/>
                <a:ext cx="2302696" cy="1902031"/>
              </a:xfrm>
              <a:prstGeom prst="rect">
                <a:avLst/>
              </a:prstGeom>
            </p:spPr>
          </p:pic>
          <p:pic>
            <p:nvPicPr>
              <p:cNvPr id="14" name="Immagine 13">
                <a:extLst>
                  <a:ext uri="{FF2B5EF4-FFF2-40B4-BE49-F238E27FC236}">
                    <a16:creationId xmlns:a16="http://schemas.microsoft.com/office/drawing/2014/main" id="{BFAB67D6-2F3F-8C49-9C51-95A1A04601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20128" y="2966772"/>
                <a:ext cx="2316606" cy="1902031"/>
              </a:xfrm>
              <a:prstGeom prst="rect">
                <a:avLst/>
              </a:prstGeom>
            </p:spPr>
          </p:pic>
          <p:grpSp>
            <p:nvGrpSpPr>
              <p:cNvPr id="15" name="Gruppo 14">
                <a:extLst>
                  <a:ext uri="{FF2B5EF4-FFF2-40B4-BE49-F238E27FC236}">
                    <a16:creationId xmlns:a16="http://schemas.microsoft.com/office/drawing/2014/main" id="{D9D6535E-3A08-BA4D-AFD7-8D2762A0227F}"/>
                  </a:ext>
                </a:extLst>
              </p:cNvPr>
              <p:cNvGrpSpPr/>
              <p:nvPr/>
            </p:nvGrpSpPr>
            <p:grpSpPr>
              <a:xfrm>
                <a:off x="4572408" y="3680460"/>
                <a:ext cx="2069724" cy="2579578"/>
                <a:chOff x="4572408" y="3680460"/>
                <a:chExt cx="2069724" cy="2579578"/>
              </a:xfrm>
            </p:grpSpPr>
            <p:pic>
              <p:nvPicPr>
                <p:cNvPr id="20" name="Immagine 19">
                  <a:extLst>
                    <a:ext uri="{FF2B5EF4-FFF2-40B4-BE49-F238E27FC236}">
                      <a16:creationId xmlns:a16="http://schemas.microsoft.com/office/drawing/2014/main" id="{EB3F6138-CC37-1846-A2B3-645D3DD168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41413" y="4965539"/>
                  <a:ext cx="2000719" cy="1294499"/>
                </a:xfrm>
                <a:prstGeom prst="rect">
                  <a:avLst/>
                </a:prstGeom>
              </p:spPr>
            </p:pic>
            <p:sp>
              <p:nvSpPr>
                <p:cNvPr id="21" name="Rettangolo 20">
                  <a:extLst>
                    <a:ext uri="{FF2B5EF4-FFF2-40B4-BE49-F238E27FC236}">
                      <a16:creationId xmlns:a16="http://schemas.microsoft.com/office/drawing/2014/main" id="{D89B9AD4-0E9B-9444-A07A-6D966EFF5347}"/>
                    </a:ext>
                  </a:extLst>
                </p:cNvPr>
                <p:cNvSpPr/>
                <p:nvPr/>
              </p:nvSpPr>
              <p:spPr>
                <a:xfrm>
                  <a:off x="4572408" y="4965539"/>
                  <a:ext cx="2059047" cy="1294499"/>
                </a:xfrm>
                <a:prstGeom prst="rect">
                  <a:avLst/>
                </a:prstGeom>
                <a:noFill/>
                <a:ln w="63500">
                  <a:solidFill>
                    <a:srgbClr val="003D6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2" name="Connettore 1 21">
                  <a:extLst>
                    <a:ext uri="{FF2B5EF4-FFF2-40B4-BE49-F238E27FC236}">
                      <a16:creationId xmlns:a16="http://schemas.microsoft.com/office/drawing/2014/main" id="{11BEFEDC-0D73-734E-AB44-21703B3F5754}"/>
                    </a:ext>
                  </a:extLst>
                </p:cNvPr>
                <p:cNvCxnSpPr>
                  <a:cxnSpLocks/>
                  <a:endCxn id="21" idx="0"/>
                </p:cNvCxnSpPr>
                <p:nvPr/>
              </p:nvCxnSpPr>
              <p:spPr>
                <a:xfrm>
                  <a:off x="5154930" y="3680460"/>
                  <a:ext cx="447002" cy="1285079"/>
                </a:xfrm>
                <a:prstGeom prst="line">
                  <a:avLst/>
                </a:prstGeom>
                <a:ln w="63500" cap="rnd" cmpd="sng">
                  <a:solidFill>
                    <a:srgbClr val="003D6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uppo 15">
                <a:extLst>
                  <a:ext uri="{FF2B5EF4-FFF2-40B4-BE49-F238E27FC236}">
                    <a16:creationId xmlns:a16="http://schemas.microsoft.com/office/drawing/2014/main" id="{AF98AB6E-DE99-804C-9986-550DCEC38A39}"/>
                  </a:ext>
                </a:extLst>
              </p:cNvPr>
              <p:cNvGrpSpPr/>
              <p:nvPr/>
            </p:nvGrpSpPr>
            <p:grpSpPr>
              <a:xfrm>
                <a:off x="6904838" y="3680459"/>
                <a:ext cx="2059047" cy="2596116"/>
                <a:chOff x="6904838" y="3680459"/>
                <a:chExt cx="2059047" cy="2596116"/>
              </a:xfrm>
            </p:grpSpPr>
            <p:pic>
              <p:nvPicPr>
                <p:cNvPr id="17" name="Immagine 16">
                  <a:extLst>
                    <a:ext uri="{FF2B5EF4-FFF2-40B4-BE49-F238E27FC236}">
                      <a16:creationId xmlns:a16="http://schemas.microsoft.com/office/drawing/2014/main" id="{AF5BA659-4050-D540-BCAD-68249F6B68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45249" y="4982076"/>
                  <a:ext cx="2000719" cy="1277962"/>
                </a:xfrm>
                <a:prstGeom prst="rect">
                  <a:avLst/>
                </a:prstGeom>
              </p:spPr>
            </p:pic>
            <p:sp>
              <p:nvSpPr>
                <p:cNvPr id="18" name="Rettangolo 17">
                  <a:extLst>
                    <a:ext uri="{FF2B5EF4-FFF2-40B4-BE49-F238E27FC236}">
                      <a16:creationId xmlns:a16="http://schemas.microsoft.com/office/drawing/2014/main" id="{4DF5DE74-A0A6-A04B-BBBE-343AEFE0FAFB}"/>
                    </a:ext>
                  </a:extLst>
                </p:cNvPr>
                <p:cNvSpPr/>
                <p:nvPr/>
              </p:nvSpPr>
              <p:spPr>
                <a:xfrm>
                  <a:off x="6904838" y="4982076"/>
                  <a:ext cx="2059047" cy="1294499"/>
                </a:xfrm>
                <a:prstGeom prst="rect">
                  <a:avLst/>
                </a:prstGeom>
                <a:noFill/>
                <a:ln w="63500">
                  <a:solidFill>
                    <a:srgbClr val="003D6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9" name="Connettore 1 18">
                  <a:extLst>
                    <a:ext uri="{FF2B5EF4-FFF2-40B4-BE49-F238E27FC236}">
                      <a16:creationId xmlns:a16="http://schemas.microsoft.com/office/drawing/2014/main" id="{555E1A5B-ECFD-864B-8CC1-4726E194C7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57742" y="3680459"/>
                  <a:ext cx="447002" cy="1285079"/>
                </a:xfrm>
                <a:prstGeom prst="line">
                  <a:avLst/>
                </a:prstGeom>
                <a:ln w="63500" cap="rnd" cmpd="sng">
                  <a:solidFill>
                    <a:srgbClr val="003D6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15259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7" y="155771"/>
            <a:ext cx="3212739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Considerations</a:t>
            </a:r>
            <a:endParaRPr lang="it-IT" sz="3500" b="1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1EFDD67-B978-4A48-8A1D-8C9746D2246E}"/>
              </a:ext>
            </a:extLst>
          </p:cNvPr>
          <p:cNvSpPr txBox="1"/>
          <p:nvPr/>
        </p:nvSpPr>
        <p:spPr>
          <a:xfrm>
            <a:off x="-264660" y="1080918"/>
            <a:ext cx="8619990" cy="13696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Working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in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space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offers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number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of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advantages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Complexity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of 3D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objects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disappears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: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everything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2D!</a:t>
            </a: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Complex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of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supports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/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infills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disappears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well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: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everything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2D!</a:t>
            </a:r>
          </a:p>
          <a:p>
            <a:pPr marL="1371600" lvl="2" indent="-457200">
              <a:buSzPct val="60000"/>
              <a:buFont typeface="Lucida Grande"/>
              <a:buChar char="▶"/>
            </a:pP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Domain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simplification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for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faster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simulations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is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trivial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(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filter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000" i="1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slices</a:t>
            </a:r>
            <a:r>
              <a:rPr lang="it-IT" sz="2000" i="1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!)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3FC81A5C-D10A-4C45-BE19-6291CEB53F4A}"/>
              </a:ext>
            </a:extLst>
          </p:cNvPr>
          <p:cNvGrpSpPr/>
          <p:nvPr/>
        </p:nvGrpSpPr>
        <p:grpSpPr>
          <a:xfrm>
            <a:off x="-26314" y="2871332"/>
            <a:ext cx="4714354" cy="3899496"/>
            <a:chOff x="-26314" y="2871332"/>
            <a:chExt cx="4714354" cy="3899496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E353019F-46EA-ED49-BD1E-0F0C949A4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850" y="2871332"/>
              <a:ext cx="2571627" cy="2325110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46AE0081-C716-2640-ABB5-628BF3FD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0810" y="4445718"/>
              <a:ext cx="2577230" cy="2325110"/>
            </a:xfrm>
            <a:prstGeom prst="rect">
              <a:avLst/>
            </a:prstGeom>
          </p:spPr>
        </p:pic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2CB2A41D-599F-594E-BBE4-DF27145F6561}"/>
                </a:ext>
              </a:extLst>
            </p:cNvPr>
            <p:cNvSpPr txBox="1"/>
            <p:nvPr/>
          </p:nvSpPr>
          <p:spPr>
            <a:xfrm>
              <a:off x="-26314" y="5144432"/>
              <a:ext cx="213712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b="1" i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      ~80 </a:t>
              </a:r>
              <a:r>
                <a:rPr lang="it-IT" sz="2000" b="1" i="1" dirty="0" err="1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slices</a:t>
              </a:r>
              <a:endParaRPr lang="it-IT" sz="2000" b="1" i="1" dirty="0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endParaRPr>
            </a:p>
            <a:p>
              <a:r>
                <a:rPr lang="it-IT" sz="2000" b="1" i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~170K </a:t>
              </a:r>
              <a:r>
                <a:rPr lang="it-IT" sz="2000" b="1" i="1" dirty="0" err="1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tetrahedra</a:t>
              </a:r>
              <a:endParaRPr lang="it-IT" sz="2000" b="1" i="1" dirty="0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endParaRPr>
            </a:p>
          </p:txBody>
        </p:sp>
      </p:grpSp>
      <p:grpSp>
        <p:nvGrpSpPr>
          <p:cNvPr id="3" name="Gruppo 2">
            <a:extLst>
              <a:ext uri="{FF2B5EF4-FFF2-40B4-BE49-F238E27FC236}">
                <a16:creationId xmlns:a16="http://schemas.microsoft.com/office/drawing/2014/main" id="{A4D865B4-ADA5-CB4C-9750-1736BBB3F9EE}"/>
              </a:ext>
            </a:extLst>
          </p:cNvPr>
          <p:cNvGrpSpPr/>
          <p:nvPr/>
        </p:nvGrpSpPr>
        <p:grpSpPr>
          <a:xfrm>
            <a:off x="4357856" y="2689444"/>
            <a:ext cx="4752277" cy="3784846"/>
            <a:chOff x="4357856" y="2689444"/>
            <a:chExt cx="4752277" cy="3784846"/>
          </a:xfrm>
        </p:grpSpPr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5075CA88-B770-BE4F-A463-39BBFCC60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92967" y="4149180"/>
              <a:ext cx="2617166" cy="2325110"/>
            </a:xfrm>
            <a:prstGeom prst="rect">
              <a:avLst/>
            </a:prstGeom>
          </p:spPr>
        </p:pic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C21CA168-AB46-7E48-9D77-B563A6713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7856" y="2689444"/>
              <a:ext cx="2600153" cy="2325110"/>
            </a:xfrm>
            <a:prstGeom prst="rect">
              <a:avLst/>
            </a:prstGeom>
          </p:spPr>
        </p:pic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236DA21A-3828-8A4E-AF12-F7BFDED3FF40}"/>
                </a:ext>
              </a:extLst>
            </p:cNvPr>
            <p:cNvSpPr txBox="1"/>
            <p:nvPr/>
          </p:nvSpPr>
          <p:spPr>
            <a:xfrm>
              <a:off x="7034438" y="3088691"/>
              <a:ext cx="199926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b="1" i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   ~40 </a:t>
              </a:r>
              <a:r>
                <a:rPr lang="it-IT" sz="2000" b="1" i="1" dirty="0" err="1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slices</a:t>
              </a:r>
              <a:endParaRPr lang="it-IT" sz="2000" b="1" i="1" dirty="0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endParaRPr>
            </a:p>
            <a:p>
              <a:r>
                <a:rPr lang="it-IT" sz="2000" b="1" i="1" dirty="0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~35K </a:t>
              </a:r>
              <a:r>
                <a:rPr lang="it-IT" sz="2000" b="1" i="1" dirty="0" err="1">
                  <a:solidFill>
                    <a:srgbClr val="003D6C"/>
                  </a:solidFill>
                  <a:latin typeface="Myriad Pro Semibold" panose="020B0503030403020204" pitchFamily="34" charset="0"/>
                  <a:cs typeface="Candara"/>
                </a:rPr>
                <a:t>tetrahedra</a:t>
              </a:r>
              <a:endParaRPr lang="it-IT" sz="2000" b="1" i="1" dirty="0">
                <a:solidFill>
                  <a:srgbClr val="003D6C"/>
                </a:solidFill>
                <a:latin typeface="Myriad Pro Semibold" panose="020B0503030403020204" pitchFamily="34" charset="0"/>
                <a:cs typeface="Candar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951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7" y="155771"/>
            <a:ext cx="2456122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Limitations</a:t>
            </a:r>
            <a:endParaRPr lang="it-IT" sz="3500" b="1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sp>
        <p:nvSpPr>
          <p:cNvPr id="2" name="CasellaDiTesto 1"/>
          <p:cNvSpPr txBox="1"/>
          <p:nvPr/>
        </p:nvSpPr>
        <p:spPr>
          <a:xfrm>
            <a:off x="-264661" y="1080918"/>
            <a:ext cx="8809521" cy="4462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More an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academic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prototype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than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professional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meshing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tool</a:t>
            </a:r>
            <a:endParaRPr lang="it-IT" sz="2000" i="1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55697689-2466-9347-8FAB-4F1EB21E685D}"/>
              </a:ext>
            </a:extLst>
          </p:cNvPr>
          <p:cNvGrpSpPr/>
          <p:nvPr/>
        </p:nvGrpSpPr>
        <p:grpSpPr>
          <a:xfrm>
            <a:off x="1127041" y="1895445"/>
            <a:ext cx="6957617" cy="2073021"/>
            <a:chOff x="822241" y="2359270"/>
            <a:chExt cx="6957617" cy="2073021"/>
          </a:xfrm>
        </p:grpSpPr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531E119B-F54A-B345-BFA6-5D38A605C2B0}"/>
                </a:ext>
              </a:extLst>
            </p:cNvPr>
            <p:cNvGrpSpPr/>
            <p:nvPr/>
          </p:nvGrpSpPr>
          <p:grpSpPr>
            <a:xfrm>
              <a:off x="822241" y="2675108"/>
              <a:ext cx="1835776" cy="1555313"/>
              <a:chOff x="1140199" y="3056548"/>
              <a:chExt cx="1558582" cy="1320468"/>
            </a:xfrm>
          </p:grpSpPr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EDBC720F-B505-E441-BA2A-B46FD68FAD85}"/>
                  </a:ext>
                </a:extLst>
              </p:cNvPr>
              <p:cNvSpPr/>
              <p:nvPr/>
            </p:nvSpPr>
            <p:spPr>
              <a:xfrm>
                <a:off x="1140199" y="3056548"/>
                <a:ext cx="1558582" cy="13204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5400">
                <a:solidFill>
                  <a:srgbClr val="003D6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929DBF4D-4E01-5F41-8FFE-F75941920F9E}"/>
                  </a:ext>
                </a:extLst>
              </p:cNvPr>
              <p:cNvSpPr/>
              <p:nvPr/>
            </p:nvSpPr>
            <p:spPr>
              <a:xfrm>
                <a:off x="1485560" y="3416945"/>
                <a:ext cx="867860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3500" b="1" i="1" dirty="0">
                    <a:solidFill>
                      <a:srgbClr val="003D6C"/>
                    </a:solidFill>
                    <a:latin typeface="Myriad Pro" panose="020B0503030403020204" pitchFamily="34" charset="0"/>
                    <a:ea typeface="Adobe 고딕 Std B"/>
                    <a:cs typeface="Candara"/>
                  </a:rPr>
                  <a:t>s</a:t>
                </a:r>
                <a:r>
                  <a:rPr lang="it-IT" sz="3500" b="1" i="1" baseline="-25000" dirty="0">
                    <a:solidFill>
                      <a:srgbClr val="003D6C"/>
                    </a:solidFill>
                    <a:latin typeface="Myriad Pro" panose="020B0503030403020204" pitchFamily="34" charset="0"/>
                    <a:ea typeface="Adobe 고딕 Std B"/>
                    <a:cs typeface="Candara"/>
                  </a:rPr>
                  <a:t>0</a:t>
                </a:r>
                <a:endParaRPr lang="it-IT" sz="3500" b="1" i="1" dirty="0">
                  <a:latin typeface="Myriad Pro" panose="020B0503030403020204" pitchFamily="34" charset="0"/>
                </a:endParaRPr>
              </a:p>
            </p:txBody>
          </p:sp>
        </p:grpSp>
        <p:grpSp>
          <p:nvGrpSpPr>
            <p:cNvPr id="21" name="Gruppo 20">
              <a:extLst>
                <a:ext uri="{FF2B5EF4-FFF2-40B4-BE49-F238E27FC236}">
                  <a16:creationId xmlns:a16="http://schemas.microsoft.com/office/drawing/2014/main" id="{3383C3D7-F3FC-D347-9020-5016126D1BC3}"/>
                </a:ext>
              </a:extLst>
            </p:cNvPr>
            <p:cNvGrpSpPr/>
            <p:nvPr/>
          </p:nvGrpSpPr>
          <p:grpSpPr>
            <a:xfrm>
              <a:off x="3056879" y="2597234"/>
              <a:ext cx="1835776" cy="1555313"/>
              <a:chOff x="2982531" y="3056548"/>
              <a:chExt cx="1558582" cy="1320468"/>
            </a:xfrm>
          </p:grpSpPr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B19F31BA-453A-0945-A81B-613074D1B0B5}"/>
                  </a:ext>
                </a:extLst>
              </p:cNvPr>
              <p:cNvSpPr/>
              <p:nvPr/>
            </p:nvSpPr>
            <p:spPr>
              <a:xfrm rot="21270787">
                <a:off x="2982531" y="3056548"/>
                <a:ext cx="1558582" cy="13204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5400">
                <a:solidFill>
                  <a:srgbClr val="003D6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1" name="Rettangolo 10">
                <a:extLst>
                  <a:ext uri="{FF2B5EF4-FFF2-40B4-BE49-F238E27FC236}">
                    <a16:creationId xmlns:a16="http://schemas.microsoft.com/office/drawing/2014/main" id="{22719336-A07D-9E43-84A1-589DC2983E90}"/>
                  </a:ext>
                </a:extLst>
              </p:cNvPr>
              <p:cNvSpPr/>
              <p:nvPr/>
            </p:nvSpPr>
            <p:spPr>
              <a:xfrm>
                <a:off x="3391142" y="3452091"/>
                <a:ext cx="86359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3500" b="1" i="1" dirty="0">
                    <a:solidFill>
                      <a:srgbClr val="003D6C"/>
                    </a:solidFill>
                    <a:latin typeface="Myriad Pro" panose="020B0503030403020204" pitchFamily="34" charset="0"/>
                    <a:ea typeface="Adobe 고딕 Std B"/>
                    <a:cs typeface="Candara"/>
                  </a:rPr>
                  <a:t>s</a:t>
                </a:r>
                <a:r>
                  <a:rPr lang="it-IT" sz="3500" b="1" i="1" baseline="-25000" dirty="0">
                    <a:solidFill>
                      <a:srgbClr val="003D6C"/>
                    </a:solidFill>
                    <a:latin typeface="Myriad Pro" panose="020B0503030403020204" pitchFamily="34" charset="0"/>
                    <a:ea typeface="Adobe 고딕 Std B"/>
                    <a:cs typeface="Candara"/>
                  </a:rPr>
                  <a:t>1</a:t>
                </a:r>
                <a:endParaRPr lang="it-IT" sz="3500" b="1" i="1" dirty="0">
                  <a:latin typeface="Myriad Pro" panose="020B0503030403020204" pitchFamily="34" charset="0"/>
                </a:endParaRPr>
              </a:p>
            </p:txBody>
          </p:sp>
        </p:grp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85F691B2-370A-D14B-89E0-FDB997FA5B1B}"/>
                </a:ext>
              </a:extLst>
            </p:cNvPr>
            <p:cNvGrpSpPr/>
            <p:nvPr/>
          </p:nvGrpSpPr>
          <p:grpSpPr>
            <a:xfrm>
              <a:off x="5448187" y="2359270"/>
              <a:ext cx="2331671" cy="2073021"/>
              <a:chOff x="5086609" y="2642392"/>
              <a:chExt cx="1979599" cy="1760004"/>
            </a:xfrm>
          </p:grpSpPr>
          <p:grpSp>
            <p:nvGrpSpPr>
              <p:cNvPr id="22" name="Gruppo 21">
                <a:extLst>
                  <a:ext uri="{FF2B5EF4-FFF2-40B4-BE49-F238E27FC236}">
                    <a16:creationId xmlns:a16="http://schemas.microsoft.com/office/drawing/2014/main" id="{2A707256-5C9B-B941-9B46-3BFD8FCCF52C}"/>
                  </a:ext>
                </a:extLst>
              </p:cNvPr>
              <p:cNvGrpSpPr/>
              <p:nvPr/>
            </p:nvGrpSpPr>
            <p:grpSpPr>
              <a:xfrm>
                <a:off x="5297117" y="2851312"/>
                <a:ext cx="1558583" cy="1332017"/>
                <a:chOff x="5540205" y="2985057"/>
                <a:chExt cx="1558583" cy="1332017"/>
              </a:xfrm>
            </p:grpSpPr>
            <p:sp>
              <p:nvSpPr>
                <p:cNvPr id="12" name="Rettangolo 11">
                  <a:extLst>
                    <a:ext uri="{FF2B5EF4-FFF2-40B4-BE49-F238E27FC236}">
                      <a16:creationId xmlns:a16="http://schemas.microsoft.com/office/drawing/2014/main" id="{3A58CC39-1666-8044-9401-40AF66B7AEEC}"/>
                    </a:ext>
                  </a:extLst>
                </p:cNvPr>
                <p:cNvSpPr/>
                <p:nvPr/>
              </p:nvSpPr>
              <p:spPr>
                <a:xfrm>
                  <a:off x="5540206" y="2985057"/>
                  <a:ext cx="1558582" cy="13204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5400">
                  <a:solidFill>
                    <a:srgbClr val="003D6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sp>
              <p:nvSpPr>
                <p:cNvPr id="13" name="Rettangolo 12">
                  <a:extLst>
                    <a:ext uri="{FF2B5EF4-FFF2-40B4-BE49-F238E27FC236}">
                      <a16:creationId xmlns:a16="http://schemas.microsoft.com/office/drawing/2014/main" id="{950A44EF-374B-FF4A-ADAB-91ABB3DDAFF4}"/>
                    </a:ext>
                  </a:extLst>
                </p:cNvPr>
                <p:cNvSpPr/>
                <p:nvPr/>
              </p:nvSpPr>
              <p:spPr>
                <a:xfrm rot="21270787">
                  <a:off x="5540205" y="2996606"/>
                  <a:ext cx="1558582" cy="13204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5400">
                  <a:solidFill>
                    <a:srgbClr val="003D6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</p:grpSp>
          <p:grpSp>
            <p:nvGrpSpPr>
              <p:cNvPr id="15" name="Gruppo 14">
                <a:extLst>
                  <a:ext uri="{FF2B5EF4-FFF2-40B4-BE49-F238E27FC236}">
                    <a16:creationId xmlns:a16="http://schemas.microsoft.com/office/drawing/2014/main" id="{22E3F00D-6285-3443-85AC-56D6D618D08C}"/>
                  </a:ext>
                </a:extLst>
              </p:cNvPr>
              <p:cNvGrpSpPr/>
              <p:nvPr/>
            </p:nvGrpSpPr>
            <p:grpSpPr>
              <a:xfrm>
                <a:off x="5086609" y="2642392"/>
                <a:ext cx="1979599" cy="1760004"/>
                <a:chOff x="5302978" y="4501958"/>
                <a:chExt cx="1878292" cy="1669936"/>
              </a:xfrm>
            </p:grpSpPr>
            <p:sp>
              <p:nvSpPr>
                <p:cNvPr id="16" name="Anello 15">
                  <a:extLst>
                    <a:ext uri="{FF2B5EF4-FFF2-40B4-BE49-F238E27FC236}">
                      <a16:creationId xmlns:a16="http://schemas.microsoft.com/office/drawing/2014/main" id="{1AF11CC1-027C-5643-91ED-1E6180867CE6}"/>
                    </a:ext>
                  </a:extLst>
                </p:cNvPr>
                <p:cNvSpPr/>
                <p:nvPr/>
              </p:nvSpPr>
              <p:spPr>
                <a:xfrm rot="16200000">
                  <a:off x="6608169" y="4665538"/>
                  <a:ext cx="736681" cy="409521"/>
                </a:xfrm>
                <a:prstGeom prst="donut">
                  <a:avLst>
                    <a:gd name="adj" fmla="val 10038"/>
                  </a:avLst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Anello 16">
                  <a:extLst>
                    <a:ext uri="{FF2B5EF4-FFF2-40B4-BE49-F238E27FC236}">
                      <a16:creationId xmlns:a16="http://schemas.microsoft.com/office/drawing/2014/main" id="{2F04EA52-BFBB-2E45-9082-45313110D52D}"/>
                    </a:ext>
                  </a:extLst>
                </p:cNvPr>
                <p:cNvSpPr/>
                <p:nvPr/>
              </p:nvSpPr>
              <p:spPr>
                <a:xfrm rot="16200000">
                  <a:off x="5195910" y="5598793"/>
                  <a:ext cx="736681" cy="409521"/>
                </a:xfrm>
                <a:prstGeom prst="donut">
                  <a:avLst>
                    <a:gd name="adj" fmla="val 10038"/>
                  </a:avLst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Anello 17">
                  <a:extLst>
                    <a:ext uri="{FF2B5EF4-FFF2-40B4-BE49-F238E27FC236}">
                      <a16:creationId xmlns:a16="http://schemas.microsoft.com/office/drawing/2014/main" id="{0E975649-08B2-9A41-B2F0-18282D076A8F}"/>
                    </a:ext>
                  </a:extLst>
                </p:cNvPr>
                <p:cNvSpPr/>
                <p:nvPr/>
              </p:nvSpPr>
              <p:spPr>
                <a:xfrm>
                  <a:off x="5302978" y="4562882"/>
                  <a:ext cx="736681" cy="409521"/>
                </a:xfrm>
                <a:prstGeom prst="donut">
                  <a:avLst>
                    <a:gd name="adj" fmla="val 10038"/>
                  </a:avLst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Anello 18">
                  <a:extLst>
                    <a:ext uri="{FF2B5EF4-FFF2-40B4-BE49-F238E27FC236}">
                      <a16:creationId xmlns:a16="http://schemas.microsoft.com/office/drawing/2014/main" id="{8A2F4FFE-A788-F34E-AFCC-F100A5B3249D}"/>
                    </a:ext>
                  </a:extLst>
                </p:cNvPr>
                <p:cNvSpPr/>
                <p:nvPr/>
              </p:nvSpPr>
              <p:spPr>
                <a:xfrm>
                  <a:off x="6444589" y="5679221"/>
                  <a:ext cx="736681" cy="409521"/>
                </a:xfrm>
                <a:prstGeom prst="donut">
                  <a:avLst>
                    <a:gd name="adj" fmla="val 10038"/>
                  </a:avLst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F15AA20F-C8FF-FC44-9DF9-855EF52CB25E}"/>
              </a:ext>
            </a:extLst>
          </p:cNvPr>
          <p:cNvGrpSpPr/>
          <p:nvPr/>
        </p:nvGrpSpPr>
        <p:grpSpPr>
          <a:xfrm>
            <a:off x="1018496" y="4055005"/>
            <a:ext cx="6970855" cy="2294014"/>
            <a:chOff x="713696" y="4518830"/>
            <a:chExt cx="6970855" cy="2294014"/>
          </a:xfrm>
        </p:grpSpPr>
        <p:grpSp>
          <p:nvGrpSpPr>
            <p:cNvPr id="24" name="Gruppo 23">
              <a:extLst>
                <a:ext uri="{FF2B5EF4-FFF2-40B4-BE49-F238E27FC236}">
                  <a16:creationId xmlns:a16="http://schemas.microsoft.com/office/drawing/2014/main" id="{B739F46B-6A4D-1041-9DE8-9BB05B4BD613}"/>
                </a:ext>
              </a:extLst>
            </p:cNvPr>
            <p:cNvGrpSpPr/>
            <p:nvPr/>
          </p:nvGrpSpPr>
          <p:grpSpPr>
            <a:xfrm>
              <a:off x="713696" y="4518830"/>
              <a:ext cx="2079477" cy="2079477"/>
              <a:chOff x="794901" y="4742672"/>
              <a:chExt cx="1765485" cy="1765485"/>
            </a:xfrm>
          </p:grpSpPr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2B27A35D-BC7B-C042-AC1F-DD011F597707}"/>
                  </a:ext>
                </a:extLst>
              </p:cNvPr>
              <p:cNvSpPr/>
              <p:nvPr/>
            </p:nvSpPr>
            <p:spPr>
              <a:xfrm>
                <a:off x="794901" y="4742672"/>
                <a:ext cx="1765485" cy="176548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>
                <a:solidFill>
                  <a:srgbClr val="003D6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ttangolo 26">
                <a:extLst>
                  <a:ext uri="{FF2B5EF4-FFF2-40B4-BE49-F238E27FC236}">
                    <a16:creationId xmlns:a16="http://schemas.microsoft.com/office/drawing/2014/main" id="{06912E2A-77FB-7B46-9E95-0199FAFE93BF}"/>
                  </a:ext>
                </a:extLst>
              </p:cNvPr>
              <p:cNvSpPr/>
              <p:nvPr/>
            </p:nvSpPr>
            <p:spPr>
              <a:xfrm>
                <a:off x="1243713" y="5328510"/>
                <a:ext cx="867860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3500" b="1" i="1" dirty="0">
                    <a:solidFill>
                      <a:srgbClr val="003D6C"/>
                    </a:solidFill>
                    <a:latin typeface="Myriad Pro" panose="020B0503030403020204" pitchFamily="34" charset="0"/>
                    <a:ea typeface="Adobe 고딕 Std B"/>
                    <a:cs typeface="Candara"/>
                  </a:rPr>
                  <a:t>s</a:t>
                </a:r>
                <a:r>
                  <a:rPr lang="it-IT" sz="3500" b="1" i="1" baseline="-25000" dirty="0">
                    <a:solidFill>
                      <a:srgbClr val="003D6C"/>
                    </a:solidFill>
                    <a:latin typeface="Myriad Pro" panose="020B0503030403020204" pitchFamily="34" charset="0"/>
                    <a:ea typeface="Adobe 고딕 Std B"/>
                    <a:cs typeface="Candara"/>
                  </a:rPr>
                  <a:t>0</a:t>
                </a:r>
                <a:endParaRPr lang="it-IT" sz="3500" b="1" i="1" dirty="0">
                  <a:latin typeface="Myriad Pro" panose="020B0503030403020204" pitchFamily="34" charset="0"/>
                </a:endParaRPr>
              </a:p>
            </p:txBody>
          </p:sp>
        </p:grpSp>
        <p:grpSp>
          <p:nvGrpSpPr>
            <p:cNvPr id="25" name="Gruppo 24">
              <a:extLst>
                <a:ext uri="{FF2B5EF4-FFF2-40B4-BE49-F238E27FC236}">
                  <a16:creationId xmlns:a16="http://schemas.microsoft.com/office/drawing/2014/main" id="{E41B5804-FEBD-C748-9B20-926AC5EB478B}"/>
                </a:ext>
              </a:extLst>
            </p:cNvPr>
            <p:cNvGrpSpPr/>
            <p:nvPr/>
          </p:nvGrpSpPr>
          <p:grpSpPr>
            <a:xfrm>
              <a:off x="3435439" y="4816753"/>
              <a:ext cx="1527369" cy="1527369"/>
              <a:chOff x="3075504" y="4917449"/>
              <a:chExt cx="1296743" cy="1296743"/>
            </a:xfrm>
          </p:grpSpPr>
          <p:sp>
            <p:nvSpPr>
              <p:cNvPr id="26" name="Ovale 25">
                <a:extLst>
                  <a:ext uri="{FF2B5EF4-FFF2-40B4-BE49-F238E27FC236}">
                    <a16:creationId xmlns:a16="http://schemas.microsoft.com/office/drawing/2014/main" id="{461DA412-7A4F-E54C-AA87-55B8CC9417A7}"/>
                  </a:ext>
                </a:extLst>
              </p:cNvPr>
              <p:cNvSpPr/>
              <p:nvPr/>
            </p:nvSpPr>
            <p:spPr>
              <a:xfrm>
                <a:off x="3075504" y="4917449"/>
                <a:ext cx="1296743" cy="129674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5400">
                <a:solidFill>
                  <a:srgbClr val="003D6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ettangolo 27">
                <a:extLst>
                  <a:ext uri="{FF2B5EF4-FFF2-40B4-BE49-F238E27FC236}">
                    <a16:creationId xmlns:a16="http://schemas.microsoft.com/office/drawing/2014/main" id="{005549A0-61FA-CC45-A145-910B28795D84}"/>
                  </a:ext>
                </a:extLst>
              </p:cNvPr>
              <p:cNvSpPr/>
              <p:nvPr/>
            </p:nvSpPr>
            <p:spPr>
              <a:xfrm>
                <a:off x="3295221" y="5263907"/>
                <a:ext cx="867860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3500" b="1" i="1" dirty="0">
                    <a:solidFill>
                      <a:srgbClr val="003D6C"/>
                    </a:solidFill>
                    <a:latin typeface="Myriad Pro" panose="020B0503030403020204" pitchFamily="34" charset="0"/>
                    <a:ea typeface="Adobe 고딕 Std B"/>
                    <a:cs typeface="Candara"/>
                  </a:rPr>
                  <a:t>s</a:t>
                </a:r>
                <a:r>
                  <a:rPr lang="it-IT" sz="3500" b="1" i="1" baseline="-25000" dirty="0">
                    <a:solidFill>
                      <a:srgbClr val="003D6C"/>
                    </a:solidFill>
                    <a:latin typeface="Myriad Pro" panose="020B0503030403020204" pitchFamily="34" charset="0"/>
                    <a:ea typeface="Adobe 고딕 Std B"/>
                    <a:cs typeface="Candara"/>
                  </a:rPr>
                  <a:t>1</a:t>
                </a:r>
                <a:endParaRPr lang="it-IT" sz="3500" b="1" i="1" dirty="0">
                  <a:latin typeface="Myriad Pro" panose="020B0503030403020204" pitchFamily="34" charset="0"/>
                </a:endParaRPr>
              </a:p>
            </p:txBody>
          </p:sp>
        </p:grpSp>
        <p:grpSp>
          <p:nvGrpSpPr>
            <p:cNvPr id="33" name="Gruppo 32">
              <a:extLst>
                <a:ext uri="{FF2B5EF4-FFF2-40B4-BE49-F238E27FC236}">
                  <a16:creationId xmlns:a16="http://schemas.microsoft.com/office/drawing/2014/main" id="{34C78286-38F6-9248-9AB3-61C14EE99C49}"/>
                </a:ext>
              </a:extLst>
            </p:cNvPr>
            <p:cNvGrpSpPr/>
            <p:nvPr/>
          </p:nvGrpSpPr>
          <p:grpSpPr>
            <a:xfrm>
              <a:off x="5605074" y="4526282"/>
              <a:ext cx="2079477" cy="2286562"/>
              <a:chOff x="5326034" y="4611087"/>
              <a:chExt cx="1765485" cy="1941301"/>
            </a:xfrm>
          </p:grpSpPr>
          <p:grpSp>
            <p:nvGrpSpPr>
              <p:cNvPr id="32" name="Gruppo 31">
                <a:extLst>
                  <a:ext uri="{FF2B5EF4-FFF2-40B4-BE49-F238E27FC236}">
                    <a16:creationId xmlns:a16="http://schemas.microsoft.com/office/drawing/2014/main" id="{CBBCA08B-2DAB-234C-A03A-D7456E93AC9F}"/>
                  </a:ext>
                </a:extLst>
              </p:cNvPr>
              <p:cNvGrpSpPr/>
              <p:nvPr/>
            </p:nvGrpSpPr>
            <p:grpSpPr>
              <a:xfrm>
                <a:off x="5326034" y="4611087"/>
                <a:ext cx="1765485" cy="1765485"/>
                <a:chOff x="5326034" y="4611087"/>
                <a:chExt cx="1765485" cy="1765485"/>
              </a:xfrm>
            </p:grpSpPr>
            <p:sp>
              <p:nvSpPr>
                <p:cNvPr id="29" name="Ovale 28">
                  <a:extLst>
                    <a:ext uri="{FF2B5EF4-FFF2-40B4-BE49-F238E27FC236}">
                      <a16:creationId xmlns:a16="http://schemas.microsoft.com/office/drawing/2014/main" id="{5E0058C8-037C-2B49-A5FB-5B641321D019}"/>
                    </a:ext>
                  </a:extLst>
                </p:cNvPr>
                <p:cNvSpPr/>
                <p:nvPr/>
              </p:nvSpPr>
              <p:spPr>
                <a:xfrm>
                  <a:off x="5326034" y="4611087"/>
                  <a:ext cx="1765485" cy="1765485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5400">
                  <a:solidFill>
                    <a:srgbClr val="003D6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" name="Ovale 29">
                  <a:extLst>
                    <a:ext uri="{FF2B5EF4-FFF2-40B4-BE49-F238E27FC236}">
                      <a16:creationId xmlns:a16="http://schemas.microsoft.com/office/drawing/2014/main" id="{B03C0D3E-D61D-D949-BF26-65155183D522}"/>
                    </a:ext>
                  </a:extLst>
                </p:cNvPr>
                <p:cNvSpPr/>
                <p:nvPr/>
              </p:nvSpPr>
              <p:spPr>
                <a:xfrm>
                  <a:off x="5557068" y="5061573"/>
                  <a:ext cx="1296743" cy="1296743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5400">
                  <a:solidFill>
                    <a:srgbClr val="003D6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1" name="Anello 30">
                <a:extLst>
                  <a:ext uri="{FF2B5EF4-FFF2-40B4-BE49-F238E27FC236}">
                    <a16:creationId xmlns:a16="http://schemas.microsoft.com/office/drawing/2014/main" id="{0CAD2098-C287-5C46-ADB7-8AE9A0FF305E}"/>
                  </a:ext>
                </a:extLst>
              </p:cNvPr>
              <p:cNvSpPr/>
              <p:nvPr/>
            </p:nvSpPr>
            <p:spPr>
              <a:xfrm>
                <a:off x="5805769" y="6120779"/>
                <a:ext cx="776414" cy="431609"/>
              </a:xfrm>
              <a:prstGeom prst="donut">
                <a:avLst>
                  <a:gd name="adj" fmla="val 10038"/>
                </a:avLst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358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59297" y="155771"/>
            <a:ext cx="2456122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500" b="1" dirty="0" err="1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Limitations</a:t>
            </a:r>
            <a:endParaRPr lang="it-IT" sz="3500" b="1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sp>
        <p:nvSpPr>
          <p:cNvPr id="2" name="CasellaDiTesto 1"/>
          <p:cNvSpPr txBox="1"/>
          <p:nvPr/>
        </p:nvSpPr>
        <p:spPr>
          <a:xfrm>
            <a:off x="-264661" y="1080918"/>
            <a:ext cx="8809521" cy="4462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>
              <a:buSzPct val="60000"/>
              <a:buFont typeface="Lucida Grande"/>
              <a:buChar char="▶"/>
            </a:pP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More an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academic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prototype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than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a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professional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meshing</a:t>
            </a:r>
            <a:r>
              <a:rPr lang="it-IT" sz="2300" dirty="0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 </a:t>
            </a:r>
            <a:r>
              <a:rPr lang="it-IT" sz="2300" dirty="0" err="1">
                <a:solidFill>
                  <a:srgbClr val="003D6C"/>
                </a:solidFill>
                <a:latin typeface="Myriad Pro" panose="020B0503030403020204" pitchFamily="34" charset="0"/>
                <a:ea typeface="Adobe 고딕 Std B"/>
                <a:cs typeface="Candara"/>
              </a:rPr>
              <a:t>tool</a:t>
            </a:r>
            <a:endParaRPr lang="it-IT" sz="2300" dirty="0">
              <a:solidFill>
                <a:srgbClr val="003D6C"/>
              </a:solidFill>
              <a:latin typeface="Myriad Pro" panose="020B0503030403020204" pitchFamily="34" charset="0"/>
              <a:ea typeface="Adobe 고딕 Std B"/>
              <a:cs typeface="Candara"/>
            </a:endParaRPr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E73833B7-5E80-8F4D-B98B-8A5D82EE8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42" y="2487188"/>
            <a:ext cx="4133953" cy="2866722"/>
          </a:xfrm>
          <a:prstGeom prst="rect">
            <a:avLst/>
          </a:prstGeom>
        </p:spPr>
      </p:pic>
      <p:grpSp>
        <p:nvGrpSpPr>
          <p:cNvPr id="50" name="Gruppo 49">
            <a:extLst>
              <a:ext uri="{FF2B5EF4-FFF2-40B4-BE49-F238E27FC236}">
                <a16:creationId xmlns:a16="http://schemas.microsoft.com/office/drawing/2014/main" id="{34EE7C8E-FB78-2042-86BB-EF82B1DBB9DA}"/>
              </a:ext>
            </a:extLst>
          </p:cNvPr>
          <p:cNvGrpSpPr/>
          <p:nvPr/>
        </p:nvGrpSpPr>
        <p:grpSpPr>
          <a:xfrm>
            <a:off x="1960097" y="2009018"/>
            <a:ext cx="6624518" cy="1669063"/>
            <a:chOff x="1920341" y="2539103"/>
            <a:chExt cx="6624518" cy="1669063"/>
          </a:xfrm>
        </p:grpSpPr>
        <p:pic>
          <p:nvPicPr>
            <p:cNvPr id="38" name="Immagine 37">
              <a:extLst>
                <a:ext uri="{FF2B5EF4-FFF2-40B4-BE49-F238E27FC236}">
                  <a16:creationId xmlns:a16="http://schemas.microsoft.com/office/drawing/2014/main" id="{D6EE1CCE-383B-6E40-BB2F-1F48CCA09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3408" y="2539103"/>
              <a:ext cx="4101451" cy="1669063"/>
            </a:xfrm>
            <a:prstGeom prst="rect">
              <a:avLst/>
            </a:prstGeom>
          </p:spPr>
        </p:pic>
        <p:sp>
          <p:nvSpPr>
            <p:cNvPr id="44" name="Rettangolo 43">
              <a:extLst>
                <a:ext uri="{FF2B5EF4-FFF2-40B4-BE49-F238E27FC236}">
                  <a16:creationId xmlns:a16="http://schemas.microsoft.com/office/drawing/2014/main" id="{009FF1B9-9DBF-E84C-8ECC-351722DECD11}"/>
                </a:ext>
              </a:extLst>
            </p:cNvPr>
            <p:cNvSpPr/>
            <p:nvPr/>
          </p:nvSpPr>
          <p:spPr>
            <a:xfrm>
              <a:off x="4443408" y="2539103"/>
              <a:ext cx="4101451" cy="1669063"/>
            </a:xfrm>
            <a:prstGeom prst="rect">
              <a:avLst/>
            </a:prstGeom>
            <a:noFill/>
            <a:ln w="63500">
              <a:solidFill>
                <a:srgbClr val="003D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D294AD10-4965-B244-9262-DFD47C131CD1}"/>
                </a:ext>
              </a:extLst>
            </p:cNvPr>
            <p:cNvSpPr/>
            <p:nvPr/>
          </p:nvSpPr>
          <p:spPr>
            <a:xfrm>
              <a:off x="1920341" y="3375377"/>
              <a:ext cx="540636" cy="220009"/>
            </a:xfrm>
            <a:prstGeom prst="rect">
              <a:avLst/>
            </a:prstGeom>
            <a:noFill/>
            <a:ln w="63500">
              <a:solidFill>
                <a:srgbClr val="003D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8" name="Connettore 1 47">
              <a:extLst>
                <a:ext uri="{FF2B5EF4-FFF2-40B4-BE49-F238E27FC236}">
                  <a16:creationId xmlns:a16="http://schemas.microsoft.com/office/drawing/2014/main" id="{799CF492-9EA0-5D40-86F3-F6944F8F07E8}"/>
                </a:ext>
              </a:extLst>
            </p:cNvPr>
            <p:cNvCxnSpPr>
              <a:cxnSpLocks/>
              <a:stCxn id="44" idx="1"/>
              <a:endCxn id="47" idx="3"/>
            </p:cNvCxnSpPr>
            <p:nvPr/>
          </p:nvCxnSpPr>
          <p:spPr>
            <a:xfrm flipH="1">
              <a:off x="2460977" y="3373635"/>
              <a:ext cx="1982431" cy="111747"/>
            </a:xfrm>
            <a:prstGeom prst="line">
              <a:avLst/>
            </a:prstGeom>
            <a:ln w="63500" cap="rnd" cmpd="sng">
              <a:solidFill>
                <a:srgbClr val="003D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8B9C7F56-7F94-2549-B424-9EC7F963F7F6}"/>
              </a:ext>
            </a:extLst>
          </p:cNvPr>
          <p:cNvGrpSpPr/>
          <p:nvPr/>
        </p:nvGrpSpPr>
        <p:grpSpPr>
          <a:xfrm>
            <a:off x="4483164" y="2784868"/>
            <a:ext cx="4101451" cy="3193205"/>
            <a:chOff x="4443408" y="3314953"/>
            <a:chExt cx="4101451" cy="3193205"/>
          </a:xfrm>
        </p:grpSpPr>
        <p:pic>
          <p:nvPicPr>
            <p:cNvPr id="40" name="Immagine 39">
              <a:extLst>
                <a:ext uri="{FF2B5EF4-FFF2-40B4-BE49-F238E27FC236}">
                  <a16:creationId xmlns:a16="http://schemas.microsoft.com/office/drawing/2014/main" id="{531A3EAE-386B-E44D-ABBB-9D11C16E2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43408" y="4505718"/>
              <a:ext cx="4101451" cy="2002440"/>
            </a:xfrm>
            <a:prstGeom prst="rect">
              <a:avLst/>
            </a:prstGeom>
          </p:spPr>
        </p:pic>
        <p:sp>
          <p:nvSpPr>
            <p:cNvPr id="45" name="Rettangolo 44">
              <a:extLst>
                <a:ext uri="{FF2B5EF4-FFF2-40B4-BE49-F238E27FC236}">
                  <a16:creationId xmlns:a16="http://schemas.microsoft.com/office/drawing/2014/main" id="{627AD364-AA8B-DD45-BB25-F0C335A1C533}"/>
                </a:ext>
              </a:extLst>
            </p:cNvPr>
            <p:cNvSpPr/>
            <p:nvPr/>
          </p:nvSpPr>
          <p:spPr>
            <a:xfrm>
              <a:off x="4443408" y="4489310"/>
              <a:ext cx="4101451" cy="2018847"/>
            </a:xfrm>
            <a:prstGeom prst="rect">
              <a:avLst/>
            </a:prstGeom>
            <a:noFill/>
            <a:ln w="63500">
              <a:solidFill>
                <a:srgbClr val="003D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" name="Connettore 1 50">
              <a:extLst>
                <a:ext uri="{FF2B5EF4-FFF2-40B4-BE49-F238E27FC236}">
                  <a16:creationId xmlns:a16="http://schemas.microsoft.com/office/drawing/2014/main" id="{A81227D9-3305-4C49-920F-BAD36C30EA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3729" y="3655809"/>
              <a:ext cx="1531130" cy="833501"/>
            </a:xfrm>
            <a:prstGeom prst="line">
              <a:avLst/>
            </a:prstGeom>
            <a:ln w="63500" cap="rnd" cmpd="sng">
              <a:solidFill>
                <a:srgbClr val="003D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1">
              <a:extLst>
                <a:ext uri="{FF2B5EF4-FFF2-40B4-BE49-F238E27FC236}">
                  <a16:creationId xmlns:a16="http://schemas.microsoft.com/office/drawing/2014/main" id="{5CBBD58B-CD5B-0243-802E-1569B44656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3408" y="3655809"/>
              <a:ext cx="1732723" cy="847942"/>
            </a:xfrm>
            <a:prstGeom prst="line">
              <a:avLst/>
            </a:prstGeom>
            <a:ln w="63500" cap="rnd" cmpd="sng">
              <a:solidFill>
                <a:srgbClr val="003D6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ttangolo 52">
              <a:extLst>
                <a:ext uri="{FF2B5EF4-FFF2-40B4-BE49-F238E27FC236}">
                  <a16:creationId xmlns:a16="http://schemas.microsoft.com/office/drawing/2014/main" id="{CF0BDA8F-5674-1C43-AD70-21CE726FB5AA}"/>
                </a:ext>
              </a:extLst>
            </p:cNvPr>
            <p:cNvSpPr/>
            <p:nvPr/>
          </p:nvSpPr>
          <p:spPr>
            <a:xfrm>
              <a:off x="6176131" y="3314953"/>
              <a:ext cx="837598" cy="340856"/>
            </a:xfrm>
            <a:prstGeom prst="rect">
              <a:avLst/>
            </a:prstGeom>
            <a:noFill/>
            <a:ln w="63500">
              <a:solidFill>
                <a:srgbClr val="003D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729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/>
          <p:cNvGrpSpPr/>
          <p:nvPr/>
        </p:nvGrpSpPr>
        <p:grpSpPr>
          <a:xfrm>
            <a:off x="319343" y="1298089"/>
            <a:ext cx="8125758" cy="1154162"/>
            <a:chOff x="398366" y="1207779"/>
            <a:chExt cx="8125758" cy="1154162"/>
          </a:xfrm>
        </p:grpSpPr>
        <p:sp>
          <p:nvSpPr>
            <p:cNvPr id="21" name="Rettangolo 20"/>
            <p:cNvSpPr/>
            <p:nvPr/>
          </p:nvSpPr>
          <p:spPr>
            <a:xfrm>
              <a:off x="398366" y="1207779"/>
              <a:ext cx="1974454" cy="115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it-IT" sz="2300" b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MESHING TO SIMULATE </a:t>
              </a:r>
            </a:p>
            <a:p>
              <a:pPr algn="ctr"/>
              <a:r>
                <a:rPr lang="it-IT" sz="2300" b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3D PRINTING</a:t>
              </a:r>
              <a:endParaRPr lang="it-IT" sz="2300" b="1" dirty="0">
                <a:solidFill>
                  <a:srgbClr val="003D6C"/>
                </a:solidFill>
                <a:latin typeface="Myriad Pro Semibold" panose="020B0503030403020204" pitchFamily="34" charset="0"/>
              </a:endParaRPr>
            </a:p>
          </p:txBody>
        </p:sp>
        <p:cxnSp>
          <p:nvCxnSpPr>
            <p:cNvPr id="22" name="Connettore 2 21"/>
            <p:cNvCxnSpPr/>
            <p:nvPr/>
          </p:nvCxnSpPr>
          <p:spPr>
            <a:xfrm>
              <a:off x="2585601" y="1784860"/>
              <a:ext cx="566872" cy="0"/>
            </a:xfrm>
            <a:prstGeom prst="straightConnector1">
              <a:avLst/>
            </a:prstGeom>
            <a:ln w="101600">
              <a:solidFill>
                <a:srgbClr val="003D6C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ttangolo 22"/>
            <p:cNvSpPr/>
            <p:nvPr/>
          </p:nvSpPr>
          <p:spPr>
            <a:xfrm>
              <a:off x="3365254" y="1382590"/>
              <a:ext cx="5158870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it-IT" sz="2300" b="1" dirty="0">
                  <a:solidFill>
                    <a:srgbClr val="C00000"/>
                  </a:solidFill>
                  <a:latin typeface="Myriad Pro Semibold" panose="020B0503030403020204" pitchFamily="34" charset="0"/>
                  <a:ea typeface="Adobe 고딕 Std B"/>
                </a:rPr>
                <a:t>NEW CHALLENGES, STANDARD TECHNIQUES FALL SHORT</a:t>
              </a:r>
              <a:endParaRPr lang="it-IT" sz="2300" b="1" dirty="0">
                <a:solidFill>
                  <a:srgbClr val="C00000"/>
                </a:solidFill>
                <a:latin typeface="Myriad Pro Semibold" panose="020B0503030403020204" pitchFamily="34" charset="0"/>
              </a:endParaRPr>
            </a:p>
          </p:txBody>
        </p:sp>
      </p:grpSp>
      <p:grpSp>
        <p:nvGrpSpPr>
          <p:cNvPr id="3" name="Gruppo 2"/>
          <p:cNvGrpSpPr/>
          <p:nvPr/>
        </p:nvGrpSpPr>
        <p:grpSpPr>
          <a:xfrm>
            <a:off x="313582" y="2877016"/>
            <a:ext cx="8029053" cy="800219"/>
            <a:chOff x="392605" y="2555581"/>
            <a:chExt cx="8029053" cy="800219"/>
          </a:xfrm>
        </p:grpSpPr>
        <p:sp>
          <p:nvSpPr>
            <p:cNvPr id="25" name="Rettangolo 24"/>
            <p:cNvSpPr/>
            <p:nvPr/>
          </p:nvSpPr>
          <p:spPr>
            <a:xfrm>
              <a:off x="392605" y="2725089"/>
              <a:ext cx="1980215" cy="4462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it-IT" sz="2300" b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SLICE2MESH</a:t>
              </a:r>
              <a:endParaRPr lang="it-IT" sz="2300" b="1" dirty="0">
                <a:solidFill>
                  <a:srgbClr val="003D6C"/>
                </a:solidFill>
                <a:latin typeface="Myriad Pro Semibold" panose="020B0503030403020204" pitchFamily="34" charset="0"/>
              </a:endParaRPr>
            </a:p>
          </p:txBody>
        </p:sp>
        <p:cxnSp>
          <p:nvCxnSpPr>
            <p:cNvPr id="26" name="Connettore 2 25"/>
            <p:cNvCxnSpPr/>
            <p:nvPr/>
          </p:nvCxnSpPr>
          <p:spPr>
            <a:xfrm>
              <a:off x="2537028" y="2945474"/>
              <a:ext cx="566872" cy="0"/>
            </a:xfrm>
            <a:prstGeom prst="straightConnector1">
              <a:avLst/>
            </a:prstGeom>
            <a:ln w="101600">
              <a:solidFill>
                <a:srgbClr val="003D6C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ttangolo 26"/>
            <p:cNvSpPr/>
            <p:nvPr/>
          </p:nvSpPr>
          <p:spPr>
            <a:xfrm>
              <a:off x="3262494" y="2555581"/>
              <a:ext cx="5159164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it-IT" sz="2300" b="1" dirty="0">
                  <a:solidFill>
                    <a:srgbClr val="009051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A FIRST (RATHER TRIVIAL) SOLUTION</a:t>
              </a:r>
            </a:p>
            <a:p>
              <a:pPr algn="ctr"/>
              <a:r>
                <a:rPr lang="it-IT" sz="2300" b="1" dirty="0" err="1">
                  <a:solidFill>
                    <a:srgbClr val="009051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https</a:t>
              </a:r>
              <a:r>
                <a:rPr lang="it-IT" sz="2300" b="1" dirty="0">
                  <a:solidFill>
                    <a:srgbClr val="009051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://</a:t>
              </a:r>
              <a:r>
                <a:rPr lang="it-IT" sz="2300" b="1" dirty="0" err="1">
                  <a:solidFill>
                    <a:srgbClr val="009051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github.com</a:t>
              </a:r>
              <a:r>
                <a:rPr lang="it-IT" sz="2300" b="1" dirty="0">
                  <a:solidFill>
                    <a:srgbClr val="009051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/</a:t>
              </a:r>
              <a:r>
                <a:rPr lang="it-IT" sz="2300" b="1" dirty="0" err="1">
                  <a:solidFill>
                    <a:srgbClr val="009051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mlivesu</a:t>
              </a:r>
              <a:r>
                <a:rPr lang="it-IT" sz="2300" b="1" dirty="0">
                  <a:solidFill>
                    <a:srgbClr val="009051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/slice2mesh</a:t>
              </a:r>
            </a:p>
          </p:txBody>
        </p:sp>
      </p:grpSp>
      <p:sp>
        <p:nvSpPr>
          <p:cNvPr id="34" name="Rettangolo 33"/>
          <p:cNvSpPr/>
          <p:nvPr/>
        </p:nvSpPr>
        <p:spPr>
          <a:xfrm>
            <a:off x="-2213" y="252275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000" b="1" baseline="30000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Conclusions</a:t>
            </a:r>
            <a:endParaRPr lang="it-IT" sz="6000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grpSp>
        <p:nvGrpSpPr>
          <p:cNvPr id="4" name="Gruppo 3"/>
          <p:cNvGrpSpPr/>
          <p:nvPr/>
        </p:nvGrpSpPr>
        <p:grpSpPr>
          <a:xfrm>
            <a:off x="319343" y="4102000"/>
            <a:ext cx="7680175" cy="800219"/>
            <a:chOff x="398366" y="3907705"/>
            <a:chExt cx="7680175" cy="800219"/>
          </a:xfrm>
        </p:grpSpPr>
        <p:sp>
          <p:nvSpPr>
            <p:cNvPr id="29" name="Rettangolo 28"/>
            <p:cNvSpPr/>
            <p:nvPr/>
          </p:nvSpPr>
          <p:spPr>
            <a:xfrm>
              <a:off x="398366" y="4066562"/>
              <a:ext cx="1980216" cy="4462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it-IT" sz="2300" b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LIMITATIONS</a:t>
              </a:r>
              <a:endParaRPr lang="it-IT" sz="2300" b="1" dirty="0">
                <a:solidFill>
                  <a:srgbClr val="003D6C"/>
                </a:solidFill>
                <a:latin typeface="Myriad Pro Semibold" panose="020B0503030403020204" pitchFamily="34" charset="0"/>
              </a:endParaRPr>
            </a:p>
          </p:txBody>
        </p:sp>
        <p:cxnSp>
          <p:nvCxnSpPr>
            <p:cNvPr id="30" name="Connettore 2 29"/>
            <p:cNvCxnSpPr/>
            <p:nvPr/>
          </p:nvCxnSpPr>
          <p:spPr>
            <a:xfrm>
              <a:off x="2537028" y="4307815"/>
              <a:ext cx="566872" cy="0"/>
            </a:xfrm>
            <a:prstGeom prst="straightConnector1">
              <a:avLst/>
            </a:prstGeom>
            <a:ln w="101600">
              <a:solidFill>
                <a:srgbClr val="003D6C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ttangolo 30"/>
            <p:cNvSpPr/>
            <p:nvPr/>
          </p:nvSpPr>
          <p:spPr>
            <a:xfrm>
              <a:off x="3262346" y="3907705"/>
              <a:ext cx="4816195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it-IT" sz="2300" b="1" dirty="0">
                  <a:solidFill>
                    <a:srgbClr val="C00000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- ROBUSTNESS</a:t>
              </a:r>
            </a:p>
            <a:p>
              <a:r>
                <a:rPr lang="it-IT" sz="2300" b="1" dirty="0">
                  <a:solidFill>
                    <a:srgbClr val="C00000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- OVER REFINEMENT</a:t>
              </a:r>
            </a:p>
          </p:txBody>
        </p:sp>
      </p:grpSp>
      <p:grpSp>
        <p:nvGrpSpPr>
          <p:cNvPr id="24" name="Gruppo 23"/>
          <p:cNvGrpSpPr/>
          <p:nvPr/>
        </p:nvGrpSpPr>
        <p:grpSpPr>
          <a:xfrm>
            <a:off x="319343" y="5326984"/>
            <a:ext cx="8745634" cy="1154162"/>
            <a:chOff x="398366" y="2368393"/>
            <a:chExt cx="8745634" cy="1154162"/>
          </a:xfrm>
        </p:grpSpPr>
        <p:sp>
          <p:nvSpPr>
            <p:cNvPr id="35" name="Rettangolo 34"/>
            <p:cNvSpPr/>
            <p:nvPr/>
          </p:nvSpPr>
          <p:spPr>
            <a:xfrm>
              <a:off x="398366" y="2639591"/>
              <a:ext cx="1980215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it-IT" sz="2300" b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FUTURE</a:t>
              </a:r>
              <a:br>
                <a:rPr lang="it-IT" sz="2300" b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</a:br>
              <a:r>
                <a:rPr lang="it-IT" sz="2300" b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WORKS</a:t>
              </a:r>
              <a:endParaRPr lang="it-IT" sz="2300" b="1" dirty="0">
                <a:solidFill>
                  <a:srgbClr val="003D6C"/>
                </a:solidFill>
                <a:latin typeface="Myriad Pro Semibold" panose="020B0503030403020204" pitchFamily="34" charset="0"/>
              </a:endParaRPr>
            </a:p>
          </p:txBody>
        </p:sp>
        <p:cxnSp>
          <p:nvCxnSpPr>
            <p:cNvPr id="36" name="Connettore 2 35"/>
            <p:cNvCxnSpPr/>
            <p:nvPr/>
          </p:nvCxnSpPr>
          <p:spPr>
            <a:xfrm>
              <a:off x="2537028" y="2945474"/>
              <a:ext cx="566872" cy="0"/>
            </a:xfrm>
            <a:prstGeom prst="straightConnector1">
              <a:avLst/>
            </a:prstGeom>
            <a:ln w="101600">
              <a:solidFill>
                <a:srgbClr val="003D6C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ttangolo 36"/>
            <p:cNvSpPr/>
            <p:nvPr/>
          </p:nvSpPr>
          <p:spPr>
            <a:xfrm>
              <a:off x="3264560" y="2368393"/>
              <a:ext cx="5879440" cy="115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it-IT" sz="2300" b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- VALIDATE MESHES IN REAL SIMULATIONS</a:t>
              </a:r>
            </a:p>
            <a:p>
              <a:r>
                <a:rPr lang="it-IT" sz="2300" b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- MESH ALONG TOOLPATHS</a:t>
              </a:r>
            </a:p>
            <a:p>
              <a:r>
                <a:rPr lang="it-IT" sz="2300" b="1" dirty="0">
                  <a:solidFill>
                    <a:srgbClr val="003D6C"/>
                  </a:solidFill>
                  <a:latin typeface="Myriad Pro Semibold" panose="020B0503030403020204" pitchFamily="34" charset="0"/>
                  <a:ea typeface="Adobe 고딕 Std B"/>
                  <a:cs typeface="Candara"/>
                </a:rPr>
                <a:t>- USE HEXAHEDRA or PRISMS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449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tangolo 43"/>
          <p:cNvSpPr/>
          <p:nvPr/>
        </p:nvSpPr>
        <p:spPr>
          <a:xfrm>
            <a:off x="0" y="2800186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0000" b="1" baseline="30000" dirty="0">
                <a:solidFill>
                  <a:srgbClr val="003D6C"/>
                </a:solidFill>
                <a:latin typeface="Myriad Pro" panose="020B0503030403020204" pitchFamily="34" charset="0"/>
                <a:cs typeface="Candara"/>
              </a:rPr>
              <a:t>THANK YOU!</a:t>
            </a:r>
            <a:endParaRPr lang="it-IT" sz="10000" dirty="0">
              <a:solidFill>
                <a:srgbClr val="003D6C"/>
              </a:solidFill>
              <a:latin typeface="Myriad Pro" panose="020B0503030403020204" pitchFamily="34" charset="0"/>
              <a:cs typeface="Candara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35C61FE-9C10-1E4C-A3EA-927033625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31" y="6209856"/>
            <a:ext cx="2950475" cy="5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004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600" b="1" dirty="0" smtClean="0">
            <a:latin typeface="Candara"/>
            <a:cs typeface="Candar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20555</TotalTime>
  <Words>553</Words>
  <Application>Microsoft Macintosh PowerPoint</Application>
  <PresentationFormat>Presentazione su schermo (4:3)</PresentationFormat>
  <Paragraphs>154</Paragraphs>
  <Slides>19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9" baseType="lpstr">
      <vt:lpstr>Adobe 고딕 Std B</vt:lpstr>
      <vt:lpstr>Arial Unicode MS</vt:lpstr>
      <vt:lpstr>Arial</vt:lpstr>
      <vt:lpstr>Calibri</vt:lpstr>
      <vt:lpstr>Candara</vt:lpstr>
      <vt:lpstr>DecoType Naskh</vt:lpstr>
      <vt:lpstr>Lucida Grande</vt:lpstr>
      <vt:lpstr>Myriad Pro</vt:lpstr>
      <vt:lpstr>Myriad Pro Semibold</vt:lpstr>
      <vt:lpstr>Tema di Office</vt:lpstr>
      <vt:lpstr>Slice2mesh: meshing sliced data for the simulation of AM processes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Generation of Hexahedral Meshes of Articulated Objects</dc:title>
  <dc:creator>Marco Livesu</dc:creator>
  <cp:lastModifiedBy>Utente di Microsoft Office</cp:lastModifiedBy>
  <cp:revision>2775</cp:revision>
  <dcterms:created xsi:type="dcterms:W3CDTF">2015-05-04T14:19:38Z</dcterms:created>
  <dcterms:modified xsi:type="dcterms:W3CDTF">2018-10-26T16:43:35Z</dcterms:modified>
</cp:coreProperties>
</file>