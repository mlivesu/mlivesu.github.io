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jpeg" ContentType="image/jpeg"/>
  <Default Extension="emf" ContentType="image/x-emf"/>
  <Default Extension="rels" ContentType="application/vnd.openxmlformats-package.relationships+xml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0" r:id="rId2"/>
    <p:sldId id="279" r:id="rId3"/>
    <p:sldId id="259" r:id="rId4"/>
    <p:sldId id="261" r:id="rId5"/>
    <p:sldId id="258" r:id="rId6"/>
    <p:sldId id="266" r:id="rId7"/>
    <p:sldId id="263" r:id="rId8"/>
    <p:sldId id="264" r:id="rId9"/>
    <p:sldId id="267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32" autoAdjust="0"/>
    <p:restoredTop sz="97574" autoAdjust="0"/>
  </p:normalViewPr>
  <p:slideViewPr>
    <p:cSldViewPr snapToGrid="0" snapToObjects="1">
      <p:cViewPr>
        <p:scale>
          <a:sx n="95" d="100"/>
          <a:sy n="95" d="100"/>
        </p:scale>
        <p:origin x="-80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9EE35-3461-4F4E-879C-3F722305200D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AA6A8-0A94-D14E-B2CE-5CFB3A252544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05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AA6A8-0A94-D14E-B2CE-5CFB3A252544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262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708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103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03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4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3992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934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746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7608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772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8182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411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4A2D8-C7BD-894E-A7ED-86C717B15980}" type="datetimeFigureOut">
              <a:rPr lang="it-IT" smtClean="0"/>
              <a:t>27/06/13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EAA54-5905-414C-A00A-5E5BF74CBF89}" type="slidenum">
              <a:rPr lang="it-IT" smtClean="0"/>
              <a:t>‹n.›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661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microsoft.com/office/2007/relationships/hdphoto" Target="../media/hdphoto1.wdp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1" Type="http://schemas.microsoft.com/office/2007/relationships/hdphoto" Target="../media/hdphoto3.wdp"/><Relationship Id="rId12" Type="http://schemas.openxmlformats.org/officeDocument/2006/relationships/image" Target="../media/image16.emf"/><Relationship Id="rId13" Type="http://schemas.openxmlformats.org/officeDocument/2006/relationships/image" Target="../media/image17.png"/><Relationship Id="rId14" Type="http://schemas.microsoft.com/office/2007/relationships/hdphoto" Target="../media/hdphoto4.wdp"/><Relationship Id="rId15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png"/><Relationship Id="rId8" Type="http://schemas.microsoft.com/office/2007/relationships/hdphoto" Target="../media/hdphoto2.wdp"/><Relationship Id="rId9" Type="http://schemas.openxmlformats.org/officeDocument/2006/relationships/image" Target="../media/image14.emf"/><Relationship Id="rId10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4" Type="http://schemas.openxmlformats.org/officeDocument/2006/relationships/image" Target="../media/image21.emf"/><Relationship Id="rId5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30.emf"/><Relationship Id="rId6" Type="http://schemas.openxmlformats.org/officeDocument/2006/relationships/image" Target="../media/image31.emf"/><Relationship Id="rId7" Type="http://schemas.openxmlformats.org/officeDocument/2006/relationships/image" Target="../media/image32.png"/><Relationship Id="rId8" Type="http://schemas.openxmlformats.org/officeDocument/2006/relationships/image" Target="../media/image33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7" Type="http://schemas.openxmlformats.org/officeDocument/2006/relationships/image" Target="../media/image38.emf"/><Relationship Id="rId8" Type="http://schemas.openxmlformats.org/officeDocument/2006/relationships/image" Target="../media/image39.emf"/><Relationship Id="rId9" Type="http://schemas.openxmlformats.org/officeDocument/2006/relationships/image" Target="../media/image40.emf"/><Relationship Id="rId10" Type="http://schemas.openxmlformats.org/officeDocument/2006/relationships/image" Target="../media/image41.emf"/><Relationship Id="rId11" Type="http://schemas.openxmlformats.org/officeDocument/2006/relationships/image" Target="../media/image42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711793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Rigid</a:t>
            </a:r>
            <a:r>
              <a:rPr lang="it-IT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4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Registration</a:t>
            </a:r>
            <a:r>
              <a:rPr lang="it-IT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of </a:t>
            </a:r>
            <a:r>
              <a:rPr lang="it-IT" sz="4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</a:t>
            </a:r>
            <a:r>
              <a:rPr lang="it-IT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4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Poses</a:t>
            </a:r>
            <a:endParaRPr lang="it-IT" sz="40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it-IT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of </a:t>
            </a:r>
            <a:r>
              <a:rPr lang="it-IT" sz="4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Animated</a:t>
            </a:r>
            <a:r>
              <a:rPr lang="it-IT" sz="4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it-IT" sz="40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Shapes</a:t>
            </a:r>
            <a:endParaRPr lang="it-IT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2986365" y="2387648"/>
            <a:ext cx="3201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smtClean="0">
                <a:solidFill>
                  <a:srgbClr val="404040"/>
                </a:solidFill>
              </a:rPr>
              <a:t>M. Livesu and </a:t>
            </a:r>
            <a:r>
              <a:rPr lang="it-IT" sz="2400" dirty="0" err="1" smtClean="0">
                <a:solidFill>
                  <a:srgbClr val="404040"/>
                </a:solidFill>
              </a:rPr>
              <a:t>R</a:t>
            </a:r>
            <a:r>
              <a:rPr lang="it-IT" sz="2400" dirty="0" smtClean="0">
                <a:solidFill>
                  <a:srgbClr val="404040"/>
                </a:solidFill>
              </a:rPr>
              <a:t>. Scateni</a:t>
            </a:r>
            <a:endParaRPr lang="it-IT" sz="2400" dirty="0">
              <a:solidFill>
                <a:srgbClr val="404040"/>
              </a:solidFill>
            </a:endParaRPr>
          </a:p>
        </p:txBody>
      </p:sp>
      <p:pic>
        <p:nvPicPr>
          <p:cNvPr id="5" name="Immagine 4" descr="ar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5" y="2919098"/>
            <a:ext cx="3234770" cy="3561461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3416693" y="3027521"/>
            <a:ext cx="2335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 err="1" smtClean="0">
                <a:solidFill>
                  <a:srgbClr val="404040"/>
                </a:solidFill>
              </a:rPr>
              <a:t>University</a:t>
            </a:r>
            <a:r>
              <a:rPr lang="it-IT" sz="2000" dirty="0" smtClean="0">
                <a:solidFill>
                  <a:srgbClr val="404040"/>
                </a:solidFill>
              </a:rPr>
              <a:t> of Cagliari</a:t>
            </a:r>
            <a:endParaRPr lang="it-IT" sz="200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54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o 11"/>
          <p:cNvGrpSpPr/>
          <p:nvPr/>
        </p:nvGrpSpPr>
        <p:grpSpPr>
          <a:xfrm>
            <a:off x="5026525" y="5108493"/>
            <a:ext cx="3756526" cy="1313244"/>
            <a:chOff x="147056" y="1146853"/>
            <a:chExt cx="3756526" cy="1313244"/>
          </a:xfrm>
        </p:grpSpPr>
        <p:pic>
          <p:nvPicPr>
            <p:cNvPr id="4" name="Immagine 3" descr="Schermata 06-2456452 alle 12.10.33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056" y="1146853"/>
              <a:ext cx="3756526" cy="1033863"/>
            </a:xfrm>
            <a:prstGeom prst="rect">
              <a:avLst/>
            </a:prstGeom>
          </p:spPr>
        </p:pic>
        <p:sp>
          <p:nvSpPr>
            <p:cNvPr id="5" name="CasellaDiTesto 4"/>
            <p:cNvSpPr txBox="1"/>
            <p:nvPr/>
          </p:nvSpPr>
          <p:spPr>
            <a:xfrm>
              <a:off x="1096211" y="2152320"/>
              <a:ext cx="15581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</a:t>
              </a:r>
              <a:r>
                <a:rPr lang="it-IT" sz="1400" dirty="0" err="1" smtClean="0"/>
                <a:t>Thiery</a:t>
              </a:r>
              <a:r>
                <a:rPr lang="it-IT" sz="1400" dirty="0" smtClean="0"/>
                <a:t> et al, 2013]</a:t>
              </a:r>
              <a:endParaRPr lang="it-IT" sz="1400" dirty="0"/>
            </a:p>
          </p:txBody>
        </p:sp>
      </p:grpSp>
      <p:grpSp>
        <p:nvGrpSpPr>
          <p:cNvPr id="13" name="Gruppo 12"/>
          <p:cNvGrpSpPr/>
          <p:nvPr/>
        </p:nvGrpSpPr>
        <p:grpSpPr>
          <a:xfrm>
            <a:off x="5935576" y="1533041"/>
            <a:ext cx="2687053" cy="1072838"/>
            <a:chOff x="-1" y="4231754"/>
            <a:chExt cx="2687053" cy="1072838"/>
          </a:xfrm>
        </p:grpSpPr>
        <p:pic>
          <p:nvPicPr>
            <p:cNvPr id="7" name="Immagine 6" descr="Schermata 06-2456452 alle 12.14.32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4231754"/>
              <a:ext cx="2687053" cy="791797"/>
            </a:xfrm>
            <a:prstGeom prst="rect">
              <a:avLst/>
            </a:prstGeom>
          </p:spPr>
        </p:pic>
        <p:sp>
          <p:nvSpPr>
            <p:cNvPr id="8" name="CasellaDiTesto 7"/>
            <p:cNvSpPr txBox="1"/>
            <p:nvPr/>
          </p:nvSpPr>
          <p:spPr>
            <a:xfrm>
              <a:off x="254000" y="4996815"/>
              <a:ext cx="1814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[De Aguiar et al, 2008]</a:t>
              </a:r>
              <a:endParaRPr lang="it-IT" sz="1400" dirty="0"/>
            </a:p>
          </p:txBody>
        </p:sp>
      </p:grpSp>
      <p:grpSp>
        <p:nvGrpSpPr>
          <p:cNvPr id="11" name="Gruppo 10"/>
          <p:cNvGrpSpPr/>
          <p:nvPr/>
        </p:nvGrpSpPr>
        <p:grpSpPr>
          <a:xfrm>
            <a:off x="230677" y="1234939"/>
            <a:ext cx="3938513" cy="1396290"/>
            <a:chOff x="4145729" y="3143241"/>
            <a:chExt cx="3938513" cy="1396290"/>
          </a:xfrm>
        </p:grpSpPr>
        <p:pic>
          <p:nvPicPr>
            <p:cNvPr id="9" name="Immagine 8" descr="hc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5729" y="3143241"/>
              <a:ext cx="3938513" cy="1084518"/>
            </a:xfrm>
            <a:prstGeom prst="rect">
              <a:avLst/>
            </a:prstGeom>
          </p:spPr>
        </p:pic>
        <p:sp>
          <p:nvSpPr>
            <p:cNvPr id="10" name="CasellaDiTesto 9"/>
            <p:cNvSpPr txBox="1"/>
            <p:nvPr/>
          </p:nvSpPr>
          <p:spPr>
            <a:xfrm>
              <a:off x="4986421" y="4231754"/>
              <a:ext cx="22410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</a:t>
              </a:r>
              <a:r>
                <a:rPr lang="it-IT" sz="1400" dirty="0" err="1" smtClean="0"/>
                <a:t>Sumner</a:t>
              </a:r>
              <a:r>
                <a:rPr lang="it-IT" sz="1400" dirty="0" smtClean="0"/>
                <a:t> and </a:t>
              </a:r>
              <a:r>
                <a:rPr lang="it-IT" sz="1400" dirty="0" err="1" smtClean="0"/>
                <a:t>Popovic</a:t>
              </a:r>
              <a:r>
                <a:rPr lang="it-IT" sz="1400" dirty="0" smtClean="0"/>
                <a:t>, 2004]</a:t>
              </a:r>
              <a:endParaRPr lang="it-IT" sz="1400" dirty="0"/>
            </a:p>
          </p:txBody>
        </p:sp>
      </p:grpSp>
      <p:grpSp>
        <p:nvGrpSpPr>
          <p:cNvPr id="17" name="Gruppo 16"/>
          <p:cNvGrpSpPr/>
          <p:nvPr/>
        </p:nvGrpSpPr>
        <p:grpSpPr>
          <a:xfrm>
            <a:off x="352709" y="4117206"/>
            <a:ext cx="3850915" cy="1972242"/>
            <a:chOff x="3209692" y="3694948"/>
            <a:chExt cx="3850915" cy="1972242"/>
          </a:xfrm>
        </p:grpSpPr>
        <p:grpSp>
          <p:nvGrpSpPr>
            <p:cNvPr id="18" name="Gruppo 17"/>
            <p:cNvGrpSpPr/>
            <p:nvPr/>
          </p:nvGrpSpPr>
          <p:grpSpPr>
            <a:xfrm>
              <a:off x="3209692" y="3694948"/>
              <a:ext cx="3850915" cy="1793479"/>
              <a:chOff x="3209692" y="3694948"/>
              <a:chExt cx="3850915" cy="1793479"/>
            </a:xfrm>
          </p:grpSpPr>
          <p:pic>
            <p:nvPicPr>
              <p:cNvPr id="20" name="Immagine 19" descr="horse_segm_our.png"/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100000">
                            <a14:foregroundMark x1="13781" y1="12827" x2="13781" y2="12827"/>
                            <a14:foregroundMark x1="13781" y1="67539" x2="13781" y2="67539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04623" y="4134623"/>
                <a:ext cx="2455984" cy="1353804"/>
              </a:xfrm>
              <a:prstGeom prst="rect">
                <a:avLst/>
              </a:prstGeom>
            </p:spPr>
          </p:pic>
          <p:pic>
            <p:nvPicPr>
              <p:cNvPr id="21" name="Immagine 20" descr="multi_poses.png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9692" y="3694948"/>
                <a:ext cx="1674550" cy="1260752"/>
              </a:xfrm>
              <a:prstGeom prst="rect">
                <a:avLst/>
              </a:prstGeom>
            </p:spPr>
          </p:pic>
        </p:grpSp>
        <p:sp>
          <p:nvSpPr>
            <p:cNvPr id="19" name="CasellaDiTesto 18"/>
            <p:cNvSpPr txBox="1"/>
            <p:nvPr/>
          </p:nvSpPr>
          <p:spPr>
            <a:xfrm>
              <a:off x="4150111" y="5359413"/>
              <a:ext cx="16228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[Marras et al, 2012]</a:t>
              </a:r>
              <a:endParaRPr lang="it-IT" sz="1400" dirty="0"/>
            </a:p>
          </p:txBody>
        </p:sp>
      </p:grpSp>
      <p:sp>
        <p:nvSpPr>
          <p:cNvPr id="23" name="CasellaDiTesto 22"/>
          <p:cNvSpPr txBox="1"/>
          <p:nvPr/>
        </p:nvSpPr>
        <p:spPr>
          <a:xfrm>
            <a:off x="167459" y="209351"/>
            <a:ext cx="208202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 smtClean="0">
                <a:solidFill>
                  <a:srgbClr val="404040"/>
                </a:solidFill>
              </a:rPr>
              <a:t>Motivation</a:t>
            </a:r>
            <a:endParaRPr lang="it-IT" sz="3200" b="1" dirty="0">
              <a:solidFill>
                <a:srgbClr val="404040"/>
              </a:solidFill>
            </a:endParaRPr>
          </a:p>
        </p:txBody>
      </p:sp>
      <p:grpSp>
        <p:nvGrpSpPr>
          <p:cNvPr id="3" name="Gruppo 2"/>
          <p:cNvGrpSpPr/>
          <p:nvPr/>
        </p:nvGrpSpPr>
        <p:grpSpPr>
          <a:xfrm>
            <a:off x="3089723" y="3063776"/>
            <a:ext cx="3632974" cy="1551278"/>
            <a:chOff x="3089723" y="3063776"/>
            <a:chExt cx="3632974" cy="1551278"/>
          </a:xfrm>
        </p:grpSpPr>
        <p:sp>
          <p:nvSpPr>
            <p:cNvPr id="16" name="CasellaDiTesto 15"/>
            <p:cNvSpPr txBox="1"/>
            <p:nvPr/>
          </p:nvSpPr>
          <p:spPr>
            <a:xfrm>
              <a:off x="4121264" y="4307277"/>
              <a:ext cx="16719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</a:t>
              </a:r>
              <a:r>
                <a:rPr lang="it-IT" sz="1400" dirty="0" err="1" smtClean="0"/>
                <a:t>Winkler</a:t>
              </a:r>
              <a:r>
                <a:rPr lang="it-IT" sz="1400" dirty="0" smtClean="0"/>
                <a:t> et al, 2010]</a:t>
              </a:r>
              <a:endParaRPr lang="it-IT" sz="1400" dirty="0"/>
            </a:p>
          </p:txBody>
        </p:sp>
        <p:pic>
          <p:nvPicPr>
            <p:cNvPr id="2" name="Immagine 1" descr="Senza titolo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9723" y="3063776"/>
              <a:ext cx="3632974" cy="1243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4983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348404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 smtClean="0">
                <a:solidFill>
                  <a:srgbClr val="404040"/>
                </a:solidFill>
              </a:rPr>
              <a:t>Problem</a:t>
            </a:r>
            <a:r>
              <a:rPr lang="it-IT" sz="3200" b="1" dirty="0" smtClean="0">
                <a:solidFill>
                  <a:srgbClr val="404040"/>
                </a:solidFill>
              </a:rPr>
              <a:t> statement</a:t>
            </a:r>
            <a:endParaRPr lang="it-IT" sz="3200" b="1" dirty="0">
              <a:solidFill>
                <a:srgbClr val="404040"/>
              </a:solidFill>
            </a:endParaRPr>
          </a:p>
        </p:txBody>
      </p:sp>
      <p:grpSp>
        <p:nvGrpSpPr>
          <p:cNvPr id="34" name="Gruppo 33"/>
          <p:cNvGrpSpPr/>
          <p:nvPr/>
        </p:nvGrpSpPr>
        <p:grpSpPr>
          <a:xfrm>
            <a:off x="908902" y="4596873"/>
            <a:ext cx="1834767" cy="1535545"/>
            <a:chOff x="2010607" y="3911172"/>
            <a:chExt cx="1834767" cy="1535545"/>
          </a:xfrm>
        </p:grpSpPr>
        <p:pic>
          <p:nvPicPr>
            <p:cNvPr id="13" name="Immagine 12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3604" y="3911172"/>
              <a:ext cx="1801770" cy="678589"/>
            </a:xfrm>
            <a:prstGeom prst="rect">
              <a:avLst/>
            </a:prstGeom>
          </p:spPr>
        </p:pic>
        <p:pic>
          <p:nvPicPr>
            <p:cNvPr id="14" name="Immagine 13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2067" y="5230717"/>
              <a:ext cx="628941" cy="216000"/>
            </a:xfrm>
            <a:prstGeom prst="rect">
              <a:avLst/>
            </a:prstGeom>
          </p:spPr>
        </p:pic>
        <p:pic>
          <p:nvPicPr>
            <p:cNvPr id="15" name="Immagine 14" descr="latex-image-1.pdf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0607" y="4798917"/>
              <a:ext cx="933882" cy="216000"/>
            </a:xfrm>
            <a:prstGeom prst="rect">
              <a:avLst/>
            </a:prstGeom>
          </p:spPr>
        </p:pic>
      </p:grpSp>
      <p:grpSp>
        <p:nvGrpSpPr>
          <p:cNvPr id="23" name="Gruppo 22"/>
          <p:cNvGrpSpPr/>
          <p:nvPr/>
        </p:nvGrpSpPr>
        <p:grpSpPr>
          <a:xfrm>
            <a:off x="912706" y="1204851"/>
            <a:ext cx="3621549" cy="1948043"/>
            <a:chOff x="1191705" y="933697"/>
            <a:chExt cx="3621549" cy="1948043"/>
          </a:xfrm>
        </p:grpSpPr>
        <p:grpSp>
          <p:nvGrpSpPr>
            <p:cNvPr id="19" name="Gruppo 18"/>
            <p:cNvGrpSpPr/>
            <p:nvPr/>
          </p:nvGrpSpPr>
          <p:grpSpPr>
            <a:xfrm>
              <a:off x="1191705" y="933697"/>
              <a:ext cx="1571379" cy="1948043"/>
              <a:chOff x="1191705" y="933697"/>
              <a:chExt cx="1571379" cy="1948043"/>
            </a:xfrm>
          </p:grpSpPr>
          <p:pic>
            <p:nvPicPr>
              <p:cNvPr id="6" name="Immagine 5" descr="latex-image-1.pdf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42896" y="2665740"/>
                <a:ext cx="1091675" cy="216000"/>
              </a:xfrm>
              <a:prstGeom prst="rect">
                <a:avLst/>
              </a:prstGeom>
            </p:spPr>
          </p:pic>
          <p:pic>
            <p:nvPicPr>
              <p:cNvPr id="16" name="Immagine 15" descr="Schermata 05-2456442 alle 16.10.11.png"/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91705" y="933697"/>
                <a:ext cx="1571379" cy="1612641"/>
              </a:xfrm>
              <a:prstGeom prst="rect">
                <a:avLst/>
              </a:prstGeom>
            </p:spPr>
          </p:pic>
        </p:grpSp>
        <p:grpSp>
          <p:nvGrpSpPr>
            <p:cNvPr id="20" name="Gruppo 19"/>
            <p:cNvGrpSpPr/>
            <p:nvPr/>
          </p:nvGrpSpPr>
          <p:grpSpPr>
            <a:xfrm>
              <a:off x="2797973" y="1268665"/>
              <a:ext cx="2015281" cy="1613075"/>
              <a:chOff x="2797973" y="1268665"/>
              <a:chExt cx="2015281" cy="1613075"/>
            </a:xfrm>
          </p:grpSpPr>
          <p:pic>
            <p:nvPicPr>
              <p:cNvPr id="10" name="Immagine 9" descr="latex-image-1.pdf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7374" y="2665740"/>
                <a:ext cx="1185231" cy="216000"/>
              </a:xfrm>
              <a:prstGeom prst="rect">
                <a:avLst/>
              </a:prstGeom>
            </p:spPr>
          </p:pic>
          <p:pic>
            <p:nvPicPr>
              <p:cNvPr id="18" name="Immagine 17" descr="Schermata 05-2456442 alle 16.10.03.png"/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97973" y="1268665"/>
                <a:ext cx="2015281" cy="1397075"/>
              </a:xfrm>
              <a:prstGeom prst="rect">
                <a:avLst/>
              </a:prstGeom>
            </p:spPr>
          </p:pic>
        </p:grpSp>
      </p:grpSp>
      <p:grpSp>
        <p:nvGrpSpPr>
          <p:cNvPr id="33" name="Gruppo 32"/>
          <p:cNvGrpSpPr/>
          <p:nvPr/>
        </p:nvGrpSpPr>
        <p:grpSpPr>
          <a:xfrm>
            <a:off x="3579371" y="1389331"/>
            <a:ext cx="3734615" cy="4532776"/>
            <a:chOff x="3292240" y="1389331"/>
            <a:chExt cx="4576654" cy="4532776"/>
          </a:xfrm>
        </p:grpSpPr>
        <p:pic>
          <p:nvPicPr>
            <p:cNvPr id="12" name="Immagine 11" descr="latex-image-1.pdf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180" y="1389331"/>
              <a:ext cx="2614714" cy="262144"/>
            </a:xfrm>
            <a:prstGeom prst="rect">
              <a:avLst/>
            </a:prstGeom>
          </p:spPr>
        </p:pic>
        <p:sp>
          <p:nvSpPr>
            <p:cNvPr id="32" name="Freccia ad arco 31"/>
            <p:cNvSpPr/>
            <p:nvPr/>
          </p:nvSpPr>
          <p:spPr>
            <a:xfrm rot="277166">
              <a:off x="3292240" y="1552602"/>
              <a:ext cx="4369505" cy="4369505"/>
            </a:xfrm>
            <a:prstGeom prst="circularArrow">
              <a:avLst>
                <a:gd name="adj1" fmla="val 3071"/>
                <a:gd name="adj2" fmla="val 859239"/>
                <a:gd name="adj3" fmla="val 20435716"/>
                <a:gd name="adj4" fmla="val 14648802"/>
                <a:gd name="adj5" fmla="val 7668"/>
              </a:avLst>
            </a:prstGeom>
            <a:solidFill>
              <a:srgbClr val="558ED5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</p:grpSp>
      <p:pic>
        <p:nvPicPr>
          <p:cNvPr id="35" name="Immagine 34" descr="camels.png"/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100000" l="0" r="100000">
                        <a14:foregroundMark x1="60486" y1="93359" x2="60486" y2="93359"/>
                        <a14:foregroundMark x1="19693" y1="95117" x2="19693" y2="951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243" y="3846270"/>
            <a:ext cx="4557313" cy="2983816"/>
          </a:xfrm>
          <a:prstGeom prst="rect">
            <a:avLst/>
          </a:prstGeom>
        </p:spPr>
      </p:pic>
      <p:grpSp>
        <p:nvGrpSpPr>
          <p:cNvPr id="5" name="Gruppo 4"/>
          <p:cNvGrpSpPr/>
          <p:nvPr/>
        </p:nvGrpSpPr>
        <p:grpSpPr>
          <a:xfrm>
            <a:off x="831337" y="3860227"/>
            <a:ext cx="2276343" cy="461665"/>
            <a:chOff x="831337" y="3860227"/>
            <a:chExt cx="2276343" cy="461665"/>
          </a:xfrm>
        </p:grpSpPr>
        <p:pic>
          <p:nvPicPr>
            <p:cNvPr id="3" name="Immagine 2" descr="latex-image-1.pdf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337" y="3937808"/>
              <a:ext cx="299519" cy="287999"/>
            </a:xfrm>
            <a:prstGeom prst="rect">
              <a:avLst/>
            </a:prstGeom>
          </p:spPr>
        </p:pic>
        <p:sp>
          <p:nvSpPr>
            <p:cNvPr id="4" name="CasellaDiTesto 3"/>
            <p:cNvSpPr txBox="1"/>
            <p:nvPr/>
          </p:nvSpPr>
          <p:spPr>
            <a:xfrm>
              <a:off x="1139636" y="3860227"/>
              <a:ext cx="19680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 err="1"/>
                <a:t>i</a:t>
              </a:r>
              <a:r>
                <a:rPr lang="it-IT" sz="2400" dirty="0" err="1" smtClean="0"/>
                <a:t>s</a:t>
              </a:r>
              <a:r>
                <a:rPr lang="it-IT" sz="2400" dirty="0" smtClean="0"/>
                <a:t> an </a:t>
              </a:r>
              <a:r>
                <a:rPr lang="it-IT" sz="2400" i="1" dirty="0" err="1" smtClean="0">
                  <a:solidFill>
                    <a:srgbClr val="FF0000"/>
                  </a:solidFill>
                </a:rPr>
                <a:t>isometry</a:t>
              </a:r>
              <a:endParaRPr lang="it-IT" sz="2400" i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154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horse8_9A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427" y="3088114"/>
            <a:ext cx="5797116" cy="3158616"/>
          </a:xfrm>
          <a:prstGeom prst="rect">
            <a:avLst/>
          </a:prstGeom>
        </p:spPr>
      </p:pic>
      <p:sp>
        <p:nvSpPr>
          <p:cNvPr id="2" name="CasellaDiTesto 1"/>
          <p:cNvSpPr txBox="1"/>
          <p:nvPr/>
        </p:nvSpPr>
        <p:spPr>
          <a:xfrm>
            <a:off x="167459" y="209351"/>
            <a:ext cx="201790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 smtClean="0">
                <a:solidFill>
                  <a:srgbClr val="404040"/>
                </a:solidFill>
              </a:rPr>
              <a:t>Challenges</a:t>
            </a:r>
            <a:endParaRPr lang="it-IT" sz="3200" b="1" dirty="0">
              <a:solidFill>
                <a:srgbClr val="404040"/>
              </a:solidFill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320964" y="1111458"/>
            <a:ext cx="4172937" cy="1409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t-IT" sz="2400" dirty="0" err="1" smtClean="0"/>
              <a:t>Poses</a:t>
            </a:r>
            <a:r>
              <a:rPr lang="it-IT" sz="2400" dirty="0" smtClean="0"/>
              <a:t> do </a:t>
            </a:r>
            <a:r>
              <a:rPr lang="it-IT" sz="2400" dirty="0" err="1" smtClean="0"/>
              <a:t>not</a:t>
            </a:r>
            <a:r>
              <a:rPr lang="it-IT" sz="2400" dirty="0" smtClean="0"/>
              <a:t> match </a:t>
            </a:r>
            <a:r>
              <a:rPr lang="it-IT" sz="2400" dirty="0" err="1" smtClean="0"/>
              <a:t>perfectly</a:t>
            </a:r>
            <a:endParaRPr lang="it-IT" sz="2400" dirty="0" smtClean="0"/>
          </a:p>
          <a:p>
            <a:pPr marL="800100" lvl="1" indent="-342900">
              <a:lnSpc>
                <a:spcPct val="120000"/>
              </a:lnSpc>
              <a:buFont typeface="Arial"/>
              <a:buChar char="•"/>
            </a:pPr>
            <a:r>
              <a:rPr lang="it-IT" sz="2400" dirty="0" smtClean="0"/>
              <a:t>Focus on </a:t>
            </a:r>
            <a:r>
              <a:rPr lang="it-IT" sz="2400" i="1" dirty="0" err="1" smtClean="0">
                <a:solidFill>
                  <a:srgbClr val="FF0000"/>
                </a:solidFill>
              </a:rPr>
              <a:t>rigid</a:t>
            </a:r>
            <a:r>
              <a:rPr lang="it-IT" sz="2400" dirty="0" smtClean="0"/>
              <a:t> </a:t>
            </a:r>
            <a:r>
              <a:rPr lang="it-IT" sz="2400" dirty="0" err="1" smtClean="0"/>
              <a:t>areas</a:t>
            </a:r>
            <a:endParaRPr lang="it-IT" sz="2400" dirty="0" smtClean="0"/>
          </a:p>
          <a:p>
            <a:pPr marL="800100" lvl="1" indent="-342900">
              <a:lnSpc>
                <a:spcPct val="120000"/>
              </a:lnSpc>
              <a:buFont typeface="Arial"/>
              <a:buChar char="•"/>
            </a:pPr>
            <a:r>
              <a:rPr lang="it-IT" sz="2400" dirty="0" smtClean="0"/>
              <a:t>Focus on a </a:t>
            </a:r>
            <a:r>
              <a:rPr lang="it-IT" sz="2400" i="1" dirty="0" smtClean="0">
                <a:solidFill>
                  <a:srgbClr val="FF0000"/>
                </a:solidFill>
              </a:rPr>
              <a:t>compact</a:t>
            </a:r>
            <a:r>
              <a:rPr lang="it-IT" sz="2400" dirty="0" smtClean="0"/>
              <a:t> area</a:t>
            </a:r>
            <a:endParaRPr lang="it-IT" sz="2400" dirty="0"/>
          </a:p>
        </p:txBody>
      </p:sp>
      <p:grpSp>
        <p:nvGrpSpPr>
          <p:cNvPr id="17" name="Gruppo 16"/>
          <p:cNvGrpSpPr/>
          <p:nvPr/>
        </p:nvGrpSpPr>
        <p:grpSpPr>
          <a:xfrm>
            <a:off x="2698981" y="3026425"/>
            <a:ext cx="6100744" cy="2361058"/>
            <a:chOff x="2700649" y="3029727"/>
            <a:chExt cx="5339761" cy="2066545"/>
          </a:xfrm>
        </p:grpSpPr>
        <p:sp>
          <p:nvSpPr>
            <p:cNvPr id="5" name="Ovale 4"/>
            <p:cNvSpPr/>
            <p:nvPr/>
          </p:nvSpPr>
          <p:spPr>
            <a:xfrm>
              <a:off x="2700649" y="3029727"/>
              <a:ext cx="904192" cy="904191"/>
            </a:xfrm>
            <a:prstGeom prst="ellipse">
              <a:avLst/>
            </a:prstGeom>
            <a:noFill/>
            <a:ln w="38100" cmpd="sng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" name="Ovale 6"/>
            <p:cNvSpPr/>
            <p:nvPr/>
          </p:nvSpPr>
          <p:spPr>
            <a:xfrm>
              <a:off x="7136218" y="4192081"/>
              <a:ext cx="904192" cy="904191"/>
            </a:xfrm>
            <a:prstGeom prst="ellipse">
              <a:avLst/>
            </a:prstGeom>
            <a:noFill/>
            <a:ln w="38100" cmpd="sng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16" name="Gruppo 15"/>
          <p:cNvGrpSpPr/>
          <p:nvPr/>
        </p:nvGrpSpPr>
        <p:grpSpPr>
          <a:xfrm>
            <a:off x="4251926" y="4445870"/>
            <a:ext cx="2819965" cy="1964114"/>
            <a:chOff x="3827045" y="4632898"/>
            <a:chExt cx="2697977" cy="1340792"/>
          </a:xfrm>
        </p:grpSpPr>
        <p:sp>
          <p:nvSpPr>
            <p:cNvPr id="6" name="Ovale 5"/>
            <p:cNvSpPr/>
            <p:nvPr/>
          </p:nvSpPr>
          <p:spPr>
            <a:xfrm>
              <a:off x="3827045" y="4661731"/>
              <a:ext cx="1311959" cy="1311959"/>
            </a:xfrm>
            <a:prstGeom prst="ellipse">
              <a:avLst/>
            </a:prstGeom>
            <a:noFill/>
            <a:ln w="38100" cmpd="sng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8" name="Ovale 7"/>
            <p:cNvSpPr/>
            <p:nvPr/>
          </p:nvSpPr>
          <p:spPr>
            <a:xfrm>
              <a:off x="5213063" y="4632898"/>
              <a:ext cx="1311959" cy="1311959"/>
            </a:xfrm>
            <a:prstGeom prst="ellipse">
              <a:avLst/>
            </a:prstGeom>
            <a:noFill/>
            <a:ln w="38100" cmpd="sng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18" name="Gruppo 17"/>
          <p:cNvGrpSpPr/>
          <p:nvPr/>
        </p:nvGrpSpPr>
        <p:grpSpPr>
          <a:xfrm>
            <a:off x="2819294" y="2406942"/>
            <a:ext cx="5348807" cy="3367206"/>
            <a:chOff x="2819294" y="2406942"/>
            <a:chExt cx="5348807" cy="3367206"/>
          </a:xfrm>
        </p:grpSpPr>
        <p:sp>
          <p:nvSpPr>
            <p:cNvPr id="11" name="Arco 10"/>
            <p:cNvSpPr/>
            <p:nvPr/>
          </p:nvSpPr>
          <p:spPr>
            <a:xfrm>
              <a:off x="2819294" y="2797522"/>
              <a:ext cx="5348807" cy="2976626"/>
            </a:xfrm>
            <a:prstGeom prst="arc">
              <a:avLst>
                <a:gd name="adj1" fmla="val 12595052"/>
                <a:gd name="adj2" fmla="val 129281"/>
              </a:avLst>
            </a:prstGeom>
            <a:noFill/>
            <a:ln w="38100" cmpd="sng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latex-image-1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9063" y="2406942"/>
              <a:ext cx="306581" cy="288000"/>
            </a:xfrm>
            <a:prstGeom prst="rect">
              <a:avLst/>
            </a:prstGeom>
            <a:noFill/>
          </p:spPr>
        </p:pic>
      </p:grpSp>
      <p:grpSp>
        <p:nvGrpSpPr>
          <p:cNvPr id="19" name="Gruppo 18"/>
          <p:cNvGrpSpPr/>
          <p:nvPr/>
        </p:nvGrpSpPr>
        <p:grpSpPr>
          <a:xfrm>
            <a:off x="5106674" y="3368842"/>
            <a:ext cx="1189849" cy="2043144"/>
            <a:chOff x="4780596" y="5905297"/>
            <a:chExt cx="1189849" cy="2043144"/>
          </a:xfrm>
        </p:grpSpPr>
        <p:sp>
          <p:nvSpPr>
            <p:cNvPr id="13" name="Arco 12"/>
            <p:cNvSpPr/>
            <p:nvPr/>
          </p:nvSpPr>
          <p:spPr>
            <a:xfrm>
              <a:off x="4780596" y="6292978"/>
              <a:ext cx="1189849" cy="1655463"/>
            </a:xfrm>
            <a:prstGeom prst="arc">
              <a:avLst>
                <a:gd name="adj1" fmla="val 11138359"/>
                <a:gd name="adj2" fmla="val 20823910"/>
              </a:avLst>
            </a:prstGeom>
            <a:noFill/>
            <a:ln w="38100" cmpd="sng">
              <a:solidFill>
                <a:schemeClr val="accent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4" name="Immagine 13" descr="latex-image-1.pd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1841" y="5905297"/>
              <a:ext cx="315871" cy="288000"/>
            </a:xfrm>
            <a:prstGeom prst="rect">
              <a:avLst/>
            </a:prstGeom>
          </p:spPr>
        </p:pic>
      </p:grpSp>
      <p:pic>
        <p:nvPicPr>
          <p:cNvPr id="15" name="Immagine 14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16" y="4547109"/>
            <a:ext cx="124941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553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27622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smtClean="0">
                <a:solidFill>
                  <a:srgbClr val="404040"/>
                </a:solidFill>
              </a:rPr>
              <a:t>State of the art</a:t>
            </a:r>
            <a:endParaRPr lang="it-IT" sz="3200" b="1" dirty="0">
              <a:solidFill>
                <a:srgbClr val="404040"/>
              </a:solidFill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320964" y="3299421"/>
            <a:ext cx="297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/>
              <a:t>PCA</a:t>
            </a:r>
            <a:r>
              <a:rPr lang="it-IT" sz="2400" dirty="0"/>
              <a:t> </a:t>
            </a:r>
            <a:r>
              <a:rPr lang="it-IT" sz="2400" dirty="0" err="1" smtClean="0"/>
              <a:t>based</a:t>
            </a:r>
            <a:r>
              <a:rPr lang="it-IT" sz="2400" dirty="0" smtClean="0"/>
              <a:t> </a:t>
            </a:r>
            <a:r>
              <a:rPr lang="it-IT" sz="2400" dirty="0" err="1" smtClean="0"/>
              <a:t>algorithms</a:t>
            </a:r>
            <a:endParaRPr lang="it-IT" sz="2400" dirty="0" smtClean="0"/>
          </a:p>
        </p:txBody>
      </p:sp>
      <p:grpSp>
        <p:nvGrpSpPr>
          <p:cNvPr id="6" name="Gruppo 5"/>
          <p:cNvGrpSpPr/>
          <p:nvPr/>
        </p:nvGrpSpPr>
        <p:grpSpPr>
          <a:xfrm>
            <a:off x="3622469" y="3244887"/>
            <a:ext cx="2350261" cy="1451867"/>
            <a:chOff x="5227292" y="2302864"/>
            <a:chExt cx="2350261" cy="1451867"/>
          </a:xfrm>
        </p:grpSpPr>
        <p:pic>
          <p:nvPicPr>
            <p:cNvPr id="4" name="Immagine 3" descr="Schermata 05-2456442 alle 11.31.2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27292" y="2302864"/>
              <a:ext cx="2350261" cy="1119992"/>
            </a:xfrm>
            <a:prstGeom prst="rect">
              <a:avLst/>
            </a:prstGeom>
          </p:spPr>
        </p:pic>
        <p:sp>
          <p:nvSpPr>
            <p:cNvPr id="5" name="CasellaDiTesto 4"/>
            <p:cNvSpPr txBox="1"/>
            <p:nvPr/>
          </p:nvSpPr>
          <p:spPr>
            <a:xfrm>
              <a:off x="5526171" y="3446954"/>
              <a:ext cx="17372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</a:t>
              </a:r>
              <a:r>
                <a:rPr lang="it-IT" sz="1400" dirty="0" err="1" smtClean="0"/>
                <a:t>Chaouch</a:t>
              </a:r>
              <a:r>
                <a:rPr lang="it-IT" sz="1400" dirty="0" smtClean="0"/>
                <a:t> et al, 2008] </a:t>
              </a:r>
              <a:endParaRPr lang="it-IT" sz="1400" dirty="0"/>
            </a:p>
          </p:txBody>
        </p:sp>
      </p:grpSp>
      <p:grpSp>
        <p:nvGrpSpPr>
          <p:cNvPr id="9" name="Gruppo 8"/>
          <p:cNvGrpSpPr/>
          <p:nvPr/>
        </p:nvGrpSpPr>
        <p:grpSpPr>
          <a:xfrm>
            <a:off x="5658635" y="5213162"/>
            <a:ext cx="3213916" cy="1393367"/>
            <a:chOff x="167459" y="3594587"/>
            <a:chExt cx="3213916" cy="1393367"/>
          </a:xfrm>
        </p:grpSpPr>
        <p:pic>
          <p:nvPicPr>
            <p:cNvPr id="7" name="Immagine 6" descr="overlapping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459" y="3594587"/>
              <a:ext cx="3213916" cy="1057676"/>
            </a:xfrm>
            <a:prstGeom prst="rect">
              <a:avLst/>
            </a:prstGeom>
          </p:spPr>
        </p:pic>
        <p:sp>
          <p:nvSpPr>
            <p:cNvPr id="8" name="CasellaDiTesto 7"/>
            <p:cNvSpPr txBox="1"/>
            <p:nvPr/>
          </p:nvSpPr>
          <p:spPr>
            <a:xfrm>
              <a:off x="1032666" y="4680177"/>
              <a:ext cx="14834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[</a:t>
              </a:r>
              <a:r>
                <a:rPr lang="it-IT" sz="1400" dirty="0" err="1" smtClean="0"/>
                <a:t>Aiger</a:t>
              </a:r>
              <a:r>
                <a:rPr lang="it-IT" sz="1400" dirty="0" smtClean="0"/>
                <a:t> et al, 2008]</a:t>
              </a:r>
              <a:endParaRPr lang="it-IT" sz="1400" dirty="0"/>
            </a:p>
          </p:txBody>
        </p:sp>
      </p:grpSp>
      <p:sp>
        <p:nvSpPr>
          <p:cNvPr id="10" name="CasellaDiTesto 9"/>
          <p:cNvSpPr txBox="1"/>
          <p:nvPr/>
        </p:nvSpPr>
        <p:spPr>
          <a:xfrm>
            <a:off x="320964" y="1459026"/>
            <a:ext cx="28030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smtClean="0"/>
              <a:t>ICP </a:t>
            </a:r>
            <a:r>
              <a:rPr lang="it-IT" sz="2400" dirty="0" err="1" smtClean="0"/>
              <a:t>based</a:t>
            </a:r>
            <a:r>
              <a:rPr lang="it-IT" sz="2400" dirty="0" smtClean="0"/>
              <a:t> </a:t>
            </a:r>
            <a:r>
              <a:rPr lang="it-IT" sz="2400" dirty="0" err="1" smtClean="0"/>
              <a:t>algorithms</a:t>
            </a:r>
            <a:endParaRPr lang="it-IT" sz="24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20964" y="5129159"/>
            <a:ext cx="3141605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Randomized</a:t>
            </a:r>
            <a:r>
              <a:rPr lang="it-IT" sz="2400" dirty="0"/>
              <a:t> </a:t>
            </a:r>
            <a:r>
              <a:rPr lang="it-IT" sz="2400" dirty="0" err="1"/>
              <a:t>algorithms</a:t>
            </a:r>
            <a:endParaRPr lang="it-IT" sz="2400" dirty="0"/>
          </a:p>
        </p:txBody>
      </p:sp>
      <p:sp>
        <p:nvSpPr>
          <p:cNvPr id="15" name="CasellaDiTesto 14"/>
          <p:cNvSpPr txBox="1"/>
          <p:nvPr/>
        </p:nvSpPr>
        <p:spPr>
          <a:xfrm>
            <a:off x="1646688" y="2048415"/>
            <a:ext cx="92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rgbClr val="FF0000"/>
                </a:solidFill>
              </a:rPr>
              <a:t>Global!</a:t>
            </a:r>
            <a:endParaRPr lang="it-IT" i="1" dirty="0">
              <a:solidFill>
                <a:srgbClr val="FF0000"/>
              </a:solidFill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1627300" y="2417747"/>
            <a:ext cx="3021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err="1" smtClean="0">
                <a:solidFill>
                  <a:srgbClr val="FF0000"/>
                </a:solidFill>
              </a:rPr>
              <a:t>Require</a:t>
            </a:r>
            <a:r>
              <a:rPr lang="it-IT" i="1" dirty="0" smtClean="0">
                <a:solidFill>
                  <a:srgbClr val="FF0000"/>
                </a:solidFill>
              </a:rPr>
              <a:t> a </a:t>
            </a:r>
            <a:r>
              <a:rPr lang="it-IT" i="1" dirty="0" err="1" smtClean="0">
                <a:solidFill>
                  <a:srgbClr val="FF0000"/>
                </a:solidFill>
              </a:rPr>
              <a:t>good</a:t>
            </a:r>
            <a:r>
              <a:rPr lang="it-IT" i="1" dirty="0" smtClean="0">
                <a:solidFill>
                  <a:srgbClr val="FF0000"/>
                </a:solidFill>
              </a:rPr>
              <a:t> start </a:t>
            </a:r>
            <a:r>
              <a:rPr lang="it-IT" i="1" dirty="0" err="1" smtClean="0">
                <a:solidFill>
                  <a:srgbClr val="FF0000"/>
                </a:solidFill>
              </a:rPr>
              <a:t>solution</a:t>
            </a:r>
            <a:r>
              <a:rPr lang="it-IT" i="1" dirty="0" smtClean="0">
                <a:solidFill>
                  <a:srgbClr val="FF0000"/>
                </a:solidFill>
              </a:rPr>
              <a:t>!</a:t>
            </a:r>
            <a:endParaRPr lang="it-IT" i="1" dirty="0">
              <a:solidFill>
                <a:srgbClr val="FF0000"/>
              </a:solidFill>
            </a:endParaRPr>
          </a:p>
        </p:txBody>
      </p:sp>
      <p:sp>
        <p:nvSpPr>
          <p:cNvPr id="17" name="CasellaDiTesto 16"/>
          <p:cNvSpPr txBox="1"/>
          <p:nvPr/>
        </p:nvSpPr>
        <p:spPr>
          <a:xfrm>
            <a:off x="1646688" y="3970821"/>
            <a:ext cx="92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smtClean="0">
                <a:solidFill>
                  <a:srgbClr val="FF0000"/>
                </a:solidFill>
              </a:rPr>
              <a:t>Global!</a:t>
            </a:r>
            <a:endParaRPr lang="it-IT" i="1" dirty="0">
              <a:solidFill>
                <a:srgbClr val="FF0000"/>
              </a:solidFill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1646688" y="5731873"/>
            <a:ext cx="3503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err="1" smtClean="0">
                <a:solidFill>
                  <a:srgbClr val="FF0000"/>
                </a:solidFill>
              </a:rPr>
              <a:t>Requires</a:t>
            </a:r>
            <a:r>
              <a:rPr lang="it-IT" i="1" dirty="0" smtClean="0">
                <a:solidFill>
                  <a:srgbClr val="FF0000"/>
                </a:solidFill>
              </a:rPr>
              <a:t> high </a:t>
            </a:r>
            <a:r>
              <a:rPr lang="it-IT" i="1" dirty="0" err="1" smtClean="0">
                <a:solidFill>
                  <a:srgbClr val="FF0000"/>
                </a:solidFill>
              </a:rPr>
              <a:t>overlapping</a:t>
            </a:r>
            <a:r>
              <a:rPr lang="it-IT" i="1" dirty="0" smtClean="0">
                <a:solidFill>
                  <a:srgbClr val="FF0000"/>
                </a:solidFill>
              </a:rPr>
              <a:t> (&gt; 40%)!</a:t>
            </a:r>
            <a:endParaRPr lang="it-IT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54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256893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smtClean="0">
                <a:solidFill>
                  <a:srgbClr val="404040"/>
                </a:solidFill>
              </a:rPr>
              <a:t>The </a:t>
            </a:r>
            <a:r>
              <a:rPr lang="it-IT" sz="3200" b="1" dirty="0" err="1" smtClean="0">
                <a:solidFill>
                  <a:srgbClr val="404040"/>
                </a:solidFill>
              </a:rPr>
              <a:t>algorithm</a:t>
            </a:r>
            <a:endParaRPr lang="it-IT" sz="3200" b="1" dirty="0">
              <a:solidFill>
                <a:srgbClr val="404040"/>
              </a:solidFill>
            </a:endParaRPr>
          </a:p>
        </p:txBody>
      </p:sp>
      <p:grpSp>
        <p:nvGrpSpPr>
          <p:cNvPr id="14" name="Gruppo 13"/>
          <p:cNvGrpSpPr/>
          <p:nvPr/>
        </p:nvGrpSpPr>
        <p:grpSpPr>
          <a:xfrm>
            <a:off x="3569370" y="2479699"/>
            <a:ext cx="5457780" cy="1442054"/>
            <a:chOff x="2624274" y="3896734"/>
            <a:chExt cx="5457780" cy="1442054"/>
          </a:xfrm>
        </p:grpSpPr>
        <p:sp>
          <p:nvSpPr>
            <p:cNvPr id="5" name="CasellaDiTesto 4"/>
            <p:cNvSpPr txBox="1"/>
            <p:nvPr/>
          </p:nvSpPr>
          <p:spPr>
            <a:xfrm>
              <a:off x="4251483" y="4547101"/>
              <a:ext cx="383057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200" dirty="0" smtClean="0"/>
                <a:t>Select a </a:t>
              </a:r>
              <a:r>
                <a:rPr lang="it-IT" sz="2200" dirty="0" err="1" smtClean="0"/>
                <a:t>Region</a:t>
              </a:r>
              <a:r>
                <a:rPr lang="it-IT" sz="2200" dirty="0" smtClean="0"/>
                <a:t> of </a:t>
              </a:r>
              <a:r>
                <a:rPr lang="it-IT" sz="2200" dirty="0" err="1" smtClean="0"/>
                <a:t>Interest</a:t>
              </a:r>
              <a:r>
                <a:rPr lang="it-IT" sz="2200" dirty="0" smtClean="0"/>
                <a:t> (ROI)</a:t>
              </a:r>
              <a:endParaRPr lang="it-IT" sz="2200" dirty="0"/>
            </a:p>
          </p:txBody>
        </p:sp>
        <p:pic>
          <p:nvPicPr>
            <p:cNvPr id="10" name="Immagine 9" descr="Schermata 06-2456450 alle 14.00.29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4274" y="3896734"/>
              <a:ext cx="1573737" cy="1442054"/>
            </a:xfrm>
            <a:prstGeom prst="rect">
              <a:avLst/>
            </a:prstGeom>
          </p:spPr>
        </p:pic>
      </p:grpSp>
      <p:grpSp>
        <p:nvGrpSpPr>
          <p:cNvPr id="15" name="Gruppo 14"/>
          <p:cNvGrpSpPr/>
          <p:nvPr/>
        </p:nvGrpSpPr>
        <p:grpSpPr>
          <a:xfrm>
            <a:off x="3495887" y="4327085"/>
            <a:ext cx="5346865" cy="1574599"/>
            <a:chOff x="1591346" y="4922451"/>
            <a:chExt cx="5346865" cy="1574599"/>
          </a:xfrm>
        </p:grpSpPr>
        <p:sp>
          <p:nvSpPr>
            <p:cNvPr id="6" name="CasellaDiTesto 5"/>
            <p:cNvSpPr txBox="1"/>
            <p:nvPr/>
          </p:nvSpPr>
          <p:spPr>
            <a:xfrm>
              <a:off x="1591346" y="5497163"/>
              <a:ext cx="372132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200" dirty="0" err="1" smtClean="0"/>
                <a:t>Register</a:t>
              </a:r>
              <a:r>
                <a:rPr lang="it-IT" sz="2200" dirty="0" smtClean="0"/>
                <a:t> </a:t>
              </a:r>
              <a:r>
                <a:rPr lang="it-IT" sz="2200" dirty="0" err="1" smtClean="0"/>
                <a:t>poses</a:t>
              </a:r>
              <a:r>
                <a:rPr lang="it-IT" sz="2200" dirty="0" smtClean="0"/>
                <a:t> by </a:t>
              </a:r>
              <a:r>
                <a:rPr lang="it-IT" sz="2200" dirty="0" err="1" smtClean="0"/>
                <a:t>aligning</a:t>
              </a:r>
              <a:r>
                <a:rPr lang="it-IT" sz="2200" dirty="0" smtClean="0"/>
                <a:t> </a:t>
              </a:r>
              <a:r>
                <a:rPr lang="it-IT" sz="2200" dirty="0" err="1" smtClean="0"/>
                <a:t>ROIs</a:t>
              </a:r>
              <a:endParaRPr lang="it-IT" sz="2200" dirty="0"/>
            </a:p>
          </p:txBody>
        </p:sp>
        <p:pic>
          <p:nvPicPr>
            <p:cNvPr id="13" name="Immagine 12" descr="Schermata 06-2456450 alle 21.19.27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4617" y="4922451"/>
              <a:ext cx="1543594" cy="1574599"/>
            </a:xfrm>
            <a:prstGeom prst="rect">
              <a:avLst/>
            </a:prstGeom>
          </p:spPr>
        </p:pic>
      </p:grpSp>
      <p:pic>
        <p:nvPicPr>
          <p:cNvPr id="17" name="Immagine 16" descr="Schermata 06-2456450 alle 16.46.55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56"/>
          <a:stretch/>
        </p:blipFill>
        <p:spPr>
          <a:xfrm>
            <a:off x="167459" y="1172035"/>
            <a:ext cx="1770961" cy="135654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252384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smtClean="0">
                <a:solidFill>
                  <a:srgbClr val="404040"/>
                </a:solidFill>
              </a:rPr>
              <a:t>ROI </a:t>
            </a:r>
            <a:r>
              <a:rPr lang="it-IT" sz="3200" b="1" dirty="0" err="1" smtClean="0">
                <a:solidFill>
                  <a:srgbClr val="404040"/>
                </a:solidFill>
              </a:rPr>
              <a:t>detection</a:t>
            </a:r>
            <a:endParaRPr lang="it-IT" sz="3200" b="1" dirty="0">
              <a:solidFill>
                <a:srgbClr val="404040"/>
              </a:solidFill>
            </a:endParaRPr>
          </a:p>
        </p:txBody>
      </p:sp>
      <p:pic>
        <p:nvPicPr>
          <p:cNvPr id="9" name="Immagine 8" descr="Schermata 06-2456450 alle 14.00.2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568" y="2880219"/>
            <a:ext cx="2312737" cy="1892240"/>
          </a:xfrm>
          <a:prstGeom prst="rect">
            <a:avLst/>
          </a:prstGeom>
        </p:spPr>
      </p:pic>
      <p:pic>
        <p:nvPicPr>
          <p:cNvPr id="10" name="Immagine 9" descr="Schermata 06-2456450 alle 14.00.2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915" y="4342197"/>
            <a:ext cx="2419684" cy="2217214"/>
          </a:xfrm>
          <a:prstGeom prst="rect">
            <a:avLst/>
          </a:prstGeom>
        </p:spPr>
      </p:pic>
      <p:grpSp>
        <p:nvGrpSpPr>
          <p:cNvPr id="29" name="Gruppo 28"/>
          <p:cNvGrpSpPr/>
          <p:nvPr/>
        </p:nvGrpSpPr>
        <p:grpSpPr>
          <a:xfrm>
            <a:off x="322024" y="1064009"/>
            <a:ext cx="2893434" cy="2424913"/>
            <a:chOff x="763182" y="1064009"/>
            <a:chExt cx="2893434" cy="2424913"/>
          </a:xfrm>
        </p:grpSpPr>
        <p:grpSp>
          <p:nvGrpSpPr>
            <p:cNvPr id="17" name="Gruppo 16"/>
            <p:cNvGrpSpPr/>
            <p:nvPr/>
          </p:nvGrpSpPr>
          <p:grpSpPr>
            <a:xfrm>
              <a:off x="1170090" y="1098570"/>
              <a:ext cx="2486526" cy="2390352"/>
              <a:chOff x="3141286" y="1168944"/>
              <a:chExt cx="2486526" cy="2390352"/>
            </a:xfrm>
          </p:grpSpPr>
          <p:pic>
            <p:nvPicPr>
              <p:cNvPr id="8" name="Immagine 7" descr="Schermata 06-2456450 alle 14.00.08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1286" y="1168944"/>
                <a:ext cx="2486526" cy="2092283"/>
              </a:xfrm>
              <a:prstGeom prst="rect">
                <a:avLst/>
              </a:prstGeom>
            </p:spPr>
          </p:pic>
          <p:pic>
            <p:nvPicPr>
              <p:cNvPr id="12" name="Immagine 11" descr="latex-image-1.pdf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29238" y="3271296"/>
                <a:ext cx="1919998" cy="288000"/>
              </a:xfrm>
              <a:prstGeom prst="rect">
                <a:avLst/>
              </a:prstGeom>
            </p:spPr>
          </p:pic>
        </p:grpSp>
        <p:sp>
          <p:nvSpPr>
            <p:cNvPr id="27" name="CasellaDiTesto 26"/>
            <p:cNvSpPr txBox="1"/>
            <p:nvPr/>
          </p:nvSpPr>
          <p:spPr>
            <a:xfrm>
              <a:off x="1023042" y="2923493"/>
              <a:ext cx="2756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0</a:t>
              </a:r>
              <a:endParaRPr lang="it-IT" sz="1400" dirty="0"/>
            </a:p>
          </p:txBody>
        </p:sp>
        <p:sp>
          <p:nvSpPr>
            <p:cNvPr id="28" name="CasellaDiTesto 27"/>
            <p:cNvSpPr txBox="1"/>
            <p:nvPr/>
          </p:nvSpPr>
          <p:spPr>
            <a:xfrm>
              <a:off x="763182" y="1064009"/>
              <a:ext cx="5352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MAX</a:t>
              </a:r>
              <a:endParaRPr lang="it-IT" sz="1400" dirty="0"/>
            </a:p>
          </p:txBody>
        </p:sp>
      </p:grpSp>
      <p:sp>
        <p:nvSpPr>
          <p:cNvPr id="104" name="Freccia ad arco 103"/>
          <p:cNvSpPr/>
          <p:nvPr/>
        </p:nvSpPr>
        <p:spPr>
          <a:xfrm rot="277166">
            <a:off x="1479371" y="930610"/>
            <a:ext cx="3565578" cy="4369505"/>
          </a:xfrm>
          <a:prstGeom prst="circularArrow">
            <a:avLst>
              <a:gd name="adj1" fmla="val 3071"/>
              <a:gd name="adj2" fmla="val 859239"/>
              <a:gd name="adj3" fmla="val 20435716"/>
              <a:gd name="adj4" fmla="val 14648802"/>
              <a:gd name="adj5" fmla="val 7668"/>
            </a:avLst>
          </a:prstGeom>
          <a:solidFill>
            <a:srgbClr val="558ED5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5" name="Freccia ad arco 104"/>
          <p:cNvSpPr/>
          <p:nvPr/>
        </p:nvSpPr>
        <p:spPr>
          <a:xfrm rot="277166">
            <a:off x="4211876" y="2459958"/>
            <a:ext cx="3565578" cy="4369505"/>
          </a:xfrm>
          <a:prstGeom prst="circularArrow">
            <a:avLst>
              <a:gd name="adj1" fmla="val 3071"/>
              <a:gd name="adj2" fmla="val 859239"/>
              <a:gd name="adj3" fmla="val 20435716"/>
              <a:gd name="adj4" fmla="val 14648802"/>
              <a:gd name="adj5" fmla="val 7668"/>
            </a:avLst>
          </a:prstGeom>
          <a:solidFill>
            <a:srgbClr val="558ED5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grpSp>
        <p:nvGrpSpPr>
          <p:cNvPr id="147" name="Gruppo 146"/>
          <p:cNvGrpSpPr/>
          <p:nvPr/>
        </p:nvGrpSpPr>
        <p:grpSpPr>
          <a:xfrm>
            <a:off x="4224426" y="794127"/>
            <a:ext cx="3788217" cy="369332"/>
            <a:chOff x="4224426" y="794127"/>
            <a:chExt cx="3788217" cy="369332"/>
          </a:xfrm>
        </p:grpSpPr>
        <p:sp>
          <p:nvSpPr>
            <p:cNvPr id="109" name="CasellaDiTesto 108"/>
            <p:cNvSpPr txBox="1"/>
            <p:nvPr/>
          </p:nvSpPr>
          <p:spPr>
            <a:xfrm>
              <a:off x="4224426" y="794127"/>
              <a:ext cx="3788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it-IT" dirty="0" err="1" smtClean="0"/>
                <a:t>Detect</a:t>
              </a:r>
              <a:r>
                <a:rPr lang="it-IT" dirty="0" smtClean="0"/>
                <a:t> </a:t>
              </a:r>
              <a:r>
                <a:rPr lang="it-IT" dirty="0" err="1" smtClean="0"/>
                <a:t>seeds</a:t>
              </a:r>
              <a:r>
                <a:rPr lang="it-IT" dirty="0" smtClean="0"/>
                <a:t> (                                     )</a:t>
              </a:r>
            </a:p>
          </p:txBody>
        </p:sp>
        <p:pic>
          <p:nvPicPr>
            <p:cNvPr id="110" name="Immagine 109" descr="latex-image-1.pdf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8584" y="882570"/>
              <a:ext cx="1805538" cy="216000"/>
            </a:xfrm>
            <a:prstGeom prst="rect">
              <a:avLst/>
            </a:prstGeom>
          </p:spPr>
        </p:pic>
      </p:grpSp>
      <p:sp>
        <p:nvSpPr>
          <p:cNvPr id="111" name="CasellaDiTesto 110"/>
          <p:cNvSpPr txBox="1"/>
          <p:nvPr/>
        </p:nvSpPr>
        <p:spPr>
          <a:xfrm>
            <a:off x="6844635" y="2567530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 err="1" smtClean="0"/>
              <a:t>Max</a:t>
            </a:r>
            <a:r>
              <a:rPr lang="it-IT" dirty="0" smtClean="0"/>
              <a:t> </a:t>
            </a:r>
            <a:r>
              <a:rPr lang="it-IT" dirty="0" err="1" smtClean="0"/>
              <a:t>surface</a:t>
            </a:r>
            <a:endParaRPr lang="it-IT" dirty="0"/>
          </a:p>
        </p:txBody>
      </p:sp>
      <p:grpSp>
        <p:nvGrpSpPr>
          <p:cNvPr id="151" name="Gruppo 150"/>
          <p:cNvGrpSpPr/>
          <p:nvPr/>
        </p:nvGrpSpPr>
        <p:grpSpPr>
          <a:xfrm>
            <a:off x="4247381" y="1084052"/>
            <a:ext cx="1915909" cy="1214175"/>
            <a:chOff x="4247381" y="1084052"/>
            <a:chExt cx="1915909" cy="1214175"/>
          </a:xfrm>
        </p:grpSpPr>
        <p:grpSp>
          <p:nvGrpSpPr>
            <p:cNvPr id="112" name="Gruppo 111"/>
            <p:cNvGrpSpPr/>
            <p:nvPr/>
          </p:nvGrpSpPr>
          <p:grpSpPr>
            <a:xfrm>
              <a:off x="4761544" y="1560770"/>
              <a:ext cx="787049" cy="737457"/>
              <a:chOff x="6043701" y="1700371"/>
              <a:chExt cx="1461999" cy="1369879"/>
            </a:xfrm>
          </p:grpSpPr>
          <p:cxnSp>
            <p:nvCxnSpPr>
              <p:cNvPr id="113" name="Connettore 1 112"/>
              <p:cNvCxnSpPr/>
              <p:nvPr/>
            </p:nvCxnSpPr>
            <p:spPr>
              <a:xfrm flipV="1">
                <a:off x="6091351" y="1754371"/>
                <a:ext cx="1088886" cy="214032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Connettore 1 113"/>
              <p:cNvCxnSpPr/>
              <p:nvPr/>
            </p:nvCxnSpPr>
            <p:spPr>
              <a:xfrm flipH="1">
                <a:off x="6091351" y="1968403"/>
                <a:ext cx="1056" cy="647098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ttore 1 114"/>
              <p:cNvCxnSpPr/>
              <p:nvPr/>
            </p:nvCxnSpPr>
            <p:spPr>
              <a:xfrm>
                <a:off x="6091351" y="1968403"/>
                <a:ext cx="720441" cy="290683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nettore 1 115"/>
              <p:cNvCxnSpPr/>
              <p:nvPr/>
            </p:nvCxnSpPr>
            <p:spPr>
              <a:xfrm flipH="1" flipV="1">
                <a:off x="7181293" y="1739900"/>
                <a:ext cx="279957" cy="793750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nettore 1 116"/>
              <p:cNvCxnSpPr/>
              <p:nvPr/>
            </p:nvCxnSpPr>
            <p:spPr>
              <a:xfrm flipV="1">
                <a:off x="6811792" y="1754371"/>
                <a:ext cx="369501" cy="503383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ttore 1 117"/>
              <p:cNvCxnSpPr/>
              <p:nvPr/>
            </p:nvCxnSpPr>
            <p:spPr>
              <a:xfrm>
                <a:off x="6811792" y="2259086"/>
                <a:ext cx="649458" cy="274564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nettore 1 118"/>
              <p:cNvCxnSpPr/>
              <p:nvPr/>
            </p:nvCxnSpPr>
            <p:spPr>
              <a:xfrm>
                <a:off x="6811792" y="2259086"/>
                <a:ext cx="0" cy="769864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nettore 1 119"/>
              <p:cNvCxnSpPr/>
              <p:nvPr/>
            </p:nvCxnSpPr>
            <p:spPr>
              <a:xfrm flipH="1">
                <a:off x="6811792" y="2533650"/>
                <a:ext cx="649458" cy="495300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nettore 1 120"/>
              <p:cNvCxnSpPr/>
              <p:nvPr/>
            </p:nvCxnSpPr>
            <p:spPr>
              <a:xfrm>
                <a:off x="6091351" y="2615501"/>
                <a:ext cx="720441" cy="413449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ttore 1 121"/>
              <p:cNvCxnSpPr/>
              <p:nvPr/>
            </p:nvCxnSpPr>
            <p:spPr>
              <a:xfrm flipV="1">
                <a:off x="6092407" y="2259086"/>
                <a:ext cx="719385" cy="356415"/>
              </a:xfrm>
              <a:prstGeom prst="line">
                <a:avLst/>
              </a:prstGeom>
              <a:ln w="12700" cmpd="sng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e 122"/>
              <p:cNvSpPr>
                <a:spLocks noChangeAspect="1"/>
              </p:cNvSpPr>
              <p:nvPr/>
            </p:nvSpPr>
            <p:spPr>
              <a:xfrm>
                <a:off x="6759329" y="2202272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4" name="Ovale 123"/>
              <p:cNvSpPr>
                <a:spLocks noChangeAspect="1"/>
              </p:cNvSpPr>
              <p:nvPr/>
            </p:nvSpPr>
            <p:spPr>
              <a:xfrm>
                <a:off x="7397700" y="247215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5" name="Ovale 124"/>
              <p:cNvSpPr>
                <a:spLocks noChangeAspect="1"/>
              </p:cNvSpPr>
              <p:nvPr/>
            </p:nvSpPr>
            <p:spPr>
              <a:xfrm>
                <a:off x="7127293" y="170037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6" name="Ovale 125"/>
              <p:cNvSpPr>
                <a:spLocks noChangeAspect="1"/>
              </p:cNvSpPr>
              <p:nvPr/>
            </p:nvSpPr>
            <p:spPr>
              <a:xfrm>
                <a:off x="6043701" y="1914403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7" name="Ovale 126"/>
              <p:cNvSpPr>
                <a:spLocks noChangeAspect="1"/>
              </p:cNvSpPr>
              <p:nvPr/>
            </p:nvSpPr>
            <p:spPr>
              <a:xfrm>
                <a:off x="6043701" y="2550098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28" name="Ovale 127"/>
              <p:cNvSpPr>
                <a:spLocks noChangeAspect="1"/>
              </p:cNvSpPr>
              <p:nvPr/>
            </p:nvSpPr>
            <p:spPr>
              <a:xfrm>
                <a:off x="6760077" y="2962250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sp>
          <p:nvSpPr>
            <p:cNvPr id="148" name="CasellaDiTesto 147"/>
            <p:cNvSpPr txBox="1"/>
            <p:nvPr/>
          </p:nvSpPr>
          <p:spPr>
            <a:xfrm>
              <a:off x="4247381" y="1084052"/>
              <a:ext cx="19159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it-IT" dirty="0" err="1"/>
                <a:t>Region</a:t>
              </a:r>
              <a:r>
                <a:rPr lang="it-IT" dirty="0"/>
                <a:t> </a:t>
              </a:r>
              <a:r>
                <a:rPr lang="it-IT" dirty="0" err="1" smtClean="0"/>
                <a:t>growing</a:t>
              </a:r>
              <a:endParaRPr lang="it-IT" dirty="0"/>
            </a:p>
          </p:txBody>
        </p:sp>
      </p:grpSp>
      <p:grpSp>
        <p:nvGrpSpPr>
          <p:cNvPr id="129" name="Gruppo 128"/>
          <p:cNvGrpSpPr/>
          <p:nvPr/>
        </p:nvGrpSpPr>
        <p:grpSpPr>
          <a:xfrm>
            <a:off x="4762426" y="1557213"/>
            <a:ext cx="787049" cy="737457"/>
            <a:chOff x="6043701" y="1700371"/>
            <a:chExt cx="1461999" cy="1369879"/>
          </a:xfrm>
        </p:grpSpPr>
        <p:cxnSp>
          <p:nvCxnSpPr>
            <p:cNvPr id="130" name="Connettore 1 129"/>
            <p:cNvCxnSpPr/>
            <p:nvPr/>
          </p:nvCxnSpPr>
          <p:spPr>
            <a:xfrm flipV="1">
              <a:off x="6091351" y="1754371"/>
              <a:ext cx="1088886" cy="214032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ttore 1 130"/>
            <p:cNvCxnSpPr/>
            <p:nvPr/>
          </p:nvCxnSpPr>
          <p:spPr>
            <a:xfrm flipH="1">
              <a:off x="6091351" y="1968403"/>
              <a:ext cx="1056" cy="647098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ttore 1 131"/>
            <p:cNvCxnSpPr/>
            <p:nvPr/>
          </p:nvCxnSpPr>
          <p:spPr>
            <a:xfrm>
              <a:off x="6091351" y="1968403"/>
              <a:ext cx="720441" cy="290683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ttore 1 132"/>
            <p:cNvCxnSpPr/>
            <p:nvPr/>
          </p:nvCxnSpPr>
          <p:spPr>
            <a:xfrm flipH="1" flipV="1">
              <a:off x="7181293" y="1739900"/>
              <a:ext cx="279957" cy="793750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/>
          </p:nvCxnSpPr>
          <p:spPr>
            <a:xfrm flipV="1">
              <a:off x="6811792" y="1754371"/>
              <a:ext cx="369501" cy="503383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/>
          </p:nvCxnSpPr>
          <p:spPr>
            <a:xfrm>
              <a:off x="6811792" y="2259086"/>
              <a:ext cx="649458" cy="274564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/>
          </p:nvCxnSpPr>
          <p:spPr>
            <a:xfrm>
              <a:off x="6811792" y="2259086"/>
              <a:ext cx="0" cy="769864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/>
          </p:nvCxnSpPr>
          <p:spPr>
            <a:xfrm flipH="1">
              <a:off x="6811792" y="2533650"/>
              <a:ext cx="649458" cy="495300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/>
          </p:nvCxnSpPr>
          <p:spPr>
            <a:xfrm>
              <a:off x="6091351" y="2615501"/>
              <a:ext cx="720441" cy="413449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/>
          </p:nvCxnSpPr>
          <p:spPr>
            <a:xfrm flipV="1">
              <a:off x="6092407" y="2259086"/>
              <a:ext cx="719385" cy="356415"/>
            </a:xfrm>
            <a:prstGeom prst="line">
              <a:avLst/>
            </a:prstGeom>
            <a:ln w="12700" cmpd="sng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Ovale 139"/>
            <p:cNvSpPr>
              <a:spLocks noChangeAspect="1"/>
            </p:cNvSpPr>
            <p:nvPr/>
          </p:nvSpPr>
          <p:spPr>
            <a:xfrm>
              <a:off x="6759329" y="2202272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1" name="Ovale 140"/>
            <p:cNvSpPr>
              <a:spLocks noChangeAspect="1"/>
            </p:cNvSpPr>
            <p:nvPr/>
          </p:nvSpPr>
          <p:spPr>
            <a:xfrm>
              <a:off x="7397700" y="247215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2" name="Ovale 141"/>
            <p:cNvSpPr>
              <a:spLocks noChangeAspect="1"/>
            </p:cNvSpPr>
            <p:nvPr/>
          </p:nvSpPr>
          <p:spPr>
            <a:xfrm>
              <a:off x="7127293" y="1700371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3" name="Ovale 142"/>
            <p:cNvSpPr>
              <a:spLocks noChangeAspect="1"/>
            </p:cNvSpPr>
            <p:nvPr/>
          </p:nvSpPr>
          <p:spPr>
            <a:xfrm>
              <a:off x="6043701" y="1914403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4" name="Ovale 143"/>
            <p:cNvSpPr>
              <a:spLocks noChangeAspect="1"/>
            </p:cNvSpPr>
            <p:nvPr/>
          </p:nvSpPr>
          <p:spPr>
            <a:xfrm>
              <a:off x="6043701" y="2550098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5" name="Ovale 144"/>
            <p:cNvSpPr>
              <a:spLocks noChangeAspect="1"/>
            </p:cNvSpPr>
            <p:nvPr/>
          </p:nvSpPr>
          <p:spPr>
            <a:xfrm>
              <a:off x="6760077" y="2962250"/>
              <a:ext cx="108000" cy="108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" name="Gruppo 2"/>
          <p:cNvGrpSpPr/>
          <p:nvPr/>
        </p:nvGrpSpPr>
        <p:grpSpPr>
          <a:xfrm>
            <a:off x="262252" y="4420672"/>
            <a:ext cx="2371555" cy="1898173"/>
            <a:chOff x="581884" y="4440297"/>
            <a:chExt cx="2371555" cy="1898173"/>
          </a:xfrm>
        </p:grpSpPr>
        <p:pic>
          <p:nvPicPr>
            <p:cNvPr id="53" name="Immagine 52" descr="one_ring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504" y="5015298"/>
              <a:ext cx="1659256" cy="1323172"/>
            </a:xfrm>
            <a:prstGeom prst="rect">
              <a:avLst/>
            </a:prstGeom>
          </p:spPr>
        </p:pic>
        <p:pic>
          <p:nvPicPr>
            <p:cNvPr id="54" name="Immagine 53" descr="latex-image-1.pdf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1884" y="4440297"/>
              <a:ext cx="2371555" cy="695312"/>
            </a:xfrm>
            <a:prstGeom prst="rect">
              <a:avLst/>
            </a:prstGeom>
          </p:spPr>
        </p:pic>
      </p:grpSp>
      <p:sp>
        <p:nvSpPr>
          <p:cNvPr id="56" name="Freccia destra 55"/>
          <p:cNvSpPr/>
          <p:nvPr/>
        </p:nvSpPr>
        <p:spPr>
          <a:xfrm rot="5400000">
            <a:off x="1153149" y="3729501"/>
            <a:ext cx="579745" cy="505747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CasellaDiTesto 56"/>
          <p:cNvSpPr txBox="1"/>
          <p:nvPr/>
        </p:nvSpPr>
        <p:spPr>
          <a:xfrm>
            <a:off x="715564" y="6218043"/>
            <a:ext cx="1578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smtClean="0"/>
              <a:t>[</a:t>
            </a:r>
            <a:r>
              <a:rPr lang="it-IT" sz="1400" dirty="0" err="1" smtClean="0"/>
              <a:t>Meyer</a:t>
            </a:r>
            <a:r>
              <a:rPr lang="it-IT" sz="1400" dirty="0" smtClean="0"/>
              <a:t> et al, 2002]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5" grpId="0" animBg="1"/>
      <p:bldP spid="111" grpId="0"/>
      <p:bldP spid="56" grpId="0" animBg="1"/>
      <p:bldP spid="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225314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 smtClean="0">
                <a:solidFill>
                  <a:srgbClr val="404040"/>
                </a:solidFill>
              </a:rPr>
              <a:t>Registration</a:t>
            </a:r>
            <a:endParaRPr lang="it-IT" sz="3200" b="1" dirty="0">
              <a:solidFill>
                <a:srgbClr val="404040"/>
              </a:solidFill>
            </a:endParaRPr>
          </a:p>
        </p:txBody>
      </p:sp>
      <p:pic>
        <p:nvPicPr>
          <p:cNvPr id="3" name="Immagine 2" descr="Schermata 06-2456450 alle 20.52.5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9" y="1205802"/>
            <a:ext cx="1310105" cy="1922407"/>
          </a:xfrm>
          <a:prstGeom prst="rect">
            <a:avLst/>
          </a:prstGeom>
        </p:spPr>
      </p:pic>
      <p:pic>
        <p:nvPicPr>
          <p:cNvPr id="4" name="Immagine 3" descr="Schermata 06-2456450 alle 21.09.29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036" y="1714378"/>
            <a:ext cx="1778053" cy="1387095"/>
          </a:xfrm>
          <a:prstGeom prst="rect">
            <a:avLst/>
          </a:prstGeom>
        </p:spPr>
      </p:pic>
      <p:pic>
        <p:nvPicPr>
          <p:cNvPr id="5" name="Immagine 4" descr="Schermata 06-2456450 alle 21.19.2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312" y="326509"/>
            <a:ext cx="2746533" cy="2801700"/>
          </a:xfrm>
          <a:prstGeom prst="rect">
            <a:avLst/>
          </a:prstGeom>
        </p:spPr>
      </p:pic>
      <p:sp>
        <p:nvSpPr>
          <p:cNvPr id="6" name="Freccia destra 5"/>
          <p:cNvSpPr/>
          <p:nvPr/>
        </p:nvSpPr>
        <p:spPr>
          <a:xfrm>
            <a:off x="4557713" y="2040872"/>
            <a:ext cx="579745" cy="505747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276" y="3221785"/>
            <a:ext cx="3493503" cy="477695"/>
          </a:xfrm>
          <a:prstGeom prst="rect">
            <a:avLst/>
          </a:prstGeom>
        </p:spPr>
      </p:pic>
      <p:pic>
        <p:nvPicPr>
          <p:cNvPr id="9" name="Immagine 8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437" y="5254412"/>
            <a:ext cx="1558703" cy="324000"/>
          </a:xfrm>
          <a:prstGeom prst="rect">
            <a:avLst/>
          </a:prstGeom>
        </p:spPr>
      </p:pic>
      <p:sp>
        <p:nvSpPr>
          <p:cNvPr id="17" name="CasellaDiTesto 16"/>
          <p:cNvSpPr txBox="1"/>
          <p:nvPr/>
        </p:nvSpPr>
        <p:spPr>
          <a:xfrm>
            <a:off x="4478370" y="5840197"/>
            <a:ext cx="160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[</a:t>
            </a:r>
            <a:r>
              <a:rPr lang="it-IT" dirty="0" err="1" smtClean="0"/>
              <a:t>Sorkine</a:t>
            </a:r>
            <a:r>
              <a:rPr lang="it-IT" dirty="0" smtClean="0"/>
              <a:t>, 2007]</a:t>
            </a:r>
            <a:endParaRPr lang="it-IT" dirty="0"/>
          </a:p>
        </p:txBody>
      </p:sp>
      <p:pic>
        <p:nvPicPr>
          <p:cNvPr id="11" name="Immagine 10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03" y="4933743"/>
            <a:ext cx="1287530" cy="288000"/>
          </a:xfrm>
          <a:prstGeom prst="rect">
            <a:avLst/>
          </a:prstGeom>
        </p:spPr>
      </p:pic>
      <p:pic>
        <p:nvPicPr>
          <p:cNvPr id="18" name="Immagine 17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261" y="4933743"/>
            <a:ext cx="1185882" cy="288000"/>
          </a:xfrm>
          <a:prstGeom prst="rect">
            <a:avLst/>
          </a:prstGeom>
        </p:spPr>
      </p:pic>
      <p:grpSp>
        <p:nvGrpSpPr>
          <p:cNvPr id="22" name="Gruppo 21"/>
          <p:cNvGrpSpPr/>
          <p:nvPr/>
        </p:nvGrpSpPr>
        <p:grpSpPr>
          <a:xfrm>
            <a:off x="787527" y="3953011"/>
            <a:ext cx="1688013" cy="612648"/>
            <a:chOff x="4100512" y="4260547"/>
            <a:chExt cx="1688013" cy="612648"/>
          </a:xfrm>
        </p:grpSpPr>
        <p:sp>
          <p:nvSpPr>
            <p:cNvPr id="21" name="Fumetto 1 20"/>
            <p:cNvSpPr/>
            <p:nvPr/>
          </p:nvSpPr>
          <p:spPr>
            <a:xfrm>
              <a:off x="4100512" y="4260547"/>
              <a:ext cx="1688013" cy="612648"/>
            </a:xfrm>
            <a:prstGeom prst="wedgeRectCallout">
              <a:avLst>
                <a:gd name="adj1" fmla="val -20833"/>
                <a:gd name="adj2" fmla="val 110506"/>
              </a:avLst>
            </a:prstGeom>
            <a:solidFill>
              <a:srgbClr val="FFFFFF"/>
            </a:solidFill>
            <a:ln w="28575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latex-image-1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8440" y="4468412"/>
              <a:ext cx="1310400" cy="216000"/>
            </a:xfrm>
            <a:prstGeom prst="rect">
              <a:avLst/>
            </a:prstGeom>
          </p:spPr>
        </p:pic>
      </p:grpSp>
      <p:grpSp>
        <p:nvGrpSpPr>
          <p:cNvPr id="24" name="Gruppo 23"/>
          <p:cNvGrpSpPr/>
          <p:nvPr/>
        </p:nvGrpSpPr>
        <p:grpSpPr>
          <a:xfrm>
            <a:off x="284875" y="5655325"/>
            <a:ext cx="1688013" cy="612648"/>
            <a:chOff x="2996282" y="4581936"/>
            <a:chExt cx="1688013" cy="612648"/>
          </a:xfrm>
        </p:grpSpPr>
        <p:sp>
          <p:nvSpPr>
            <p:cNvPr id="23" name="Fumetto 1 22"/>
            <p:cNvSpPr/>
            <p:nvPr/>
          </p:nvSpPr>
          <p:spPr>
            <a:xfrm rot="10800000">
              <a:off x="2996282" y="4581936"/>
              <a:ext cx="1688013" cy="612648"/>
            </a:xfrm>
            <a:prstGeom prst="wedgeRectCallout">
              <a:avLst>
                <a:gd name="adj1" fmla="val -20833"/>
                <a:gd name="adj2" fmla="val 110506"/>
              </a:avLst>
            </a:prstGeom>
            <a:solidFill>
              <a:srgbClr val="FFFFFF"/>
            </a:solidFill>
            <a:ln w="28575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3" name="Immagine 12" descr="latex-image-1.pdf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4205" y="4762271"/>
              <a:ext cx="1332000" cy="279290"/>
            </a:xfrm>
            <a:prstGeom prst="rect">
              <a:avLst/>
            </a:prstGeom>
          </p:spPr>
        </p:pic>
      </p:grpSp>
      <p:pic>
        <p:nvPicPr>
          <p:cNvPr id="27" name="Immagine 26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52" y="4620935"/>
            <a:ext cx="1287529" cy="288000"/>
          </a:xfrm>
          <a:prstGeom prst="rect">
            <a:avLst/>
          </a:prstGeom>
        </p:spPr>
      </p:pic>
      <p:sp>
        <p:nvSpPr>
          <p:cNvPr id="28" name="Rettangolo 27"/>
          <p:cNvSpPr/>
          <p:nvPr/>
        </p:nvSpPr>
        <p:spPr>
          <a:xfrm>
            <a:off x="3514220" y="4376876"/>
            <a:ext cx="2434724" cy="1458784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141296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 smtClean="0">
                <a:solidFill>
                  <a:srgbClr val="404040"/>
                </a:solidFill>
              </a:rPr>
              <a:t>Results</a:t>
            </a:r>
            <a:endParaRPr lang="it-IT" sz="3200" b="1" dirty="0">
              <a:solidFill>
                <a:srgbClr val="404040"/>
              </a:solidFill>
            </a:endParaRPr>
          </a:p>
        </p:txBody>
      </p:sp>
      <p:grpSp>
        <p:nvGrpSpPr>
          <p:cNvPr id="21" name="Gruppo 20"/>
          <p:cNvGrpSpPr/>
          <p:nvPr/>
        </p:nvGrpSpPr>
        <p:grpSpPr>
          <a:xfrm>
            <a:off x="4965846" y="0"/>
            <a:ext cx="4173823" cy="5079511"/>
            <a:chOff x="4965846" y="0"/>
            <a:chExt cx="4173823" cy="5079511"/>
          </a:xfrm>
        </p:grpSpPr>
        <p:grpSp>
          <p:nvGrpSpPr>
            <p:cNvPr id="16" name="Gruppo 15"/>
            <p:cNvGrpSpPr/>
            <p:nvPr/>
          </p:nvGrpSpPr>
          <p:grpSpPr>
            <a:xfrm>
              <a:off x="5849196" y="0"/>
              <a:ext cx="3290473" cy="5079511"/>
              <a:chOff x="5849196" y="0"/>
              <a:chExt cx="3290473" cy="5079511"/>
            </a:xfrm>
          </p:grpSpPr>
          <p:pic>
            <p:nvPicPr>
              <p:cNvPr id="13" name="Immagine 12" descr="Schermata 06-2456452 alle 18.15.41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49196" y="0"/>
                <a:ext cx="3290473" cy="3638754"/>
              </a:xfrm>
              <a:prstGeom prst="rect">
                <a:avLst/>
              </a:prstGeom>
            </p:spPr>
          </p:pic>
          <p:pic>
            <p:nvPicPr>
              <p:cNvPr id="14" name="Immagine 13" descr="Schermata 06-2456452 alle 18.15.51.pn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59984" y="3546667"/>
                <a:ext cx="1342858" cy="1532844"/>
              </a:xfrm>
              <a:prstGeom prst="rect">
                <a:avLst/>
              </a:prstGeom>
            </p:spPr>
          </p:pic>
          <p:pic>
            <p:nvPicPr>
              <p:cNvPr id="15" name="Immagine 14" descr="Schermata 06-2456452 alle 18.15.56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23660" y="3661460"/>
                <a:ext cx="1289385" cy="1374775"/>
              </a:xfrm>
              <a:prstGeom prst="rect">
                <a:avLst/>
              </a:prstGeom>
            </p:spPr>
          </p:pic>
        </p:grpSp>
        <p:sp>
          <p:nvSpPr>
            <p:cNvPr id="17" name="CasellaDiTesto 16"/>
            <p:cNvSpPr txBox="1"/>
            <p:nvPr/>
          </p:nvSpPr>
          <p:spPr>
            <a:xfrm>
              <a:off x="4965846" y="1783918"/>
              <a:ext cx="162797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26,907 TOT </a:t>
              </a:r>
              <a:r>
                <a:rPr lang="it-IT" sz="1400" dirty="0" err="1" smtClean="0"/>
                <a:t>vertices</a:t>
              </a:r>
              <a:endParaRPr lang="it-IT" sz="1400" dirty="0" smtClean="0"/>
            </a:p>
            <a:p>
              <a:r>
                <a:rPr lang="it-IT" sz="1400" dirty="0" smtClean="0"/>
                <a:t>1,092   ROI </a:t>
              </a:r>
              <a:r>
                <a:rPr lang="it-IT" sz="1400" dirty="0" err="1" smtClean="0"/>
                <a:t>vertices</a:t>
              </a:r>
              <a:endParaRPr lang="it-IT" sz="1400" dirty="0" smtClean="0"/>
            </a:p>
            <a:p>
              <a:r>
                <a:rPr lang="it-IT" sz="1400" dirty="0" smtClean="0"/>
                <a:t>174ms</a:t>
              </a:r>
              <a:endParaRPr lang="it-IT" sz="1400" dirty="0"/>
            </a:p>
          </p:txBody>
        </p:sp>
      </p:grpSp>
      <p:grpSp>
        <p:nvGrpSpPr>
          <p:cNvPr id="20" name="Gruppo 19"/>
          <p:cNvGrpSpPr/>
          <p:nvPr/>
        </p:nvGrpSpPr>
        <p:grpSpPr>
          <a:xfrm>
            <a:off x="154858" y="304928"/>
            <a:ext cx="4841299" cy="2914318"/>
            <a:chOff x="154858" y="304928"/>
            <a:chExt cx="4841299" cy="2914318"/>
          </a:xfrm>
        </p:grpSpPr>
        <p:grpSp>
          <p:nvGrpSpPr>
            <p:cNvPr id="7" name="Gruppo 6"/>
            <p:cNvGrpSpPr/>
            <p:nvPr/>
          </p:nvGrpSpPr>
          <p:grpSpPr>
            <a:xfrm>
              <a:off x="154858" y="304928"/>
              <a:ext cx="3268612" cy="2914318"/>
              <a:chOff x="207563" y="1163050"/>
              <a:chExt cx="3268612" cy="2914318"/>
            </a:xfrm>
          </p:grpSpPr>
          <p:pic>
            <p:nvPicPr>
              <p:cNvPr id="3" name="Immagine 2" descr="Schermata 06-2456452 alle 18.15.01.png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5948">
                <a:off x="207563" y="1163050"/>
                <a:ext cx="3268612" cy="2127027"/>
              </a:xfrm>
              <a:prstGeom prst="rect">
                <a:avLst/>
              </a:prstGeom>
            </p:spPr>
          </p:pic>
          <p:grpSp>
            <p:nvGrpSpPr>
              <p:cNvPr id="6" name="Gruppo 5"/>
              <p:cNvGrpSpPr/>
              <p:nvPr/>
            </p:nvGrpSpPr>
            <p:grpSpPr>
              <a:xfrm>
                <a:off x="602916" y="3091146"/>
                <a:ext cx="2739190" cy="986222"/>
                <a:chOff x="308810" y="3452093"/>
                <a:chExt cx="2739190" cy="986222"/>
              </a:xfrm>
            </p:grpSpPr>
            <p:pic>
              <p:nvPicPr>
                <p:cNvPr id="4" name="Immagine 3" descr="Schermata 06-2456452 alle 18.14.43.png"/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8810" y="3457956"/>
                  <a:ext cx="1562768" cy="940255"/>
                </a:xfrm>
                <a:prstGeom prst="rect">
                  <a:avLst/>
                </a:prstGeom>
              </p:spPr>
            </p:pic>
            <p:pic>
              <p:nvPicPr>
                <p:cNvPr id="5" name="Immagine 4" descr="Schermata 06-2456452 alle 18.14.56.png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232262">
                  <a:off x="1871578" y="3452093"/>
                  <a:ext cx="1176422" cy="986222"/>
                </a:xfrm>
                <a:prstGeom prst="rect">
                  <a:avLst/>
                </a:prstGeom>
              </p:spPr>
            </p:pic>
          </p:grpSp>
        </p:grpSp>
        <p:sp>
          <p:nvSpPr>
            <p:cNvPr id="18" name="CasellaDiTesto 17"/>
            <p:cNvSpPr txBox="1"/>
            <p:nvPr/>
          </p:nvSpPr>
          <p:spPr>
            <a:xfrm>
              <a:off x="3459183" y="558217"/>
              <a:ext cx="153697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7,207 TOT </a:t>
              </a:r>
              <a:r>
                <a:rPr lang="it-IT" sz="1400" dirty="0" err="1" smtClean="0"/>
                <a:t>vertices</a:t>
              </a:r>
              <a:endParaRPr lang="it-IT" sz="1400" dirty="0" smtClean="0"/>
            </a:p>
            <a:p>
              <a:r>
                <a:rPr lang="it-IT" sz="1400" dirty="0" smtClean="0"/>
                <a:t>965     ROI </a:t>
              </a:r>
              <a:r>
                <a:rPr lang="it-IT" sz="1400" dirty="0" err="1" smtClean="0"/>
                <a:t>vertices</a:t>
              </a:r>
              <a:endParaRPr lang="it-IT" sz="1400" dirty="0" smtClean="0"/>
            </a:p>
            <a:p>
              <a:r>
                <a:rPr lang="it-IT" sz="1400" dirty="0" smtClean="0"/>
                <a:t>59ms</a:t>
              </a:r>
              <a:endParaRPr lang="it-IT" sz="1400" dirty="0"/>
            </a:p>
          </p:txBody>
        </p:sp>
      </p:grpSp>
      <p:grpSp>
        <p:nvGrpSpPr>
          <p:cNvPr id="22" name="Gruppo 21"/>
          <p:cNvGrpSpPr/>
          <p:nvPr/>
        </p:nvGrpSpPr>
        <p:grpSpPr>
          <a:xfrm>
            <a:off x="1367358" y="2979282"/>
            <a:ext cx="5748027" cy="3945558"/>
            <a:chOff x="1367358" y="2979282"/>
            <a:chExt cx="5748027" cy="3945558"/>
          </a:xfrm>
        </p:grpSpPr>
        <p:grpSp>
          <p:nvGrpSpPr>
            <p:cNvPr id="12" name="Gruppo 11"/>
            <p:cNvGrpSpPr/>
            <p:nvPr/>
          </p:nvGrpSpPr>
          <p:grpSpPr>
            <a:xfrm>
              <a:off x="1367358" y="2979282"/>
              <a:ext cx="4211053" cy="3945558"/>
              <a:chOff x="4946315" y="2979282"/>
              <a:chExt cx="4211053" cy="3945558"/>
            </a:xfrm>
          </p:grpSpPr>
          <p:pic>
            <p:nvPicPr>
              <p:cNvPr id="8" name="Immagine 7" descr="Schermata 06-2456452 alle 18.15.14.png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46315" y="3472620"/>
                <a:ext cx="4211053" cy="3452220"/>
              </a:xfrm>
              <a:prstGeom prst="rect">
                <a:avLst/>
              </a:prstGeom>
            </p:spPr>
          </p:pic>
          <p:pic>
            <p:nvPicPr>
              <p:cNvPr id="9" name="Immagine 8" descr="Schermata 06-2456452 alle 18.15.21.png"/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53997" y="2979282"/>
                <a:ext cx="711888" cy="1550737"/>
              </a:xfrm>
              <a:prstGeom prst="rect">
                <a:avLst/>
              </a:prstGeom>
            </p:spPr>
          </p:pic>
          <p:pic>
            <p:nvPicPr>
              <p:cNvPr id="11" name="Immagine 10" descr="Schermata 06-2456452 alle 18.15.30.png"/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38140" y="3219246"/>
                <a:ext cx="1095983" cy="1310773"/>
              </a:xfrm>
              <a:prstGeom prst="rect">
                <a:avLst/>
              </a:prstGeom>
            </p:spPr>
          </p:pic>
        </p:grpSp>
        <p:sp>
          <p:nvSpPr>
            <p:cNvPr id="19" name="CasellaDiTesto 18"/>
            <p:cNvSpPr txBox="1"/>
            <p:nvPr/>
          </p:nvSpPr>
          <p:spPr>
            <a:xfrm>
              <a:off x="5578411" y="5456406"/>
              <a:ext cx="153697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400" dirty="0" smtClean="0"/>
                <a:t>7,207 TOT </a:t>
              </a:r>
              <a:r>
                <a:rPr lang="it-IT" sz="1400" dirty="0" err="1" smtClean="0"/>
                <a:t>vertices</a:t>
              </a:r>
              <a:endParaRPr lang="it-IT" sz="1400" dirty="0" smtClean="0"/>
            </a:p>
            <a:p>
              <a:r>
                <a:rPr lang="it-IT" sz="1400" dirty="0" smtClean="0"/>
                <a:t>544     ROI </a:t>
              </a:r>
              <a:r>
                <a:rPr lang="it-IT" sz="1400" dirty="0" err="1" smtClean="0"/>
                <a:t>vertices</a:t>
              </a:r>
              <a:endParaRPr lang="it-IT" sz="1400" dirty="0" smtClean="0"/>
            </a:p>
            <a:p>
              <a:r>
                <a:rPr lang="it-IT" sz="1400" dirty="0" smtClean="0"/>
                <a:t>56ms</a:t>
              </a:r>
              <a:endParaRPr lang="it-IT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269977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smtClean="0">
                <a:solidFill>
                  <a:srgbClr val="404040"/>
                </a:solidFill>
              </a:rPr>
              <a:t>Multiple </a:t>
            </a:r>
            <a:r>
              <a:rPr lang="it-IT" sz="3200" b="1" dirty="0" err="1" smtClean="0">
                <a:solidFill>
                  <a:srgbClr val="404040"/>
                </a:solidFill>
              </a:rPr>
              <a:t>poses</a:t>
            </a:r>
            <a:endParaRPr lang="it-IT" sz="3200" b="1" dirty="0">
              <a:solidFill>
                <a:srgbClr val="404040"/>
              </a:solidFill>
            </a:endParaRPr>
          </a:p>
        </p:txBody>
      </p:sp>
      <p:pic>
        <p:nvPicPr>
          <p:cNvPr id="3" name="Immagine 2" descr="Schermata 06-2456452 alle 19.29.3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97" y="1181941"/>
            <a:ext cx="1376809" cy="1539372"/>
          </a:xfrm>
          <a:prstGeom prst="rect">
            <a:avLst/>
          </a:prstGeom>
        </p:spPr>
      </p:pic>
      <p:pic>
        <p:nvPicPr>
          <p:cNvPr id="4" name="Immagine 3" descr="Schermata 06-2456452 alle 19.28.2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619" y="866767"/>
            <a:ext cx="2045145" cy="1485900"/>
          </a:xfrm>
          <a:prstGeom prst="rect">
            <a:avLst/>
          </a:prstGeom>
        </p:spPr>
      </p:pic>
      <p:pic>
        <p:nvPicPr>
          <p:cNvPr id="5" name="Immagine 4" descr="Schermata 06-2456452 alle 19.28.3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466" y="847599"/>
            <a:ext cx="1289617" cy="1669838"/>
          </a:xfrm>
          <a:prstGeom prst="rect">
            <a:avLst/>
          </a:prstGeom>
        </p:spPr>
      </p:pic>
      <p:pic>
        <p:nvPicPr>
          <p:cNvPr id="6" name="Immagine 5" descr="Schermata 06-2456452 alle 19.28.48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942" y="847599"/>
            <a:ext cx="2599763" cy="1519989"/>
          </a:xfrm>
          <a:prstGeom prst="rect">
            <a:avLst/>
          </a:prstGeom>
        </p:spPr>
      </p:pic>
      <p:pic>
        <p:nvPicPr>
          <p:cNvPr id="7" name="Immagine 6" descr="Schermata 06-2456452 alle 19.29.03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233" y="1379407"/>
            <a:ext cx="1326815" cy="1976361"/>
          </a:xfrm>
          <a:prstGeom prst="rect">
            <a:avLst/>
          </a:prstGeom>
        </p:spPr>
      </p:pic>
      <p:pic>
        <p:nvPicPr>
          <p:cNvPr id="8" name="Immagine 7" descr="Schermata 06-2456452 alle 19.29.1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443" y="2020006"/>
            <a:ext cx="1649353" cy="1943224"/>
          </a:xfrm>
          <a:prstGeom prst="rect">
            <a:avLst/>
          </a:prstGeom>
        </p:spPr>
      </p:pic>
      <p:pic>
        <p:nvPicPr>
          <p:cNvPr id="9" name="Immagine 8" descr="Schermata 06-2456452 alle 19.29.2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250" y="2412707"/>
            <a:ext cx="1769167" cy="1481677"/>
          </a:xfrm>
          <a:prstGeom prst="rect">
            <a:avLst/>
          </a:prstGeom>
        </p:spPr>
      </p:pic>
      <p:pic>
        <p:nvPicPr>
          <p:cNvPr id="10" name="Immagine 9" descr="Schermata 06-2456452 alle 19.29.41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083" y="2412707"/>
            <a:ext cx="1671336" cy="1334169"/>
          </a:xfrm>
          <a:prstGeom prst="rect">
            <a:avLst/>
          </a:prstGeom>
        </p:spPr>
      </p:pic>
      <p:pic>
        <p:nvPicPr>
          <p:cNvPr id="11" name="Immagine 10" descr="Schermata 06-2456452 alle 19.37.00.p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857" y="4133640"/>
            <a:ext cx="4316452" cy="2515875"/>
          </a:xfrm>
          <a:prstGeom prst="rect">
            <a:avLst/>
          </a:prstGeom>
        </p:spPr>
      </p:pic>
      <p:sp>
        <p:nvSpPr>
          <p:cNvPr id="12" name="CasellaDiTesto 11"/>
          <p:cNvSpPr txBox="1"/>
          <p:nvPr/>
        </p:nvSpPr>
        <p:spPr>
          <a:xfrm>
            <a:off x="184981" y="4329946"/>
            <a:ext cx="1492716" cy="1618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it-IT" sz="2400" dirty="0" err="1" smtClean="0"/>
              <a:t>All</a:t>
            </a:r>
            <a:r>
              <a:rPr lang="it-IT" sz="2400" dirty="0" smtClean="0"/>
              <a:t> vs </a:t>
            </a:r>
            <a:r>
              <a:rPr lang="it-IT" sz="2400" dirty="0" err="1" smtClean="0"/>
              <a:t>All</a:t>
            </a:r>
            <a:endParaRPr lang="it-IT" sz="2400" dirty="0" smtClean="0"/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it-IT" sz="2400" dirty="0" smtClean="0"/>
              <a:t>Chain</a:t>
            </a:r>
          </a:p>
          <a:p>
            <a:pPr marL="285750" indent="-285750">
              <a:lnSpc>
                <a:spcPct val="140000"/>
              </a:lnSpc>
              <a:buFont typeface="Arial"/>
              <a:buChar char="•"/>
            </a:pPr>
            <a:r>
              <a:rPr lang="it-IT" sz="2400" dirty="0" err="1" smtClean="0"/>
              <a:t>All</a:t>
            </a:r>
            <a:r>
              <a:rPr lang="it-IT" sz="2400" dirty="0" smtClean="0"/>
              <a:t> vs 1</a:t>
            </a:r>
            <a:endParaRPr lang="it-IT" sz="2400" dirty="0"/>
          </a:p>
        </p:txBody>
      </p:sp>
      <p:sp>
        <p:nvSpPr>
          <p:cNvPr id="13" name="Freccia destra 12"/>
          <p:cNvSpPr/>
          <p:nvPr/>
        </p:nvSpPr>
        <p:spPr>
          <a:xfrm>
            <a:off x="1830555" y="4460557"/>
            <a:ext cx="1124302" cy="505747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67459" y="209351"/>
            <a:ext cx="22044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 smtClean="0">
                <a:solidFill>
                  <a:srgbClr val="404040"/>
                </a:solidFill>
              </a:rPr>
              <a:t>Conclusions</a:t>
            </a:r>
            <a:endParaRPr lang="it-IT" sz="3200" b="1" dirty="0">
              <a:solidFill>
                <a:srgbClr val="404040"/>
              </a:solidFill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87262" y="1126916"/>
            <a:ext cx="4108817" cy="1618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lnSpc>
                <a:spcPct val="140000"/>
              </a:lnSpc>
              <a:buFont typeface="Arial"/>
              <a:buChar char="•"/>
            </a:pPr>
            <a:r>
              <a:rPr lang="it-IT" sz="2400" dirty="0" err="1" smtClean="0"/>
              <a:t>Based</a:t>
            </a:r>
            <a:r>
              <a:rPr lang="it-IT" sz="2400" dirty="0" smtClean="0"/>
              <a:t> on </a:t>
            </a:r>
            <a:r>
              <a:rPr lang="it-IT" sz="2400" dirty="0" err="1" smtClean="0"/>
              <a:t>Gaussian</a:t>
            </a:r>
            <a:r>
              <a:rPr lang="it-IT" sz="2400" dirty="0" smtClean="0"/>
              <a:t> Curvature</a:t>
            </a:r>
          </a:p>
          <a:p>
            <a:pPr marL="742950" lvl="1" indent="-285750">
              <a:lnSpc>
                <a:spcPct val="140000"/>
              </a:lnSpc>
              <a:buFont typeface="Arial"/>
              <a:buChar char="•"/>
            </a:pPr>
            <a:r>
              <a:rPr lang="it-IT" sz="2400" dirty="0" smtClean="0"/>
              <a:t>Easy to </a:t>
            </a:r>
            <a:r>
              <a:rPr lang="it-IT" sz="2400" dirty="0" err="1" smtClean="0"/>
              <a:t>implement</a:t>
            </a:r>
            <a:endParaRPr lang="it-IT" sz="2400" dirty="0" smtClean="0"/>
          </a:p>
          <a:p>
            <a:pPr marL="742950" lvl="1" indent="-285750">
              <a:lnSpc>
                <a:spcPct val="140000"/>
              </a:lnSpc>
              <a:buFont typeface="Arial"/>
              <a:buChar char="•"/>
            </a:pPr>
            <a:r>
              <a:rPr lang="it-IT" sz="2400" dirty="0" smtClean="0"/>
              <a:t>Multiple </a:t>
            </a:r>
            <a:r>
              <a:rPr lang="it-IT" sz="2400" dirty="0" err="1" smtClean="0"/>
              <a:t>poses</a:t>
            </a:r>
            <a:endParaRPr lang="it-IT" sz="2400" dirty="0" smtClean="0"/>
          </a:p>
        </p:txBody>
      </p:sp>
      <p:pic>
        <p:nvPicPr>
          <p:cNvPr id="4" name="Immagine 3" descr="ar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" y="3025532"/>
            <a:ext cx="3234770" cy="3561461"/>
          </a:xfrm>
          <a:prstGeom prst="rect">
            <a:avLst/>
          </a:prstGeom>
        </p:spPr>
      </p:pic>
      <p:pic>
        <p:nvPicPr>
          <p:cNvPr id="5" name="Immagine 4" descr="Schermata 06-2456452 alle 19.49.4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696" y="3170049"/>
            <a:ext cx="4617558" cy="2966063"/>
          </a:xfrm>
          <a:prstGeom prst="rect">
            <a:avLst/>
          </a:prstGeom>
        </p:spPr>
      </p:pic>
      <p:pic>
        <p:nvPicPr>
          <p:cNvPr id="6" name="Immagine 5" descr="Schermata 06-2456452 alle 19.49.27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913" y="966500"/>
            <a:ext cx="3920794" cy="2417437"/>
          </a:xfrm>
          <a:prstGeom prst="rect">
            <a:avLst/>
          </a:prstGeom>
        </p:spPr>
      </p:pic>
      <p:grpSp>
        <p:nvGrpSpPr>
          <p:cNvPr id="9" name="Gruppo 8"/>
          <p:cNvGrpSpPr/>
          <p:nvPr/>
        </p:nvGrpSpPr>
        <p:grpSpPr>
          <a:xfrm>
            <a:off x="4690695" y="6124085"/>
            <a:ext cx="4212849" cy="716900"/>
            <a:chOff x="4196079" y="6124085"/>
            <a:chExt cx="4212849" cy="716900"/>
          </a:xfrm>
        </p:grpSpPr>
        <p:sp>
          <p:nvSpPr>
            <p:cNvPr id="7" name="CasellaDiTesto 6"/>
            <p:cNvSpPr txBox="1"/>
            <p:nvPr/>
          </p:nvSpPr>
          <p:spPr>
            <a:xfrm>
              <a:off x="4196079" y="6471653"/>
              <a:ext cx="4212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solidFill>
                    <a:srgbClr val="0000FF"/>
                  </a:solidFill>
                </a:rPr>
                <a:t>https://sites.google.com/site/marcolivesu/</a:t>
              </a:r>
              <a:endParaRPr lang="it-IT" dirty="0">
                <a:solidFill>
                  <a:srgbClr val="0000FF"/>
                </a:solidFill>
              </a:endParaRPr>
            </a:p>
          </p:txBody>
        </p:sp>
        <p:sp>
          <p:nvSpPr>
            <p:cNvPr id="8" name="CasellaDiTesto 7"/>
            <p:cNvSpPr txBox="1"/>
            <p:nvPr/>
          </p:nvSpPr>
          <p:spPr>
            <a:xfrm>
              <a:off x="4196079" y="6124085"/>
              <a:ext cx="2994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Download the source code </a:t>
              </a:r>
              <a:r>
                <a:rPr lang="it-IT" dirty="0" err="1" smtClean="0"/>
                <a:t>at</a:t>
              </a:r>
              <a:r>
                <a:rPr lang="it-IT" dirty="0" smtClean="0"/>
                <a:t>:</a:t>
              </a:r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3730" y="3136612"/>
            <a:ext cx="8976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400" dirty="0" err="1" smtClean="0"/>
              <a:t>Questions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4982595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10636</TotalTime>
  <Words>220</Words>
  <Application>Microsoft Macintosh PowerPoint</Application>
  <PresentationFormat>Presentazione su schermo (4:3)</PresentationFormat>
  <Paragraphs>60</Paragraphs>
  <Slides>12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3" baseType="lpstr">
      <vt:lpstr>Tema di Office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  <vt:lpstr>Presentazione di PowerPoint</vt:lpstr>
    </vt:vector>
  </TitlesOfParts>
  <Company>Università degli Studi di Cagliari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Marco Livesu</dc:creator>
  <cp:lastModifiedBy>Marco Livesu</cp:lastModifiedBy>
  <cp:revision>287</cp:revision>
  <dcterms:created xsi:type="dcterms:W3CDTF">2013-05-25T12:33:57Z</dcterms:created>
  <dcterms:modified xsi:type="dcterms:W3CDTF">2013-06-27T09:13:05Z</dcterms:modified>
</cp:coreProperties>
</file>