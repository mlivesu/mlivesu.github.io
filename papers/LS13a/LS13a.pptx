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5" r:id="rId2"/>
    <p:sldId id="322" r:id="rId3"/>
    <p:sldId id="256" r:id="rId4"/>
    <p:sldId id="257" r:id="rId5"/>
    <p:sldId id="258" r:id="rId6"/>
    <p:sldId id="286" r:id="rId7"/>
    <p:sldId id="303" r:id="rId8"/>
    <p:sldId id="320" r:id="rId9"/>
    <p:sldId id="288" r:id="rId10"/>
    <p:sldId id="289" r:id="rId11"/>
    <p:sldId id="290" r:id="rId12"/>
    <p:sldId id="324" r:id="rId13"/>
    <p:sldId id="309" r:id="rId14"/>
    <p:sldId id="311" r:id="rId15"/>
    <p:sldId id="312" r:id="rId16"/>
    <p:sldId id="319" r:id="rId17"/>
    <p:sldId id="304" r:id="rId18"/>
    <p:sldId id="305" r:id="rId19"/>
    <p:sldId id="306" r:id="rId20"/>
    <p:sldId id="321" r:id="rId21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6C6C"/>
    <a:srgbClr val="226BC2"/>
    <a:srgbClr val="1F5EAA"/>
    <a:srgbClr val="2072D2"/>
    <a:srgbClr val="257CE0"/>
    <a:srgbClr val="257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83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-1000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AB777-F0D4-BA46-A262-3BB612B4E46E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FA9BE-CFE9-734D-8088-1AC078188185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181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FA9BE-CFE9-734D-8088-1AC07818818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240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FA9BE-CFE9-734D-8088-1AC078188185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09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FA9BE-CFE9-734D-8088-1AC078188185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9266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FA9BE-CFE9-734D-8088-1AC078188185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926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982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76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949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485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96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3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918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73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0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316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57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5CFDC-AC31-C046-AC46-901E9E505D63}" type="datetimeFigureOut">
              <a:rPr lang="it-IT" smtClean="0"/>
              <a:t>13/06/13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67E2A-5F7A-7546-87B6-D8325FC43EA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150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jpe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38.emf"/><Relationship Id="rId7" Type="http://schemas.openxmlformats.org/officeDocument/2006/relationships/image" Target="../media/image39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Relationship Id="rId11" Type="http://schemas.openxmlformats.org/officeDocument/2006/relationships/image" Target="../media/image43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38.emf"/><Relationship Id="rId7" Type="http://schemas.openxmlformats.org/officeDocument/2006/relationships/image" Target="../media/image39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Relationship Id="rId11" Type="http://schemas.openxmlformats.org/officeDocument/2006/relationships/image" Target="../media/image43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1216526" y="2288538"/>
            <a:ext cx="70444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Extracting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 Curve-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Skeletons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 from Digital</a:t>
            </a:r>
            <a:r>
              <a:rPr lang="it-IT" sz="3200" dirty="0">
                <a:solidFill>
                  <a:srgbClr val="226BC2"/>
                </a:solidFill>
                <a:latin typeface="Calibri"/>
                <a:cs typeface="Calibri"/>
              </a:rPr>
              <a:t> </a:t>
            </a:r>
            <a:endParaRPr lang="it-IT" sz="3200" dirty="0" smtClean="0">
              <a:solidFill>
                <a:srgbClr val="226BC2"/>
              </a:solidFill>
              <a:latin typeface="Calibri"/>
              <a:cs typeface="Calibri"/>
            </a:endParaRPr>
          </a:p>
          <a:p>
            <a:pPr algn="ctr"/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Shapes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 Using 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Occluding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 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Contours</a:t>
            </a:r>
            <a:endParaRPr lang="it-IT" sz="3200" dirty="0" smtClean="0">
              <a:solidFill>
                <a:srgbClr val="226BC2"/>
              </a:solidFill>
              <a:latin typeface="Calibri"/>
              <a:cs typeface="Calibri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1368926" y="3547154"/>
            <a:ext cx="7044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smtClean="0">
                <a:solidFill>
                  <a:srgbClr val="226BC2"/>
                </a:solidFill>
                <a:latin typeface="Calibri"/>
                <a:cs typeface="Calibri"/>
              </a:rPr>
              <a:t>M. Livesu and </a:t>
            </a:r>
            <a:r>
              <a:rPr lang="it-IT" sz="2000" dirty="0" err="1" smtClean="0">
                <a:solidFill>
                  <a:srgbClr val="226BC2"/>
                </a:solidFill>
                <a:latin typeface="Calibri"/>
                <a:cs typeface="Calibri"/>
              </a:rPr>
              <a:t>R</a:t>
            </a:r>
            <a:r>
              <a:rPr lang="it-IT" sz="2000" dirty="0" smtClean="0">
                <a:solidFill>
                  <a:srgbClr val="226BC2"/>
                </a:solidFill>
                <a:latin typeface="Calibri"/>
                <a:cs typeface="Calibri"/>
              </a:rPr>
              <a:t>. Scateni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1374278" y="3993650"/>
            <a:ext cx="704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solidFill>
                  <a:srgbClr val="226BC2"/>
                </a:solidFill>
                <a:latin typeface="Calibri"/>
                <a:cs typeface="Calibri"/>
              </a:rPr>
              <a:t>Università degli Studi di Cagliari (</a:t>
            </a:r>
            <a:r>
              <a:rPr lang="it-IT" dirty="0" err="1" smtClean="0">
                <a:solidFill>
                  <a:srgbClr val="226BC2"/>
                </a:solidFill>
                <a:latin typeface="Calibri"/>
                <a:cs typeface="Calibri"/>
              </a:rPr>
              <a:t>Italy</a:t>
            </a:r>
            <a:r>
              <a:rPr lang="it-IT" dirty="0" smtClean="0">
                <a:solidFill>
                  <a:srgbClr val="226BC2"/>
                </a:solidFill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6474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91653" y="157507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Why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?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grpSp>
        <p:nvGrpSpPr>
          <p:cNvPr id="6" name="Gruppo 8"/>
          <p:cNvGrpSpPr>
            <a:grpSpLocks/>
          </p:cNvGrpSpPr>
          <p:nvPr/>
        </p:nvGrpSpPr>
        <p:grpSpPr bwMode="auto">
          <a:xfrm>
            <a:off x="847725" y="1587500"/>
            <a:ext cx="3071813" cy="666750"/>
            <a:chOff x="5352537" y="1480052"/>
            <a:chExt cx="3072326" cy="667836"/>
          </a:xfrm>
        </p:grpSpPr>
        <p:sp>
          <p:nvSpPr>
            <p:cNvPr id="7" name="CasellaDiTesto 4"/>
            <p:cNvSpPr txBox="1">
              <a:spLocks noChangeArrowheads="1"/>
            </p:cNvSpPr>
            <p:nvPr/>
          </p:nvSpPr>
          <p:spPr bwMode="auto">
            <a:xfrm>
              <a:off x="5352537" y="1480052"/>
              <a:ext cx="628313" cy="522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it-IT" dirty="0">
                  <a:solidFill>
                    <a:srgbClr val="226BC2"/>
                  </a:solidFill>
                </a:rPr>
                <a:t>1D!</a:t>
              </a:r>
            </a:p>
          </p:txBody>
        </p:sp>
        <p:sp>
          <p:nvSpPr>
            <p:cNvPr id="8" name="Figura a mano libera 7"/>
            <p:cNvSpPr/>
            <p:nvPr/>
          </p:nvSpPr>
          <p:spPr bwMode="auto">
            <a:xfrm>
              <a:off x="6225808" y="1502313"/>
              <a:ext cx="2199055" cy="645575"/>
            </a:xfrm>
            <a:custGeom>
              <a:avLst/>
              <a:gdLst>
                <a:gd name="connsiteX0" fmla="*/ 0 w 2744736"/>
                <a:gd name="connsiteY0" fmla="*/ 633465 h 951989"/>
                <a:gd name="connsiteX1" fmla="*/ 737391 w 2744736"/>
                <a:gd name="connsiteY1" fmla="*/ 5356 h 951989"/>
                <a:gd name="connsiteX2" fmla="*/ 1570371 w 2744736"/>
                <a:gd name="connsiteY2" fmla="*/ 947520 h 951989"/>
                <a:gd name="connsiteX3" fmla="*/ 2294108 w 2744736"/>
                <a:gd name="connsiteY3" fmla="*/ 374029 h 951989"/>
                <a:gd name="connsiteX4" fmla="*/ 2744736 w 2744736"/>
                <a:gd name="connsiteY4" fmla="*/ 688083 h 951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4736" h="951989">
                  <a:moveTo>
                    <a:pt x="0" y="633465"/>
                  </a:moveTo>
                  <a:cubicBezTo>
                    <a:pt x="237831" y="293239"/>
                    <a:pt x="475663" y="-46986"/>
                    <a:pt x="737391" y="5356"/>
                  </a:cubicBezTo>
                  <a:cubicBezTo>
                    <a:pt x="999119" y="57698"/>
                    <a:pt x="1310918" y="886075"/>
                    <a:pt x="1570371" y="947520"/>
                  </a:cubicBezTo>
                  <a:cubicBezTo>
                    <a:pt x="1829824" y="1008965"/>
                    <a:pt x="2098381" y="417268"/>
                    <a:pt x="2294108" y="374029"/>
                  </a:cubicBezTo>
                  <a:cubicBezTo>
                    <a:pt x="2489836" y="330789"/>
                    <a:pt x="2744736" y="688083"/>
                    <a:pt x="2744736" y="688083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9" name="Gruppo 10"/>
          <p:cNvGrpSpPr>
            <a:grpSpLocks/>
          </p:cNvGrpSpPr>
          <p:nvPr/>
        </p:nvGrpSpPr>
        <p:grpSpPr bwMode="auto">
          <a:xfrm>
            <a:off x="1450975" y="3863975"/>
            <a:ext cx="3895725" cy="2263775"/>
            <a:chOff x="2092073" y="3957472"/>
            <a:chExt cx="3896979" cy="2264603"/>
          </a:xfrm>
        </p:grpSpPr>
        <p:grpSp>
          <p:nvGrpSpPr>
            <p:cNvPr id="10" name="Gruppo 9"/>
            <p:cNvGrpSpPr>
              <a:grpSpLocks/>
            </p:cNvGrpSpPr>
            <p:nvPr/>
          </p:nvGrpSpPr>
          <p:grpSpPr bwMode="auto">
            <a:xfrm>
              <a:off x="2218824" y="4509085"/>
              <a:ext cx="3222625" cy="1712990"/>
              <a:chOff x="5721350" y="4656138"/>
              <a:chExt cx="3222625" cy="1712990"/>
            </a:xfrm>
          </p:grpSpPr>
          <p:pic>
            <p:nvPicPr>
              <p:cNvPr id="12" name="Immagine 1" descr="jiang_et_al_2012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721350" y="4656138"/>
                <a:ext cx="3222625" cy="1368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CasellaDiTesto 1"/>
              <p:cNvSpPr txBox="1">
                <a:spLocks noChangeArrowheads="1"/>
              </p:cNvSpPr>
              <p:nvPr/>
            </p:nvSpPr>
            <p:spPr bwMode="auto">
              <a:xfrm>
                <a:off x="6916434" y="6061351"/>
                <a:ext cx="146526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9pPr>
              </a:lstStyle>
              <a:p>
                <a:pPr eaLnBrk="1" hangingPunct="1"/>
                <a:r>
                  <a:rPr lang="it-IT" sz="1400"/>
                  <a:t>[Jiang et al, 2012]</a:t>
                </a:r>
              </a:p>
            </p:txBody>
          </p:sp>
        </p:grpSp>
        <p:sp>
          <p:nvSpPr>
            <p:cNvPr id="11" name="CasellaDiTesto 4"/>
            <p:cNvSpPr txBox="1">
              <a:spLocks noChangeArrowheads="1"/>
            </p:cNvSpPr>
            <p:nvPr/>
          </p:nvSpPr>
          <p:spPr bwMode="auto">
            <a:xfrm>
              <a:off x="2092073" y="3957472"/>
              <a:ext cx="38969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lang="it-IT" dirty="0">
                  <a:solidFill>
                    <a:srgbClr val="226BC2"/>
                  </a:solidFill>
                </a:rPr>
                <a:t>High-</a:t>
              </a:r>
              <a:r>
                <a:rPr lang="it-IT" dirty="0" err="1">
                  <a:solidFill>
                    <a:srgbClr val="226BC2"/>
                  </a:solidFill>
                </a:rPr>
                <a:t>level</a:t>
              </a:r>
              <a:r>
                <a:rPr lang="it-IT" dirty="0">
                  <a:solidFill>
                    <a:srgbClr val="226BC2"/>
                  </a:solidFill>
                </a:rPr>
                <a:t> </a:t>
              </a:r>
              <a:r>
                <a:rPr lang="it-IT" dirty="0" err="1">
                  <a:solidFill>
                    <a:srgbClr val="226BC2"/>
                  </a:solidFill>
                </a:rPr>
                <a:t>representation</a:t>
              </a:r>
              <a:endParaRPr lang="it-IT" dirty="0">
                <a:solidFill>
                  <a:srgbClr val="226BC2"/>
                </a:solidFill>
              </a:endParaRPr>
            </a:p>
          </p:txBody>
        </p:sp>
      </p:grpSp>
      <p:grpSp>
        <p:nvGrpSpPr>
          <p:cNvPr id="14" name="Gruppo 11"/>
          <p:cNvGrpSpPr>
            <a:grpSpLocks/>
          </p:cNvGrpSpPr>
          <p:nvPr/>
        </p:nvGrpSpPr>
        <p:grpSpPr bwMode="auto">
          <a:xfrm>
            <a:off x="5729288" y="2217738"/>
            <a:ext cx="3014662" cy="2149475"/>
            <a:chOff x="5688392" y="1294754"/>
            <a:chExt cx="3015621" cy="2149285"/>
          </a:xfrm>
        </p:grpSpPr>
        <p:grpSp>
          <p:nvGrpSpPr>
            <p:cNvPr id="15" name="Gruppo 3"/>
            <p:cNvGrpSpPr>
              <a:grpSpLocks/>
            </p:cNvGrpSpPr>
            <p:nvPr/>
          </p:nvGrpSpPr>
          <p:grpSpPr bwMode="auto">
            <a:xfrm>
              <a:off x="5741517" y="1915277"/>
              <a:ext cx="2962496" cy="1528762"/>
              <a:chOff x="3069119" y="3468573"/>
              <a:chExt cx="2961818" cy="1527114"/>
            </a:xfrm>
          </p:grpSpPr>
          <p:pic>
            <p:nvPicPr>
              <p:cNvPr id="17" name="Immagine 1" descr="au_shape_correspondence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69119" y="3468573"/>
                <a:ext cx="2961818" cy="1244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CasellaDiTesto 1"/>
              <p:cNvSpPr txBox="1">
                <a:spLocks noChangeArrowheads="1"/>
              </p:cNvSpPr>
              <p:nvPr/>
            </p:nvSpPr>
            <p:spPr bwMode="auto">
              <a:xfrm>
                <a:off x="4030582" y="4687910"/>
                <a:ext cx="130019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9pPr>
              </a:lstStyle>
              <a:p>
                <a:pPr eaLnBrk="1" hangingPunct="1"/>
                <a:r>
                  <a:rPr lang="it-IT" sz="1400"/>
                  <a:t>[Au et al, 2010]</a:t>
                </a:r>
              </a:p>
            </p:txBody>
          </p:sp>
        </p:grpSp>
        <p:sp>
          <p:nvSpPr>
            <p:cNvPr id="16" name="CasellaDiTesto 4"/>
            <p:cNvSpPr txBox="1">
              <a:spLocks noChangeArrowheads="1"/>
            </p:cNvSpPr>
            <p:nvPr/>
          </p:nvSpPr>
          <p:spPr bwMode="auto">
            <a:xfrm>
              <a:off x="5688392" y="1294754"/>
              <a:ext cx="284066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lang="it-IT" dirty="0" err="1">
                  <a:solidFill>
                    <a:srgbClr val="226BC2"/>
                  </a:solidFill>
                </a:rPr>
                <a:t>Graph-like</a:t>
              </a:r>
              <a:r>
                <a:rPr lang="it-IT" dirty="0">
                  <a:solidFill>
                    <a:srgbClr val="226BC2"/>
                  </a:solidFill>
                </a:rPr>
                <a:t> </a:t>
              </a:r>
              <a:r>
                <a:rPr lang="it-IT" dirty="0" err="1">
                  <a:solidFill>
                    <a:srgbClr val="226BC2"/>
                  </a:solidFill>
                </a:rPr>
                <a:t>structure</a:t>
              </a:r>
              <a:endParaRPr lang="it-IT" dirty="0">
                <a:solidFill>
                  <a:srgbClr val="226BC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7145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 smtClean="0">
                <a:solidFill>
                  <a:srgbClr val="226BC2"/>
                </a:solidFill>
                <a:latin typeface="Corbel"/>
                <a:cs typeface="Corbel"/>
              </a:rPr>
              <a:t>Computation</a:t>
            </a:r>
            <a:endParaRPr lang="it-IT" sz="3200" dirty="0">
              <a:solidFill>
                <a:srgbClr val="226BC2"/>
              </a:solidFill>
              <a:latin typeface="Corbel"/>
              <a:cs typeface="Corbel"/>
            </a:endParaRPr>
          </a:p>
        </p:txBody>
      </p:sp>
      <p:sp>
        <p:nvSpPr>
          <p:cNvPr id="6" name="CasellaDiTesto 4"/>
          <p:cNvSpPr txBox="1">
            <a:spLocks noChangeArrowheads="1"/>
          </p:cNvSpPr>
          <p:nvPr/>
        </p:nvSpPr>
        <p:spPr bwMode="auto">
          <a:xfrm>
            <a:off x="3041650" y="1474788"/>
            <a:ext cx="3800475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Arial" charset="0"/>
              <a:buChar char="•"/>
            </a:pPr>
            <a:r>
              <a:rPr lang="it-IT" sz="3200" dirty="0">
                <a:solidFill>
                  <a:srgbClr val="226BC2"/>
                </a:solidFill>
              </a:rPr>
              <a:t>1D</a:t>
            </a:r>
          </a:p>
          <a:p>
            <a:pPr lvl="1" eaLnBrk="1" hangingPunct="1">
              <a:lnSpc>
                <a:spcPct val="120000"/>
              </a:lnSpc>
              <a:buFont typeface="Arial" charset="0"/>
              <a:buChar char="•"/>
            </a:pPr>
            <a:r>
              <a:rPr lang="it-IT" sz="3200" dirty="0" err="1">
                <a:solidFill>
                  <a:srgbClr val="226BC2"/>
                </a:solidFill>
              </a:rPr>
              <a:t>Graph-like</a:t>
            </a:r>
            <a:r>
              <a:rPr lang="it-IT" sz="3200" dirty="0">
                <a:solidFill>
                  <a:srgbClr val="226BC2"/>
                </a:solidFill>
              </a:rPr>
              <a:t> </a:t>
            </a:r>
            <a:r>
              <a:rPr lang="it-IT" sz="3200" dirty="0" err="1">
                <a:solidFill>
                  <a:srgbClr val="226BC2"/>
                </a:solidFill>
              </a:rPr>
              <a:t>structure</a:t>
            </a:r>
            <a:endParaRPr lang="it-IT" sz="3200" dirty="0">
              <a:solidFill>
                <a:srgbClr val="226BC2"/>
              </a:solidFill>
            </a:endParaRPr>
          </a:p>
        </p:txBody>
      </p:sp>
      <p:pic>
        <p:nvPicPr>
          <p:cNvPr id="7" name="Immagine 1" descr="2D_MA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1109663"/>
            <a:ext cx="3155950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magine 2" descr="3D_MA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3263900"/>
            <a:ext cx="4500563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sellaDiTesto 3"/>
          <p:cNvSpPr txBox="1">
            <a:spLocks noChangeArrowheads="1"/>
          </p:cNvSpPr>
          <p:nvPr/>
        </p:nvSpPr>
        <p:spPr bwMode="auto">
          <a:xfrm>
            <a:off x="7210425" y="2908300"/>
            <a:ext cx="7921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it-IT" sz="8000" dirty="0">
                <a:solidFill>
                  <a:srgbClr val="FF0000"/>
                </a:solidFill>
                <a:latin typeface="Zapf Dingbats" charset="0"/>
                <a:cs typeface="Zapf Dingbats" charset="0"/>
              </a:rPr>
              <a:t>✗</a:t>
            </a:r>
            <a:endParaRPr lang="it-IT" sz="8000" dirty="0">
              <a:solidFill>
                <a:srgbClr val="FF0000"/>
              </a:solidFill>
            </a:endParaRPr>
          </a:p>
        </p:txBody>
      </p:sp>
      <p:sp>
        <p:nvSpPr>
          <p:cNvPr id="10" name="CasellaDiTesto 4"/>
          <p:cNvSpPr txBox="1">
            <a:spLocks noChangeArrowheads="1"/>
          </p:cNvSpPr>
          <p:nvPr/>
        </p:nvSpPr>
        <p:spPr bwMode="auto">
          <a:xfrm>
            <a:off x="136525" y="1216025"/>
            <a:ext cx="765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it-IT" sz="6000" dirty="0">
                <a:solidFill>
                  <a:srgbClr val="008000"/>
                </a:solidFill>
                <a:latin typeface="Zapf Dingbats" charset="0"/>
                <a:cs typeface="Zapf Dingbats" charset="0"/>
                <a:sym typeface="Zapf Dingbats" charset="0"/>
              </a:rPr>
              <a:t>✓</a:t>
            </a:r>
            <a:endParaRPr lang="it-IT" sz="6000" dirty="0">
              <a:solidFill>
                <a:srgbClr val="008000"/>
              </a:solidFill>
            </a:endParaRPr>
          </a:p>
        </p:txBody>
      </p:sp>
      <p:sp>
        <p:nvSpPr>
          <p:cNvPr id="11" name="CasellaDiTesto 4"/>
          <p:cNvSpPr txBox="1">
            <a:spLocks noChangeArrowheads="1"/>
          </p:cNvSpPr>
          <p:nvPr/>
        </p:nvSpPr>
        <p:spPr bwMode="auto">
          <a:xfrm>
            <a:off x="593725" y="4556125"/>
            <a:ext cx="380047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Arial" charset="0"/>
              <a:buChar char="•"/>
            </a:pPr>
            <a:r>
              <a:rPr lang="it-IT" sz="3200" dirty="0">
                <a:solidFill>
                  <a:srgbClr val="226BC2"/>
                </a:solidFill>
              </a:rPr>
              <a:t>1D</a:t>
            </a:r>
          </a:p>
          <a:p>
            <a:pPr lvl="1" eaLnBrk="1" hangingPunct="1">
              <a:lnSpc>
                <a:spcPct val="120000"/>
              </a:lnSpc>
              <a:buFont typeface="Arial" charset="0"/>
              <a:buChar char="•"/>
            </a:pPr>
            <a:r>
              <a:rPr lang="it-IT" sz="3200" dirty="0" err="1">
                <a:solidFill>
                  <a:srgbClr val="226BC2"/>
                </a:solidFill>
              </a:rPr>
              <a:t>Graph-like</a:t>
            </a:r>
            <a:r>
              <a:rPr lang="it-IT" sz="3200" dirty="0">
                <a:solidFill>
                  <a:srgbClr val="226BC2"/>
                </a:solidFill>
              </a:rPr>
              <a:t> </a:t>
            </a:r>
            <a:r>
              <a:rPr lang="it-IT" sz="3200" dirty="0" err="1">
                <a:solidFill>
                  <a:srgbClr val="226BC2"/>
                </a:solidFill>
              </a:rPr>
              <a:t>structure</a:t>
            </a:r>
            <a:endParaRPr lang="it-IT" sz="3200" dirty="0">
              <a:solidFill>
                <a:srgbClr val="226BC2"/>
              </a:solidFill>
            </a:endParaRPr>
          </a:p>
        </p:txBody>
      </p:sp>
      <p:cxnSp>
        <p:nvCxnSpPr>
          <p:cNvPr id="12" name="Connettore 1 11"/>
          <p:cNvCxnSpPr/>
          <p:nvPr/>
        </p:nvCxnSpPr>
        <p:spPr>
          <a:xfrm flipH="1">
            <a:off x="1415131" y="4963193"/>
            <a:ext cx="523290" cy="0"/>
          </a:xfrm>
          <a:prstGeom prst="line">
            <a:avLst/>
          </a:prstGeom>
          <a:ln w="38100" cmpd="sng">
            <a:solidFill>
              <a:srgbClr val="226B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/>
          <p:cNvCxnSpPr/>
          <p:nvPr/>
        </p:nvCxnSpPr>
        <p:spPr>
          <a:xfrm flipH="1">
            <a:off x="1388394" y="5580063"/>
            <a:ext cx="3454400" cy="0"/>
          </a:xfrm>
          <a:prstGeom prst="line">
            <a:avLst/>
          </a:prstGeom>
          <a:ln w="38100" cmpd="sng">
            <a:solidFill>
              <a:srgbClr val="226B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uppo 13"/>
          <p:cNvGrpSpPr>
            <a:grpSpLocks/>
          </p:cNvGrpSpPr>
          <p:nvPr/>
        </p:nvGrpSpPr>
        <p:grpSpPr bwMode="auto">
          <a:xfrm>
            <a:off x="608013" y="2238375"/>
            <a:ext cx="852487" cy="852488"/>
            <a:chOff x="607785" y="2238254"/>
            <a:chExt cx="852716" cy="852716"/>
          </a:xfrm>
        </p:grpSpPr>
        <p:sp>
          <p:nvSpPr>
            <p:cNvPr id="15" name="Ovale 14"/>
            <p:cNvSpPr/>
            <p:nvPr/>
          </p:nvSpPr>
          <p:spPr>
            <a:xfrm>
              <a:off x="607785" y="2238254"/>
              <a:ext cx="852716" cy="852716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6" name="Ovale 15"/>
            <p:cNvSpPr/>
            <p:nvPr/>
          </p:nvSpPr>
          <p:spPr>
            <a:xfrm>
              <a:off x="960305" y="2593949"/>
              <a:ext cx="139738" cy="1413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123528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53189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State of the art (input-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wise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)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grpSp>
        <p:nvGrpSpPr>
          <p:cNvPr id="6" name="Gruppo 16"/>
          <p:cNvGrpSpPr>
            <a:grpSpLocks/>
          </p:cNvGrpSpPr>
          <p:nvPr/>
        </p:nvGrpSpPr>
        <p:grpSpPr bwMode="auto">
          <a:xfrm>
            <a:off x="3144838" y="1487968"/>
            <a:ext cx="1816100" cy="888572"/>
            <a:chOff x="3862470" y="4110390"/>
            <a:chExt cx="1815431" cy="1023365"/>
          </a:xfrm>
        </p:grpSpPr>
        <p:pic>
          <p:nvPicPr>
            <p:cNvPr id="7" name="Immagine 15" descr="cornea_et_al_2005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2470" y="4110390"/>
              <a:ext cx="1815431" cy="820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CasellaDiTesto 14"/>
            <p:cNvSpPr txBox="1">
              <a:spLocks noChangeArrowheads="1"/>
            </p:cNvSpPr>
            <p:nvPr/>
          </p:nvSpPr>
          <p:spPr bwMode="auto">
            <a:xfrm>
              <a:off x="3989050" y="4825978"/>
              <a:ext cx="162463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[Cornea et al, 2005]</a:t>
              </a:r>
            </a:p>
          </p:txBody>
        </p:sp>
      </p:grpSp>
      <p:grpSp>
        <p:nvGrpSpPr>
          <p:cNvPr id="9" name="Gruppo 3"/>
          <p:cNvGrpSpPr>
            <a:grpSpLocks/>
          </p:cNvGrpSpPr>
          <p:nvPr/>
        </p:nvGrpSpPr>
        <p:grpSpPr bwMode="auto">
          <a:xfrm>
            <a:off x="3138488" y="1196467"/>
            <a:ext cx="2879725" cy="2194485"/>
            <a:chOff x="-1049255" y="1374578"/>
            <a:chExt cx="3421349" cy="2463598"/>
          </a:xfrm>
        </p:grpSpPr>
        <p:sp>
          <p:nvSpPr>
            <p:cNvPr id="10" name="Rettangolo arrotondato 9"/>
            <p:cNvSpPr/>
            <p:nvPr/>
          </p:nvSpPr>
          <p:spPr>
            <a:xfrm>
              <a:off x="-1049255" y="1598359"/>
              <a:ext cx="3421349" cy="2239817"/>
            </a:xfrm>
            <a:prstGeom prst="roundRect">
              <a:avLst/>
            </a:prstGeom>
            <a:noFill/>
            <a:ln w="38100" cmpd="sng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1" name="CasellaDiTesto 2"/>
            <p:cNvSpPr txBox="1">
              <a:spLocks noChangeArrowheads="1"/>
            </p:cNvSpPr>
            <p:nvPr/>
          </p:nvSpPr>
          <p:spPr bwMode="auto">
            <a:xfrm>
              <a:off x="222281" y="1374578"/>
              <a:ext cx="864474" cy="3302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600" dirty="0" err="1"/>
                <a:t>Voxels</a:t>
              </a:r>
              <a:endParaRPr lang="it-IT" sz="1600" dirty="0"/>
            </a:p>
          </p:txBody>
        </p:sp>
      </p:grpSp>
      <p:grpSp>
        <p:nvGrpSpPr>
          <p:cNvPr id="12" name="Gruppo 12"/>
          <p:cNvGrpSpPr>
            <a:grpSpLocks/>
          </p:cNvGrpSpPr>
          <p:nvPr/>
        </p:nvGrpSpPr>
        <p:grpSpPr bwMode="auto">
          <a:xfrm>
            <a:off x="4629574" y="2135261"/>
            <a:ext cx="1314450" cy="1152110"/>
            <a:chOff x="5199958" y="985022"/>
            <a:chExt cx="1312992" cy="1326137"/>
          </a:xfrm>
        </p:grpSpPr>
        <p:pic>
          <p:nvPicPr>
            <p:cNvPr id="13" name="Immagine 10" descr="liu_aet_al_2010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5786" y="985022"/>
              <a:ext cx="949051" cy="1123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CasellaDiTesto 11"/>
            <p:cNvSpPr txBox="1">
              <a:spLocks noChangeArrowheads="1"/>
            </p:cNvSpPr>
            <p:nvPr/>
          </p:nvSpPr>
          <p:spPr bwMode="auto">
            <a:xfrm>
              <a:off x="5199958" y="2003382"/>
              <a:ext cx="131299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[Liu et al, 2010]</a:t>
              </a:r>
            </a:p>
          </p:txBody>
        </p:sp>
      </p:grpSp>
      <p:grpSp>
        <p:nvGrpSpPr>
          <p:cNvPr id="15" name="Gruppo 12"/>
          <p:cNvGrpSpPr>
            <a:grpSpLocks/>
          </p:cNvGrpSpPr>
          <p:nvPr/>
        </p:nvGrpSpPr>
        <p:grpSpPr bwMode="auto">
          <a:xfrm>
            <a:off x="374650" y="1593620"/>
            <a:ext cx="1652588" cy="994815"/>
            <a:chOff x="971196" y="2642827"/>
            <a:chExt cx="1653282" cy="1146064"/>
          </a:xfrm>
        </p:grpSpPr>
        <p:pic>
          <p:nvPicPr>
            <p:cNvPr id="16" name="Immagine 4" descr="Dey and Sun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5966" y="2642827"/>
              <a:ext cx="1523789" cy="94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CasellaDiTesto 11"/>
            <p:cNvSpPr txBox="1">
              <a:spLocks noChangeArrowheads="1"/>
            </p:cNvSpPr>
            <p:nvPr/>
          </p:nvSpPr>
          <p:spPr bwMode="auto">
            <a:xfrm>
              <a:off x="971196" y="3481226"/>
              <a:ext cx="1653282" cy="307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[Dey and Sun, 2006]</a:t>
              </a:r>
            </a:p>
          </p:txBody>
        </p:sp>
      </p:grpSp>
      <p:grpSp>
        <p:nvGrpSpPr>
          <p:cNvPr id="18" name="Gruppo 4"/>
          <p:cNvGrpSpPr>
            <a:grpSpLocks/>
          </p:cNvGrpSpPr>
          <p:nvPr/>
        </p:nvGrpSpPr>
        <p:grpSpPr bwMode="auto">
          <a:xfrm>
            <a:off x="1731963" y="2619226"/>
            <a:ext cx="1300162" cy="1448760"/>
            <a:chOff x="2749253" y="3809507"/>
            <a:chExt cx="1300193" cy="1668113"/>
          </a:xfrm>
        </p:grpSpPr>
        <p:pic>
          <p:nvPicPr>
            <p:cNvPr id="19" name="Immagine 2" descr="au_et_al_2008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2245" y="3809507"/>
              <a:ext cx="903476" cy="1402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CasellaDiTesto 3"/>
            <p:cNvSpPr txBox="1">
              <a:spLocks noChangeArrowheads="1"/>
            </p:cNvSpPr>
            <p:nvPr/>
          </p:nvSpPr>
          <p:spPr bwMode="auto">
            <a:xfrm>
              <a:off x="2749253" y="5169843"/>
              <a:ext cx="130019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[Au et al, 2008]</a:t>
              </a:r>
            </a:p>
          </p:txBody>
        </p:sp>
      </p:grpSp>
      <p:grpSp>
        <p:nvGrpSpPr>
          <p:cNvPr id="21" name="Gruppo 7"/>
          <p:cNvGrpSpPr>
            <a:grpSpLocks/>
          </p:cNvGrpSpPr>
          <p:nvPr/>
        </p:nvGrpSpPr>
        <p:grpSpPr bwMode="auto">
          <a:xfrm>
            <a:off x="417513" y="4295682"/>
            <a:ext cx="1973262" cy="1280428"/>
            <a:chOff x="911377" y="4450600"/>
            <a:chExt cx="1971964" cy="1475348"/>
          </a:xfrm>
        </p:grpSpPr>
        <p:pic>
          <p:nvPicPr>
            <p:cNvPr id="22" name="Immagine 5" descr="Tagliasacchi_et_al_2008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889" y="4450600"/>
              <a:ext cx="1364377" cy="1222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CasellaDiTesto 6"/>
            <p:cNvSpPr txBox="1">
              <a:spLocks noChangeArrowheads="1"/>
            </p:cNvSpPr>
            <p:nvPr/>
          </p:nvSpPr>
          <p:spPr bwMode="auto">
            <a:xfrm>
              <a:off x="911377" y="5618171"/>
              <a:ext cx="19719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[Tagliasacchi et al, 2012]</a:t>
              </a:r>
            </a:p>
          </p:txBody>
        </p:sp>
      </p:grpSp>
      <p:grpSp>
        <p:nvGrpSpPr>
          <p:cNvPr id="24" name="Gruppo 8"/>
          <p:cNvGrpSpPr>
            <a:grpSpLocks/>
          </p:cNvGrpSpPr>
          <p:nvPr/>
        </p:nvGrpSpPr>
        <p:grpSpPr bwMode="auto">
          <a:xfrm>
            <a:off x="136525" y="1181357"/>
            <a:ext cx="2879725" cy="4477303"/>
            <a:chOff x="388470" y="1214108"/>
            <a:chExt cx="3421528" cy="5027051"/>
          </a:xfrm>
        </p:grpSpPr>
        <p:sp>
          <p:nvSpPr>
            <p:cNvPr id="25" name="Rettangolo arrotondato 24"/>
            <p:cNvSpPr/>
            <p:nvPr/>
          </p:nvSpPr>
          <p:spPr>
            <a:xfrm>
              <a:off x="388470" y="1444875"/>
              <a:ext cx="3421528" cy="4796284"/>
            </a:xfrm>
            <a:prstGeom prst="roundRect">
              <a:avLst/>
            </a:prstGeom>
            <a:noFill/>
            <a:ln w="38100" cmpd="sng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26" name="CasellaDiTesto 10"/>
            <p:cNvSpPr txBox="1">
              <a:spLocks noChangeArrowheads="1"/>
            </p:cNvSpPr>
            <p:nvPr/>
          </p:nvSpPr>
          <p:spPr bwMode="auto">
            <a:xfrm>
              <a:off x="1165200" y="1214108"/>
              <a:ext cx="1816463" cy="3302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600" dirty="0" err="1"/>
                <a:t>Triangle</a:t>
              </a:r>
              <a:r>
                <a:rPr lang="it-IT" sz="1600" dirty="0"/>
                <a:t> </a:t>
              </a:r>
              <a:r>
                <a:rPr lang="it-IT" sz="1600" dirty="0" err="1"/>
                <a:t>meshes</a:t>
              </a:r>
              <a:endParaRPr lang="it-IT" sz="1600" dirty="0"/>
            </a:p>
          </p:txBody>
        </p:sp>
      </p:grpSp>
      <p:grpSp>
        <p:nvGrpSpPr>
          <p:cNvPr id="27" name="Gruppo 3"/>
          <p:cNvGrpSpPr>
            <a:grpSpLocks/>
          </p:cNvGrpSpPr>
          <p:nvPr/>
        </p:nvGrpSpPr>
        <p:grpSpPr bwMode="auto">
          <a:xfrm>
            <a:off x="6145213" y="1193927"/>
            <a:ext cx="2879725" cy="4466321"/>
            <a:chOff x="281958" y="1127184"/>
            <a:chExt cx="3421530" cy="5013641"/>
          </a:xfrm>
        </p:grpSpPr>
        <p:sp>
          <p:nvSpPr>
            <p:cNvPr id="28" name="Rettangolo arrotondato 27"/>
            <p:cNvSpPr/>
            <p:nvPr/>
          </p:nvSpPr>
          <p:spPr>
            <a:xfrm>
              <a:off x="281958" y="1330084"/>
              <a:ext cx="3421530" cy="4810741"/>
            </a:xfrm>
            <a:prstGeom prst="roundRect">
              <a:avLst/>
            </a:prstGeom>
            <a:noFill/>
            <a:ln w="38100" cmpd="sng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29" name="CasellaDiTesto 2"/>
            <p:cNvSpPr txBox="1">
              <a:spLocks noChangeArrowheads="1"/>
            </p:cNvSpPr>
            <p:nvPr/>
          </p:nvSpPr>
          <p:spPr bwMode="auto">
            <a:xfrm>
              <a:off x="1189948" y="1127184"/>
              <a:ext cx="1830700" cy="10507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it-IT" sz="1600" dirty="0" err="1"/>
                <a:t>Polygon</a:t>
              </a:r>
              <a:r>
                <a:rPr lang="it-IT" sz="1600" dirty="0"/>
                <a:t> </a:t>
              </a:r>
              <a:r>
                <a:rPr lang="it-IT" sz="1600" dirty="0" err="1"/>
                <a:t>meshes</a:t>
              </a:r>
              <a:endParaRPr lang="it-IT" sz="1600" dirty="0"/>
            </a:p>
            <a:p>
              <a:pPr algn="ctr" eaLnBrk="1" hangingPunct="1"/>
              <a:r>
                <a:rPr lang="it-IT" sz="1600" dirty="0" err="1"/>
                <a:t>Polygon</a:t>
              </a:r>
              <a:r>
                <a:rPr lang="it-IT" sz="1600" dirty="0"/>
                <a:t> </a:t>
              </a:r>
              <a:r>
                <a:rPr lang="it-IT" sz="1600" dirty="0" err="1"/>
                <a:t>soups</a:t>
              </a:r>
              <a:endParaRPr lang="it-IT" sz="1600" dirty="0"/>
            </a:p>
            <a:p>
              <a:pPr algn="ctr" eaLnBrk="1" hangingPunct="1"/>
              <a:r>
                <a:rPr lang="it-IT" sz="1600" dirty="0" err="1"/>
                <a:t>Implicit</a:t>
              </a:r>
              <a:r>
                <a:rPr lang="it-IT" sz="1600" dirty="0"/>
                <a:t> </a:t>
              </a:r>
              <a:r>
                <a:rPr lang="it-IT" sz="1600" dirty="0" err="1"/>
                <a:t>surfaces</a:t>
              </a:r>
              <a:r>
                <a:rPr lang="it-IT" sz="1600" dirty="0"/>
                <a:t/>
              </a:r>
              <a:br>
                <a:rPr lang="it-IT" sz="1600" dirty="0"/>
              </a:br>
              <a:r>
                <a:rPr lang="it-IT" sz="1600" dirty="0"/>
                <a:t>….</a:t>
              </a:r>
            </a:p>
          </p:txBody>
        </p:sp>
      </p:grpSp>
      <p:pic>
        <p:nvPicPr>
          <p:cNvPr id="30" name="Immagine 2" descr="questi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388" y="3665259"/>
            <a:ext cx="1512887" cy="175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" name="Gruppo 30"/>
          <p:cNvGrpSpPr>
            <a:grpSpLocks/>
          </p:cNvGrpSpPr>
          <p:nvPr/>
        </p:nvGrpSpPr>
        <p:grpSpPr bwMode="auto">
          <a:xfrm>
            <a:off x="3141663" y="3477663"/>
            <a:ext cx="2879725" cy="2168297"/>
            <a:chOff x="3141663" y="3737899"/>
            <a:chExt cx="2879725" cy="2494626"/>
          </a:xfrm>
        </p:grpSpPr>
        <p:sp>
          <p:nvSpPr>
            <p:cNvPr id="32" name="Rettangolo arrotondato 31"/>
            <p:cNvSpPr/>
            <p:nvPr/>
          </p:nvSpPr>
          <p:spPr bwMode="auto">
            <a:xfrm>
              <a:off x="3141663" y="3937106"/>
              <a:ext cx="2879725" cy="2295419"/>
            </a:xfrm>
            <a:prstGeom prst="roundRect">
              <a:avLst/>
            </a:prstGeom>
            <a:noFill/>
            <a:ln w="38100" cmpd="sng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33" name="CasellaDiTesto 2"/>
            <p:cNvSpPr txBox="1">
              <a:spLocks noChangeArrowheads="1"/>
            </p:cNvSpPr>
            <p:nvPr/>
          </p:nvSpPr>
          <p:spPr bwMode="auto">
            <a:xfrm>
              <a:off x="3957556" y="3737899"/>
              <a:ext cx="1206933" cy="3384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600" dirty="0"/>
                <a:t>Point </a:t>
              </a:r>
              <a:r>
                <a:rPr lang="it-IT" sz="1600" dirty="0" err="1"/>
                <a:t>clouds</a:t>
              </a:r>
              <a:endParaRPr lang="it-IT" sz="1600" dirty="0"/>
            </a:p>
          </p:txBody>
        </p:sp>
      </p:grpSp>
      <p:grpSp>
        <p:nvGrpSpPr>
          <p:cNvPr id="34" name="Gruppo 33"/>
          <p:cNvGrpSpPr>
            <a:grpSpLocks/>
          </p:cNvGrpSpPr>
          <p:nvPr/>
        </p:nvGrpSpPr>
        <p:grpSpPr bwMode="auto">
          <a:xfrm>
            <a:off x="4048125" y="4547736"/>
            <a:ext cx="1971675" cy="961700"/>
            <a:chOff x="4022577" y="5014525"/>
            <a:chExt cx="1972213" cy="1106789"/>
          </a:xfrm>
        </p:grpSpPr>
        <p:pic>
          <p:nvPicPr>
            <p:cNvPr id="35" name="Immagine 4" descr="rosa_2009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1924" y="5014525"/>
              <a:ext cx="1196566" cy="93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CasellaDiTesto 6"/>
            <p:cNvSpPr txBox="1">
              <a:spLocks noChangeArrowheads="1"/>
            </p:cNvSpPr>
            <p:nvPr/>
          </p:nvSpPr>
          <p:spPr bwMode="auto">
            <a:xfrm>
              <a:off x="4022577" y="5813615"/>
              <a:ext cx="1972213" cy="307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[Tagliasacchi et al, 2009]</a:t>
              </a:r>
            </a:p>
          </p:txBody>
        </p:sp>
      </p:grpSp>
      <p:grpSp>
        <p:nvGrpSpPr>
          <p:cNvPr id="37" name="Gruppo 36"/>
          <p:cNvGrpSpPr>
            <a:grpSpLocks/>
          </p:cNvGrpSpPr>
          <p:nvPr/>
        </p:nvGrpSpPr>
        <p:grpSpPr bwMode="auto">
          <a:xfrm>
            <a:off x="3305175" y="3770036"/>
            <a:ext cx="1377950" cy="751975"/>
            <a:chOff x="3305308" y="4090824"/>
            <a:chExt cx="1378564" cy="865376"/>
          </a:xfrm>
        </p:grpSpPr>
        <p:pic>
          <p:nvPicPr>
            <p:cNvPr id="38" name="Immagine 3" descr="cao_2010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5369" y="4090824"/>
              <a:ext cx="1251480" cy="654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CasellaDiTesto 6"/>
            <p:cNvSpPr txBox="1">
              <a:spLocks noChangeArrowheads="1"/>
            </p:cNvSpPr>
            <p:nvPr/>
          </p:nvSpPr>
          <p:spPr bwMode="auto">
            <a:xfrm>
              <a:off x="3305308" y="4648501"/>
              <a:ext cx="1378564" cy="307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[Cao et al, 2010]</a:t>
              </a:r>
            </a:p>
          </p:txBody>
        </p:sp>
      </p:grpSp>
      <p:grpSp>
        <p:nvGrpSpPr>
          <p:cNvPr id="40" name="Gruppo 39"/>
          <p:cNvGrpSpPr>
            <a:grpSpLocks/>
          </p:cNvGrpSpPr>
          <p:nvPr/>
        </p:nvGrpSpPr>
        <p:grpSpPr bwMode="auto">
          <a:xfrm>
            <a:off x="211138" y="2770332"/>
            <a:ext cx="1482725" cy="1197641"/>
            <a:chOff x="211138" y="3011488"/>
            <a:chExt cx="1482725" cy="1377950"/>
          </a:xfrm>
        </p:grpSpPr>
        <p:pic>
          <p:nvPicPr>
            <p:cNvPr id="41" name="Immagine 2" descr="sharf_et_al_2007.pn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" y="3011488"/>
              <a:ext cx="747713" cy="1163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CasellaDiTesto 3"/>
            <p:cNvSpPr txBox="1">
              <a:spLocks noChangeArrowheads="1"/>
            </p:cNvSpPr>
            <p:nvPr/>
          </p:nvSpPr>
          <p:spPr bwMode="auto">
            <a:xfrm>
              <a:off x="211138" y="4081463"/>
              <a:ext cx="14827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400"/>
                <a:t>[Sharf et al, 2007]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1592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3"/>
          <p:cNvSpPr txBox="1">
            <a:spLocks noChangeArrowheads="1"/>
          </p:cNvSpPr>
          <p:nvPr/>
        </p:nvSpPr>
        <p:spPr bwMode="auto">
          <a:xfrm>
            <a:off x="88900" y="2733675"/>
            <a:ext cx="33178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it-IT" dirty="0" err="1"/>
              <a:t>Sometimes</a:t>
            </a:r>
            <a:r>
              <a:rPr lang="it-IT" dirty="0"/>
              <a:t> </a:t>
            </a:r>
            <a:r>
              <a:rPr lang="it-IT" dirty="0" err="1"/>
              <a:t>resolution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more </a:t>
            </a:r>
            <a:r>
              <a:rPr lang="it-IT" dirty="0" err="1"/>
              <a:t>important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</a:t>
            </a:r>
            <a:br>
              <a:rPr lang="it-IT" dirty="0"/>
            </a:br>
            <a:r>
              <a:rPr lang="it-IT" dirty="0" err="1"/>
              <a:t>shape</a:t>
            </a:r>
            <a:r>
              <a:rPr lang="it-IT" dirty="0"/>
              <a:t> </a:t>
            </a:r>
            <a:r>
              <a:rPr lang="it-IT" dirty="0" err="1"/>
              <a:t>itself</a:t>
            </a:r>
            <a:r>
              <a:rPr lang="it-IT" dirty="0"/>
              <a:t>…</a:t>
            </a:r>
          </a:p>
        </p:txBody>
      </p:sp>
      <p:grpSp>
        <p:nvGrpSpPr>
          <p:cNvPr id="7" name="Gruppo 6"/>
          <p:cNvGrpSpPr>
            <a:grpSpLocks/>
          </p:cNvGrpSpPr>
          <p:nvPr/>
        </p:nvGrpSpPr>
        <p:grpSpPr bwMode="auto">
          <a:xfrm>
            <a:off x="3497263" y="1255713"/>
            <a:ext cx="5734050" cy="4467225"/>
            <a:chOff x="3497263" y="1255713"/>
            <a:chExt cx="5734050" cy="4467227"/>
          </a:xfrm>
        </p:grpSpPr>
        <p:grpSp>
          <p:nvGrpSpPr>
            <p:cNvPr id="8" name="Gruppo 2"/>
            <p:cNvGrpSpPr>
              <a:grpSpLocks/>
            </p:cNvGrpSpPr>
            <p:nvPr/>
          </p:nvGrpSpPr>
          <p:grpSpPr bwMode="auto">
            <a:xfrm>
              <a:off x="3497263" y="1420813"/>
              <a:ext cx="5734050" cy="4302127"/>
              <a:chOff x="3421814" y="1091452"/>
              <a:chExt cx="5734050" cy="4301999"/>
            </a:xfrm>
          </p:grpSpPr>
          <p:pic>
            <p:nvPicPr>
              <p:cNvPr id="10" name="Immagine 1" descr="resolution_lack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1814" y="1091452"/>
                <a:ext cx="5734050" cy="39798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CasellaDiTesto 1"/>
              <p:cNvSpPr txBox="1">
                <a:spLocks noChangeArrowheads="1"/>
              </p:cNvSpPr>
              <p:nvPr/>
            </p:nvSpPr>
            <p:spPr bwMode="auto">
              <a:xfrm>
                <a:off x="3899644" y="4990351"/>
                <a:ext cx="177827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9pPr>
              </a:lstStyle>
              <a:p>
                <a:pPr eaLnBrk="1" hangingPunct="1"/>
                <a:r>
                  <a:rPr lang="it-IT" sz="2000"/>
                  <a:t>[Au et al, 2008]</a:t>
                </a:r>
              </a:p>
            </p:txBody>
          </p:sp>
          <p:sp>
            <p:nvSpPr>
              <p:cNvPr id="12" name="CasellaDiTesto 4"/>
              <p:cNvSpPr txBox="1">
                <a:spLocks noChangeArrowheads="1"/>
              </p:cNvSpPr>
              <p:nvPr/>
            </p:nvSpPr>
            <p:spPr bwMode="auto">
              <a:xfrm>
                <a:off x="6308166" y="4993341"/>
                <a:ext cx="227633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9pPr>
              </a:lstStyle>
              <a:p>
                <a:pPr eaLnBrk="1" hangingPunct="1"/>
                <a:r>
                  <a:rPr lang="it-IT" sz="2000"/>
                  <a:t>[Dey and Sun, 2006]</a:t>
                </a:r>
              </a:p>
            </p:txBody>
          </p:sp>
        </p:grpSp>
        <p:sp>
          <p:nvSpPr>
            <p:cNvPr id="9" name="CasellaDiTesto 5"/>
            <p:cNvSpPr txBox="1">
              <a:spLocks noChangeArrowheads="1"/>
            </p:cNvSpPr>
            <p:nvPr/>
          </p:nvSpPr>
          <p:spPr bwMode="auto">
            <a:xfrm>
              <a:off x="4811713" y="1255713"/>
              <a:ext cx="30257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2000"/>
                <a:t>Coarse hand (≈1k triangles)</a:t>
              </a:r>
            </a:p>
          </p:txBody>
        </p:sp>
      </p:grpSp>
      <p:sp>
        <p:nvSpPr>
          <p:cNvPr id="13" name="CasellaDiTesto 12"/>
          <p:cNvSpPr txBox="1"/>
          <p:nvPr/>
        </p:nvSpPr>
        <p:spPr>
          <a:xfrm>
            <a:off x="0" y="166282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State of the art (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resolution-wise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)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1592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127000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Perceptual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 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approach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sp>
        <p:nvSpPr>
          <p:cNvPr id="14" name="CasellaDiTesto 1"/>
          <p:cNvSpPr txBox="1">
            <a:spLocks noChangeArrowheads="1"/>
          </p:cNvSpPr>
          <p:nvPr/>
        </p:nvSpPr>
        <p:spPr bwMode="auto">
          <a:xfrm>
            <a:off x="231775" y="1195388"/>
            <a:ext cx="8616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it-IT" dirty="0" err="1"/>
              <a:t>What</a:t>
            </a:r>
            <a:r>
              <a:rPr lang="it-IT" dirty="0"/>
              <a:t> are the </a:t>
            </a:r>
            <a:r>
              <a:rPr lang="it-IT" dirty="0" err="1"/>
              <a:t>alternatives</a:t>
            </a:r>
            <a:r>
              <a:rPr lang="it-IT" dirty="0"/>
              <a:t>? Focus on the </a:t>
            </a:r>
            <a:r>
              <a:rPr lang="it-IT" i="1" dirty="0" err="1">
                <a:solidFill>
                  <a:srgbClr val="226BC2"/>
                </a:solidFill>
              </a:rPr>
              <a:t>appearance</a:t>
            </a:r>
            <a:r>
              <a:rPr lang="it-IT" dirty="0">
                <a:solidFill>
                  <a:srgbClr val="226BC2"/>
                </a:solidFill>
              </a:rPr>
              <a:t> </a:t>
            </a:r>
            <a:r>
              <a:rPr lang="it-IT" dirty="0"/>
              <a:t>of the </a:t>
            </a:r>
            <a:r>
              <a:rPr lang="it-IT" dirty="0" err="1"/>
              <a:t>shapes</a:t>
            </a:r>
            <a:endParaRPr lang="it-IT" dirty="0"/>
          </a:p>
        </p:txBody>
      </p:sp>
      <p:pic>
        <p:nvPicPr>
          <p:cNvPr id="15" name="Immagine 6" descr="hand_1k_ske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1819275"/>
            <a:ext cx="1408112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magine 5" descr="hand_273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738" y="2047875"/>
            <a:ext cx="2489200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uppo 16"/>
          <p:cNvGrpSpPr>
            <a:grpSpLocks/>
          </p:cNvGrpSpPr>
          <p:nvPr/>
        </p:nvGrpSpPr>
        <p:grpSpPr bwMode="auto">
          <a:xfrm>
            <a:off x="614363" y="2035175"/>
            <a:ext cx="6273800" cy="3362325"/>
            <a:chOff x="614363" y="2035175"/>
            <a:chExt cx="6273800" cy="3362325"/>
          </a:xfrm>
        </p:grpSpPr>
        <p:pic>
          <p:nvPicPr>
            <p:cNvPr id="18" name="Immagine 4" descr="hand_1k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363" y="2035175"/>
              <a:ext cx="2506662" cy="336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CasellaDiTesto 3"/>
            <p:cNvSpPr txBox="1">
              <a:spLocks noChangeArrowheads="1"/>
            </p:cNvSpPr>
            <p:nvPr/>
          </p:nvSpPr>
          <p:spPr bwMode="auto">
            <a:xfrm>
              <a:off x="2471738" y="2443163"/>
              <a:ext cx="12874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800"/>
                <a:t>1K triangles</a:t>
              </a:r>
            </a:p>
          </p:txBody>
        </p:sp>
        <p:sp>
          <p:nvSpPr>
            <p:cNvPr id="20" name="CasellaDiTesto 7"/>
            <p:cNvSpPr txBox="1">
              <a:spLocks noChangeArrowheads="1"/>
            </p:cNvSpPr>
            <p:nvPr/>
          </p:nvSpPr>
          <p:spPr bwMode="auto">
            <a:xfrm>
              <a:off x="5370513" y="4713288"/>
              <a:ext cx="15176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it-IT" sz="1800"/>
                <a:t>273K triangles</a:t>
              </a:r>
            </a:p>
          </p:txBody>
        </p:sp>
      </p:grpSp>
      <p:sp>
        <p:nvSpPr>
          <p:cNvPr id="21" name="CasellaDiTesto 1"/>
          <p:cNvSpPr txBox="1">
            <a:spLocks noChangeArrowheads="1"/>
          </p:cNvSpPr>
          <p:nvPr/>
        </p:nvSpPr>
        <p:spPr bwMode="auto">
          <a:xfrm>
            <a:off x="2353901" y="5807931"/>
            <a:ext cx="68008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it-IT" sz="2800" dirty="0" smtClean="0"/>
              <a:t>GOALS: </a:t>
            </a:r>
            <a:r>
              <a:rPr lang="it-IT" sz="2800" i="1" dirty="0" err="1">
                <a:solidFill>
                  <a:srgbClr val="226BC2"/>
                </a:solidFill>
              </a:rPr>
              <a:t>resolution</a:t>
            </a:r>
            <a:r>
              <a:rPr lang="it-IT" sz="2800" dirty="0">
                <a:solidFill>
                  <a:srgbClr val="226BC2"/>
                </a:solidFill>
              </a:rPr>
              <a:t> </a:t>
            </a:r>
            <a:r>
              <a:rPr lang="it-IT" sz="2800" dirty="0"/>
              <a:t>and </a:t>
            </a:r>
            <a:r>
              <a:rPr lang="it-IT" sz="2800" i="1" dirty="0">
                <a:solidFill>
                  <a:srgbClr val="226BC2"/>
                </a:solidFill>
              </a:rPr>
              <a:t>format</a:t>
            </a:r>
            <a:r>
              <a:rPr lang="it-IT" sz="2800" dirty="0">
                <a:solidFill>
                  <a:srgbClr val="226BC2"/>
                </a:solidFill>
              </a:rPr>
              <a:t> </a:t>
            </a:r>
            <a:r>
              <a:rPr lang="it-IT" sz="2800" dirty="0" err="1"/>
              <a:t>independence</a:t>
            </a:r>
            <a:r>
              <a:rPr lang="it-IT" sz="2800" dirty="0"/>
              <a:t>!</a:t>
            </a:r>
          </a:p>
        </p:txBody>
      </p:sp>
      <p:pic>
        <p:nvPicPr>
          <p:cNvPr id="22" name="Immagine 21" descr="hand_273K_skel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950" y="3822700"/>
            <a:ext cx="1425575" cy="181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1954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Occlusions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grpSp>
        <p:nvGrpSpPr>
          <p:cNvPr id="4" name="Gruppo 3"/>
          <p:cNvGrpSpPr/>
          <p:nvPr/>
        </p:nvGrpSpPr>
        <p:grpSpPr>
          <a:xfrm>
            <a:off x="2627372" y="1319739"/>
            <a:ext cx="2520950" cy="1541463"/>
            <a:chOff x="2470071" y="1882725"/>
            <a:chExt cx="2520950" cy="1541463"/>
          </a:xfrm>
        </p:grpSpPr>
        <p:cxnSp>
          <p:nvCxnSpPr>
            <p:cNvPr id="5" name="Connettore 1 4"/>
            <p:cNvCxnSpPr/>
            <p:nvPr/>
          </p:nvCxnSpPr>
          <p:spPr bwMode="auto">
            <a:xfrm flipV="1">
              <a:off x="3716258" y="2919363"/>
              <a:ext cx="1588" cy="407987"/>
            </a:xfrm>
            <a:prstGeom prst="line">
              <a:avLst/>
            </a:prstGeom>
            <a:ln w="19050" cmpd="sng">
              <a:solidFill>
                <a:srgbClr val="226BC2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e 5"/>
            <p:cNvSpPr/>
            <p:nvPr/>
          </p:nvSpPr>
          <p:spPr bwMode="auto">
            <a:xfrm>
              <a:off x="3606721" y="3217813"/>
              <a:ext cx="206375" cy="206375"/>
            </a:xfrm>
            <a:prstGeom prst="ellipse">
              <a:avLst/>
            </a:prstGeom>
            <a:solidFill>
              <a:srgbClr val="226BC2"/>
            </a:solidFill>
            <a:ln>
              <a:solidFill>
                <a:srgbClr val="226B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/>
            </a:p>
          </p:txBody>
        </p:sp>
        <p:pic>
          <p:nvPicPr>
            <p:cNvPr id="7" name="Immagine 5" descr="knot_duo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0071" y="1882725"/>
              <a:ext cx="2520950" cy="1192609"/>
            </a:xfrm>
            <a:prstGeom prst="rect">
              <a:avLst/>
            </a:prstGeom>
            <a:noFill/>
            <a:ln w="9525">
              <a:solidFill>
                <a:srgbClr val="226BC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uppo 7"/>
          <p:cNvGrpSpPr/>
          <p:nvPr/>
        </p:nvGrpSpPr>
        <p:grpSpPr>
          <a:xfrm>
            <a:off x="216792" y="2490266"/>
            <a:ext cx="8927208" cy="553998"/>
            <a:chOff x="8691" y="3053252"/>
            <a:chExt cx="8927208" cy="553998"/>
          </a:xfrm>
        </p:grpSpPr>
        <p:cxnSp>
          <p:nvCxnSpPr>
            <p:cNvPr id="9" name="Connettore 1 8"/>
            <p:cNvCxnSpPr/>
            <p:nvPr/>
          </p:nvCxnSpPr>
          <p:spPr bwMode="auto">
            <a:xfrm>
              <a:off x="1444345" y="3319952"/>
              <a:ext cx="6206438" cy="0"/>
            </a:xfrm>
            <a:prstGeom prst="line">
              <a:avLst/>
            </a:prstGeom>
            <a:ln w="57150" cmpd="sng">
              <a:solidFill>
                <a:srgbClr val="226BC2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sellaDiTesto 9"/>
            <p:cNvSpPr txBox="1"/>
            <p:nvPr/>
          </p:nvSpPr>
          <p:spPr bwMode="auto">
            <a:xfrm>
              <a:off x="8691" y="3053252"/>
              <a:ext cx="180764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it-IT" sz="1400" dirty="0">
                  <a:solidFill>
                    <a:srgbClr val="226BC2"/>
                  </a:solidFill>
                </a:rPr>
                <a:t>MIN</a:t>
              </a:r>
            </a:p>
            <a:p>
              <a:pPr algn="ctr">
                <a:defRPr/>
              </a:pPr>
              <a:r>
                <a:rPr lang="it-IT" sz="1600" dirty="0">
                  <a:solidFill>
                    <a:srgbClr val="226BC2"/>
                  </a:solidFill>
                </a:rPr>
                <a:t>OCCLUSION</a:t>
              </a:r>
              <a:endParaRPr lang="it-IT" sz="1400" dirty="0">
                <a:solidFill>
                  <a:srgbClr val="226BC2"/>
                </a:solidFill>
              </a:endParaRPr>
            </a:p>
          </p:txBody>
        </p:sp>
        <p:sp>
          <p:nvSpPr>
            <p:cNvPr id="11" name="CasellaDiTesto 17"/>
            <p:cNvSpPr txBox="1">
              <a:spLocks noChangeArrowheads="1"/>
            </p:cNvSpPr>
            <p:nvPr/>
          </p:nvSpPr>
          <p:spPr bwMode="auto">
            <a:xfrm>
              <a:off x="7318570" y="3058598"/>
              <a:ext cx="1617329" cy="523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it-IT" sz="1400" dirty="0">
                  <a:solidFill>
                    <a:srgbClr val="226BC2"/>
                  </a:solidFill>
                </a:rPr>
                <a:t>MAX</a:t>
              </a:r>
            </a:p>
            <a:p>
              <a:pPr algn="ctr" eaLnBrk="1" hangingPunct="1"/>
              <a:r>
                <a:rPr lang="it-IT" sz="1400" dirty="0">
                  <a:solidFill>
                    <a:srgbClr val="226BC2"/>
                  </a:solidFill>
                </a:rPr>
                <a:t>OCCLUSION</a:t>
              </a:r>
            </a:p>
          </p:txBody>
        </p:sp>
      </p:grpSp>
      <p:grpSp>
        <p:nvGrpSpPr>
          <p:cNvPr id="12" name="Gruppo 11"/>
          <p:cNvGrpSpPr/>
          <p:nvPr/>
        </p:nvGrpSpPr>
        <p:grpSpPr>
          <a:xfrm>
            <a:off x="5750241" y="1461139"/>
            <a:ext cx="2700337" cy="1387475"/>
            <a:chOff x="5592940" y="2024125"/>
            <a:chExt cx="2700337" cy="1387475"/>
          </a:xfrm>
        </p:grpSpPr>
        <p:sp>
          <p:nvSpPr>
            <p:cNvPr id="14" name="Ovale 13"/>
            <p:cNvSpPr/>
            <p:nvPr/>
          </p:nvSpPr>
          <p:spPr bwMode="auto">
            <a:xfrm>
              <a:off x="6840715" y="3205225"/>
              <a:ext cx="206375" cy="206375"/>
            </a:xfrm>
            <a:prstGeom prst="ellipse">
              <a:avLst/>
            </a:prstGeom>
            <a:solidFill>
              <a:srgbClr val="226BC2"/>
            </a:solidFill>
            <a:ln>
              <a:solidFill>
                <a:srgbClr val="226B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rgbClr val="226BC2"/>
                </a:solidFill>
              </a:endParaRPr>
            </a:p>
          </p:txBody>
        </p:sp>
        <p:pic>
          <p:nvPicPr>
            <p:cNvPr id="15" name="Immagine 7" descr="hand_duo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2940" y="2024125"/>
              <a:ext cx="2700337" cy="818049"/>
            </a:xfrm>
            <a:prstGeom prst="rect">
              <a:avLst/>
            </a:prstGeom>
            <a:noFill/>
            <a:ln w="9525">
              <a:solidFill>
                <a:srgbClr val="226BC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Connettore 1 15"/>
            <p:cNvCxnSpPr/>
            <p:nvPr/>
          </p:nvCxnSpPr>
          <p:spPr bwMode="auto">
            <a:xfrm flipV="1">
              <a:off x="6940727" y="2841687"/>
              <a:ext cx="3175" cy="409575"/>
            </a:xfrm>
            <a:prstGeom prst="line">
              <a:avLst/>
            </a:prstGeom>
            <a:ln w="19050" cmpd="sng">
              <a:solidFill>
                <a:srgbClr val="226BC2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o 16"/>
          <p:cNvGrpSpPr/>
          <p:nvPr/>
        </p:nvGrpSpPr>
        <p:grpSpPr>
          <a:xfrm>
            <a:off x="4125923" y="2654827"/>
            <a:ext cx="2693988" cy="2925762"/>
            <a:chOff x="3968622" y="3217813"/>
            <a:chExt cx="2693988" cy="2925762"/>
          </a:xfrm>
        </p:grpSpPr>
        <p:cxnSp>
          <p:nvCxnSpPr>
            <p:cNvPr id="18" name="Connettore 1 17"/>
            <p:cNvCxnSpPr/>
            <p:nvPr/>
          </p:nvCxnSpPr>
          <p:spPr bwMode="auto">
            <a:xfrm flipV="1">
              <a:off x="5323997" y="3349575"/>
              <a:ext cx="3175" cy="407988"/>
            </a:xfrm>
            <a:prstGeom prst="line">
              <a:avLst/>
            </a:prstGeom>
            <a:ln w="19050" cmpd="sng">
              <a:solidFill>
                <a:srgbClr val="226BC2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e 18"/>
            <p:cNvSpPr/>
            <p:nvPr/>
          </p:nvSpPr>
          <p:spPr bwMode="auto">
            <a:xfrm>
              <a:off x="5225572" y="3217813"/>
              <a:ext cx="206375" cy="206375"/>
            </a:xfrm>
            <a:prstGeom prst="ellipse">
              <a:avLst/>
            </a:prstGeom>
            <a:solidFill>
              <a:srgbClr val="226BC2"/>
            </a:solidFill>
            <a:ln>
              <a:solidFill>
                <a:srgbClr val="226B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 sz="3200"/>
            </a:p>
          </p:txBody>
        </p:sp>
        <p:pic>
          <p:nvPicPr>
            <p:cNvPr id="20" name="Immagine 6" descr="horse_du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622" y="3635042"/>
              <a:ext cx="2693988" cy="2508533"/>
            </a:xfrm>
            <a:prstGeom prst="rect">
              <a:avLst/>
            </a:prstGeom>
            <a:noFill/>
            <a:ln w="9525">
              <a:solidFill>
                <a:srgbClr val="226BC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uppo 20"/>
          <p:cNvGrpSpPr/>
          <p:nvPr/>
        </p:nvGrpSpPr>
        <p:grpSpPr>
          <a:xfrm>
            <a:off x="766901" y="2653778"/>
            <a:ext cx="2982090" cy="2658474"/>
            <a:chOff x="609600" y="3216764"/>
            <a:chExt cx="2982090" cy="2658474"/>
          </a:xfrm>
        </p:grpSpPr>
        <p:sp>
          <p:nvSpPr>
            <p:cNvPr id="22" name="Ovale 21"/>
            <p:cNvSpPr/>
            <p:nvPr/>
          </p:nvSpPr>
          <p:spPr bwMode="auto">
            <a:xfrm>
              <a:off x="2001015" y="3216764"/>
              <a:ext cx="206375" cy="206375"/>
            </a:xfrm>
            <a:prstGeom prst="ellipse">
              <a:avLst/>
            </a:prstGeom>
            <a:solidFill>
              <a:srgbClr val="226BC2"/>
            </a:solidFill>
            <a:ln>
              <a:solidFill>
                <a:srgbClr val="226B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rgbClr val="226BC2"/>
                </a:solidFill>
              </a:endParaRPr>
            </a:p>
          </p:txBody>
        </p:sp>
        <p:cxnSp>
          <p:nvCxnSpPr>
            <p:cNvPr id="23" name="Connettore 1 22"/>
            <p:cNvCxnSpPr/>
            <p:nvPr/>
          </p:nvCxnSpPr>
          <p:spPr bwMode="auto">
            <a:xfrm flipV="1">
              <a:off x="2102536" y="3348051"/>
              <a:ext cx="0" cy="779449"/>
            </a:xfrm>
            <a:prstGeom prst="line">
              <a:avLst/>
            </a:prstGeom>
            <a:ln w="19050" cmpd="sng">
              <a:solidFill>
                <a:srgbClr val="226BC2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magine 23" descr="hand_sil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3948063"/>
              <a:ext cx="2982090" cy="1927175"/>
            </a:xfrm>
            <a:prstGeom prst="rect">
              <a:avLst/>
            </a:prstGeom>
            <a:ln>
              <a:solidFill>
                <a:srgbClr val="4F81BD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893340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Pipeline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grpSp>
        <p:nvGrpSpPr>
          <p:cNvPr id="21" name="Gruppo 20"/>
          <p:cNvGrpSpPr/>
          <p:nvPr/>
        </p:nvGrpSpPr>
        <p:grpSpPr>
          <a:xfrm>
            <a:off x="0" y="883599"/>
            <a:ext cx="9118109" cy="1834557"/>
            <a:chOff x="0" y="883599"/>
            <a:chExt cx="9118109" cy="1834557"/>
          </a:xfrm>
        </p:grpSpPr>
        <p:grpSp>
          <p:nvGrpSpPr>
            <p:cNvPr id="2" name="Gruppo 1"/>
            <p:cNvGrpSpPr/>
            <p:nvPr/>
          </p:nvGrpSpPr>
          <p:grpSpPr>
            <a:xfrm>
              <a:off x="82616" y="883599"/>
              <a:ext cx="3125762" cy="1834557"/>
              <a:chOff x="5095368" y="1195388"/>
              <a:chExt cx="3125762" cy="1834557"/>
            </a:xfrm>
          </p:grpSpPr>
          <p:pic>
            <p:nvPicPr>
              <p:cNvPr id="9" name="Immagine 8" descr="Schermata 05-2456435 alle 16.50.06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95368" y="1195388"/>
                <a:ext cx="1360458" cy="1834557"/>
              </a:xfrm>
              <a:prstGeom prst="rect">
                <a:avLst/>
              </a:prstGeom>
            </p:spPr>
          </p:pic>
          <p:pic>
            <p:nvPicPr>
              <p:cNvPr id="10" name="Immagine 9" descr="1_0_solo silhouettes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2275" y="1745717"/>
                <a:ext cx="1708855" cy="743795"/>
              </a:xfrm>
              <a:prstGeom prst="rect">
                <a:avLst/>
              </a:prstGeom>
            </p:spPr>
          </p:pic>
        </p:grpSp>
        <p:sp>
          <p:nvSpPr>
            <p:cNvPr id="4" name="CasellaDiTesto 1"/>
            <p:cNvSpPr txBox="1">
              <a:spLocks noChangeArrowheads="1"/>
            </p:cNvSpPr>
            <p:nvPr/>
          </p:nvSpPr>
          <p:spPr bwMode="auto">
            <a:xfrm>
              <a:off x="0" y="1493305"/>
              <a:ext cx="911810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it-IT" dirty="0" err="1" smtClean="0"/>
                <a:t>gather</a:t>
              </a:r>
              <a:r>
                <a:rPr lang="it-IT" dirty="0" smtClean="0"/>
                <a:t> </a:t>
              </a:r>
              <a:r>
                <a:rPr lang="it-IT" dirty="0" err="1" smtClean="0"/>
                <a:t>silhouettes</a:t>
              </a:r>
              <a:endParaRPr lang="it-IT" dirty="0"/>
            </a:p>
          </p:txBody>
        </p:sp>
      </p:grpSp>
      <p:grpSp>
        <p:nvGrpSpPr>
          <p:cNvPr id="22" name="Gruppo 21"/>
          <p:cNvGrpSpPr/>
          <p:nvPr/>
        </p:nvGrpSpPr>
        <p:grpSpPr>
          <a:xfrm>
            <a:off x="0" y="2404533"/>
            <a:ext cx="9143999" cy="1329914"/>
            <a:chOff x="0" y="2404533"/>
            <a:chExt cx="9143999" cy="1329914"/>
          </a:xfrm>
        </p:grpSpPr>
        <p:grpSp>
          <p:nvGrpSpPr>
            <p:cNvPr id="7" name="Gruppo 6"/>
            <p:cNvGrpSpPr/>
            <p:nvPr/>
          </p:nvGrpSpPr>
          <p:grpSpPr>
            <a:xfrm>
              <a:off x="6364668" y="2404533"/>
              <a:ext cx="2135072" cy="1329914"/>
              <a:chOff x="3604279" y="3350967"/>
              <a:chExt cx="2100402" cy="1308318"/>
            </a:xfrm>
          </p:grpSpPr>
          <p:pic>
            <p:nvPicPr>
              <p:cNvPr id="5" name="Immagine 4" descr="Schermata 05-2456437 alle 23.19.43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914867">
                <a:off x="3604279" y="3350967"/>
                <a:ext cx="830067" cy="1308318"/>
              </a:xfrm>
              <a:prstGeom prst="rect">
                <a:avLst/>
              </a:prstGeom>
            </p:spPr>
          </p:pic>
          <p:pic>
            <p:nvPicPr>
              <p:cNvPr id="6" name="Immagine 5" descr="Schermata 05-2456437 alle 23.19.53.png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1266">
                <a:off x="4711368" y="3626293"/>
                <a:ext cx="993313" cy="975784"/>
              </a:xfrm>
              <a:prstGeom prst="rect">
                <a:avLst/>
              </a:prstGeom>
            </p:spPr>
          </p:pic>
        </p:grpSp>
        <p:sp>
          <p:nvSpPr>
            <p:cNvPr id="8" name="CasellaDiTesto 1"/>
            <p:cNvSpPr txBox="1">
              <a:spLocks noChangeArrowheads="1"/>
            </p:cNvSpPr>
            <p:nvPr/>
          </p:nvSpPr>
          <p:spPr bwMode="auto">
            <a:xfrm>
              <a:off x="0" y="2718156"/>
              <a:ext cx="914399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it-IT" dirty="0" err="1" smtClean="0"/>
                <a:t>filter</a:t>
              </a:r>
              <a:r>
                <a:rPr lang="it-IT" dirty="0" smtClean="0"/>
                <a:t> 2D </a:t>
              </a:r>
              <a:r>
                <a:rPr lang="it-IT" dirty="0" err="1" smtClean="0"/>
                <a:t>skeletons</a:t>
              </a:r>
              <a:endParaRPr lang="it-IT" dirty="0"/>
            </a:p>
          </p:txBody>
        </p:sp>
      </p:grpSp>
      <p:grpSp>
        <p:nvGrpSpPr>
          <p:cNvPr id="23" name="Gruppo 22"/>
          <p:cNvGrpSpPr/>
          <p:nvPr/>
        </p:nvGrpSpPr>
        <p:grpSpPr>
          <a:xfrm>
            <a:off x="0" y="3531251"/>
            <a:ext cx="9144000" cy="1435508"/>
            <a:chOff x="0" y="3531251"/>
            <a:chExt cx="9144000" cy="1435508"/>
          </a:xfrm>
        </p:grpSpPr>
        <p:pic>
          <p:nvPicPr>
            <p:cNvPr id="11" name="Immagine 10" descr="Schermata 05-2456437 alle 23.22.39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108" y="3531251"/>
              <a:ext cx="1712429" cy="1435508"/>
            </a:xfrm>
            <a:prstGeom prst="rect">
              <a:avLst/>
            </a:prstGeom>
          </p:spPr>
        </p:pic>
        <p:sp>
          <p:nvSpPr>
            <p:cNvPr id="14" name="CasellaDiTesto 1"/>
            <p:cNvSpPr txBox="1">
              <a:spLocks noChangeArrowheads="1"/>
            </p:cNvSpPr>
            <p:nvPr/>
          </p:nvSpPr>
          <p:spPr bwMode="auto">
            <a:xfrm>
              <a:off x="0" y="3943007"/>
              <a:ext cx="91440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it-IT" dirty="0" smtClean="0"/>
                <a:t>back-</a:t>
              </a:r>
              <a:r>
                <a:rPr lang="it-IT" dirty="0" err="1" smtClean="0"/>
                <a:t>project</a:t>
              </a:r>
              <a:r>
                <a:rPr lang="it-IT" dirty="0" smtClean="0"/>
                <a:t> </a:t>
              </a:r>
              <a:r>
                <a:rPr lang="it-IT" dirty="0" err="1" smtClean="0"/>
                <a:t>medial</a:t>
              </a:r>
              <a:r>
                <a:rPr lang="it-IT" dirty="0" smtClean="0"/>
                <a:t> </a:t>
              </a:r>
              <a:r>
                <a:rPr lang="it-IT" dirty="0" err="1" smtClean="0"/>
                <a:t>points</a:t>
              </a:r>
              <a:r>
                <a:rPr lang="it-IT" dirty="0" smtClean="0"/>
                <a:t> </a:t>
              </a:r>
              <a:endParaRPr lang="it-IT" dirty="0"/>
            </a:p>
          </p:txBody>
        </p:sp>
      </p:grpSp>
      <p:grpSp>
        <p:nvGrpSpPr>
          <p:cNvPr id="24" name="Gruppo 23"/>
          <p:cNvGrpSpPr/>
          <p:nvPr/>
        </p:nvGrpSpPr>
        <p:grpSpPr>
          <a:xfrm>
            <a:off x="0" y="4809065"/>
            <a:ext cx="9144000" cy="1460613"/>
            <a:chOff x="0" y="4809065"/>
            <a:chExt cx="9144000" cy="1460613"/>
          </a:xfrm>
        </p:grpSpPr>
        <p:sp>
          <p:nvSpPr>
            <p:cNvPr id="15" name="CasellaDiTesto 1"/>
            <p:cNvSpPr txBox="1">
              <a:spLocks noChangeArrowheads="1"/>
            </p:cNvSpPr>
            <p:nvPr/>
          </p:nvSpPr>
          <p:spPr bwMode="auto">
            <a:xfrm>
              <a:off x="0" y="5167858"/>
              <a:ext cx="91440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r>
                <a:rPr lang="it-IT" dirty="0" smtClean="0"/>
                <a:t>Compute </a:t>
              </a:r>
              <a:r>
                <a:rPr lang="it-IT" dirty="0" err="1" smtClean="0"/>
                <a:t>skeleton</a:t>
              </a:r>
              <a:r>
                <a:rPr lang="it-IT" dirty="0" smtClean="0"/>
                <a:t> </a:t>
              </a:r>
              <a:r>
                <a:rPr lang="it-IT" dirty="0" err="1" smtClean="0"/>
                <a:t>paths</a:t>
              </a:r>
              <a:endParaRPr lang="it-IT" dirty="0"/>
            </a:p>
          </p:txBody>
        </p:sp>
        <p:grpSp>
          <p:nvGrpSpPr>
            <p:cNvPr id="20" name="Gruppo 19"/>
            <p:cNvGrpSpPr/>
            <p:nvPr/>
          </p:nvGrpSpPr>
          <p:grpSpPr>
            <a:xfrm>
              <a:off x="6583311" y="4809065"/>
              <a:ext cx="2252756" cy="1460613"/>
              <a:chOff x="474446" y="4297909"/>
              <a:chExt cx="3331446" cy="2160000"/>
            </a:xfrm>
          </p:grpSpPr>
          <p:pic>
            <p:nvPicPr>
              <p:cNvPr id="18" name="Immagine 17" descr="hand_cloud.png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4446" y="4297909"/>
                <a:ext cx="1621433" cy="2160000"/>
              </a:xfrm>
              <a:prstGeom prst="rect">
                <a:avLst/>
              </a:prstGeom>
            </p:spPr>
          </p:pic>
          <p:pic>
            <p:nvPicPr>
              <p:cNvPr id="19" name="Immagine 18" descr="hand_good.png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22821" y="4297909"/>
                <a:ext cx="1583071" cy="2160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80737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Skeleton</a:t>
            </a:r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 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pic>
        <p:nvPicPr>
          <p:cNvPr id="18" name="Immagine 17" descr="1_0_solo silhouett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0" y="1300684"/>
            <a:ext cx="2778125" cy="4191337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/>
          <p:cNvSpPr/>
          <p:nvPr/>
        </p:nvSpPr>
        <p:spPr>
          <a:xfrm>
            <a:off x="5021262" y="1438996"/>
            <a:ext cx="2778125" cy="4191337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542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1_1_con_scheletr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226BC2"/>
                </a:solidFill>
                <a:cs typeface="Calibri"/>
              </a:rPr>
              <a:t>Skeleton</a:t>
            </a:r>
            <a:r>
              <a:rPr lang="it-IT" sz="3200" dirty="0">
                <a:solidFill>
                  <a:srgbClr val="226BC2"/>
                </a:solidFill>
                <a:cs typeface="Calibri"/>
              </a:rPr>
              <a:t> 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  <p:sp>
        <p:nvSpPr>
          <p:cNvPr id="5" name="Rettangolo 4"/>
          <p:cNvSpPr/>
          <p:nvPr/>
        </p:nvSpPr>
        <p:spPr>
          <a:xfrm>
            <a:off x="0" y="1300684"/>
            <a:ext cx="2778125" cy="4191337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/>
        </p:nvSpPr>
        <p:spPr>
          <a:xfrm>
            <a:off x="5021262" y="1438996"/>
            <a:ext cx="2778125" cy="4191337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542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1_2_con occlusion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226BC2"/>
                </a:solidFill>
                <a:cs typeface="Calibri"/>
              </a:rPr>
              <a:t>Skeleton</a:t>
            </a:r>
            <a:r>
              <a:rPr lang="it-IT" sz="3200" dirty="0">
                <a:solidFill>
                  <a:srgbClr val="226BC2"/>
                </a:solidFill>
                <a:cs typeface="Calibri"/>
              </a:rPr>
              <a:t> 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0" y="1300684"/>
            <a:ext cx="2778125" cy="4191337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/>
        </p:nvSpPr>
        <p:spPr>
          <a:xfrm>
            <a:off x="5021262" y="1438996"/>
            <a:ext cx="2778125" cy="4191337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542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226BC2"/>
                </a:solidFill>
                <a:cs typeface="Calibri"/>
              </a:rPr>
              <a:t>Skeleton</a:t>
            </a:r>
            <a:r>
              <a:rPr lang="it-IT" sz="3200" dirty="0">
                <a:solidFill>
                  <a:srgbClr val="226BC2"/>
                </a:solidFill>
                <a:cs typeface="Calibri"/>
              </a:rPr>
              <a:t> 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  <p:pic>
        <p:nvPicPr>
          <p:cNvPr id="2" name="Immagine 1" descr="Senza titolo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vale 2"/>
          <p:cNvSpPr/>
          <p:nvPr/>
        </p:nvSpPr>
        <p:spPr>
          <a:xfrm>
            <a:off x="6002425" y="3396353"/>
            <a:ext cx="958981" cy="958981"/>
          </a:xfrm>
          <a:prstGeom prst="ellipse">
            <a:avLst/>
          </a:prstGeom>
          <a:solidFill>
            <a:schemeClr val="bg1">
              <a:alpha val="43000"/>
            </a:schemeClr>
          </a:solidFill>
          <a:ln w="12700" cmpd="sng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1 6"/>
          <p:cNvCxnSpPr/>
          <p:nvPr/>
        </p:nvCxnSpPr>
        <p:spPr>
          <a:xfrm>
            <a:off x="6002425" y="3884706"/>
            <a:ext cx="489516" cy="14941"/>
          </a:xfrm>
          <a:prstGeom prst="line">
            <a:avLst/>
          </a:prstGeom>
          <a:ln w="1270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6491941" y="3757706"/>
            <a:ext cx="469465" cy="141941"/>
          </a:xfrm>
          <a:prstGeom prst="line">
            <a:avLst/>
          </a:prstGeom>
          <a:ln w="1270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e 9"/>
          <p:cNvSpPr/>
          <p:nvPr/>
        </p:nvSpPr>
        <p:spPr>
          <a:xfrm>
            <a:off x="6453649" y="3854822"/>
            <a:ext cx="82177" cy="82177"/>
          </a:xfrm>
          <a:prstGeom prst="ellipse">
            <a:avLst/>
          </a:prstGeom>
          <a:solidFill>
            <a:srgbClr val="FFFFFF"/>
          </a:solidFill>
          <a:ln w="19050" cmpd="sng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/>
          <p:cNvSpPr/>
          <p:nvPr/>
        </p:nvSpPr>
        <p:spPr>
          <a:xfrm>
            <a:off x="1035444" y="2483579"/>
            <a:ext cx="515528" cy="515528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 cmpd="sng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8000"/>
              </a:solidFill>
            </a:endParaRPr>
          </a:p>
        </p:txBody>
      </p:sp>
      <p:cxnSp>
        <p:nvCxnSpPr>
          <p:cNvPr id="12" name="Connettore 1 11"/>
          <p:cNvCxnSpPr>
            <a:endCxn id="11" idx="6"/>
          </p:cNvCxnSpPr>
          <p:nvPr/>
        </p:nvCxnSpPr>
        <p:spPr>
          <a:xfrm>
            <a:off x="1268027" y="2731692"/>
            <a:ext cx="282945" cy="9651"/>
          </a:xfrm>
          <a:prstGeom prst="line">
            <a:avLst/>
          </a:prstGeom>
          <a:ln w="1270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/>
          <p:cNvCxnSpPr>
            <a:endCxn id="14" idx="6"/>
          </p:cNvCxnSpPr>
          <p:nvPr/>
        </p:nvCxnSpPr>
        <p:spPr>
          <a:xfrm>
            <a:off x="1306319" y="2723776"/>
            <a:ext cx="7427" cy="14491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e 13"/>
          <p:cNvSpPr/>
          <p:nvPr/>
        </p:nvSpPr>
        <p:spPr>
          <a:xfrm>
            <a:off x="1268027" y="2715407"/>
            <a:ext cx="45719" cy="45719"/>
          </a:xfrm>
          <a:prstGeom prst="ellipse">
            <a:avLst/>
          </a:prstGeom>
          <a:solidFill>
            <a:srgbClr val="FFFFFF"/>
          </a:solidFill>
          <a:ln w="19050" cmpd="sng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8000"/>
              </a:solidFill>
            </a:endParaRPr>
          </a:p>
        </p:txBody>
      </p:sp>
      <p:cxnSp>
        <p:nvCxnSpPr>
          <p:cNvPr id="18" name="Connettore 1 17"/>
          <p:cNvCxnSpPr>
            <a:stCxn id="11" idx="2"/>
            <a:endCxn id="14" idx="6"/>
          </p:cNvCxnSpPr>
          <p:nvPr/>
        </p:nvCxnSpPr>
        <p:spPr>
          <a:xfrm flipV="1">
            <a:off x="1035444" y="2738267"/>
            <a:ext cx="278302" cy="3076"/>
          </a:xfrm>
          <a:prstGeom prst="line">
            <a:avLst/>
          </a:prstGeom>
          <a:ln w="1270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3"/>
          <p:cNvSpPr txBox="1">
            <a:spLocks noChangeArrowheads="1"/>
          </p:cNvSpPr>
          <p:nvPr/>
        </p:nvSpPr>
        <p:spPr bwMode="auto">
          <a:xfrm>
            <a:off x="6289555" y="3595978"/>
            <a:ext cx="3378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it-IT" sz="3000" dirty="0">
                <a:solidFill>
                  <a:srgbClr val="FF0000"/>
                </a:solidFill>
                <a:latin typeface="Zapf Dingbats" charset="0"/>
                <a:cs typeface="Zapf Dingbats" charset="0"/>
              </a:rPr>
              <a:t>✗</a:t>
            </a:r>
            <a:endParaRPr lang="it-IT" sz="3000" dirty="0">
              <a:solidFill>
                <a:srgbClr val="FF0000"/>
              </a:solidFill>
            </a:endParaRPr>
          </a:p>
        </p:txBody>
      </p:sp>
      <p:sp>
        <p:nvSpPr>
          <p:cNvPr id="16" name="CasellaDiTesto 4"/>
          <p:cNvSpPr txBox="1">
            <a:spLocks noChangeArrowheads="1"/>
          </p:cNvSpPr>
          <p:nvPr/>
        </p:nvSpPr>
        <p:spPr bwMode="auto">
          <a:xfrm>
            <a:off x="1145774" y="2483600"/>
            <a:ext cx="3782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it-IT" sz="2000" dirty="0">
                <a:solidFill>
                  <a:srgbClr val="008000"/>
                </a:solidFill>
                <a:latin typeface="Zapf Dingbats" charset="0"/>
                <a:cs typeface="Zapf Dingbats" charset="0"/>
                <a:sym typeface="Zapf Dingbats" charset="0"/>
              </a:rPr>
              <a:t>✓</a:t>
            </a:r>
            <a:endParaRPr lang="it-IT" sz="2000" dirty="0">
              <a:solidFill>
                <a:srgbClr val="008000"/>
              </a:solidFill>
            </a:endParaRPr>
          </a:p>
        </p:txBody>
      </p:sp>
      <p:grpSp>
        <p:nvGrpSpPr>
          <p:cNvPr id="5" name="Gruppo 4"/>
          <p:cNvGrpSpPr/>
          <p:nvPr/>
        </p:nvGrpSpPr>
        <p:grpSpPr>
          <a:xfrm>
            <a:off x="5979074" y="3712473"/>
            <a:ext cx="994232" cy="209172"/>
            <a:chOff x="5979074" y="3712473"/>
            <a:chExt cx="994232" cy="209172"/>
          </a:xfrm>
        </p:grpSpPr>
        <p:sp>
          <p:nvSpPr>
            <p:cNvPr id="17" name="Ovale 16"/>
            <p:cNvSpPr/>
            <p:nvPr/>
          </p:nvSpPr>
          <p:spPr>
            <a:xfrm>
              <a:off x="6891129" y="3712473"/>
              <a:ext cx="82177" cy="82177"/>
            </a:xfrm>
            <a:prstGeom prst="ellipse">
              <a:avLst/>
            </a:prstGeom>
            <a:solidFill>
              <a:srgbClr val="FFFFFF"/>
            </a:solidFill>
            <a:ln w="19050" cmpd="sng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Ovale 18"/>
            <p:cNvSpPr/>
            <p:nvPr/>
          </p:nvSpPr>
          <p:spPr>
            <a:xfrm>
              <a:off x="5979074" y="3839468"/>
              <a:ext cx="82177" cy="82177"/>
            </a:xfrm>
            <a:prstGeom prst="ellipse">
              <a:avLst/>
            </a:prstGeom>
            <a:solidFill>
              <a:srgbClr val="FFFFFF"/>
            </a:solidFill>
            <a:ln w="19050" cmpd="sng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9" name="Gruppo 8"/>
          <p:cNvGrpSpPr/>
          <p:nvPr/>
        </p:nvGrpSpPr>
        <p:grpSpPr>
          <a:xfrm>
            <a:off x="1005900" y="2698598"/>
            <a:ext cx="580927" cy="84492"/>
            <a:chOff x="1005900" y="2698598"/>
            <a:chExt cx="580927" cy="84492"/>
          </a:xfrm>
        </p:grpSpPr>
        <p:sp>
          <p:nvSpPr>
            <p:cNvPr id="20" name="Ovale 19"/>
            <p:cNvSpPr/>
            <p:nvPr/>
          </p:nvSpPr>
          <p:spPr>
            <a:xfrm>
              <a:off x="1005900" y="2698598"/>
              <a:ext cx="82177" cy="82177"/>
            </a:xfrm>
            <a:prstGeom prst="ellipse">
              <a:avLst/>
            </a:prstGeom>
            <a:solidFill>
              <a:srgbClr val="FFFFFF"/>
            </a:solidFill>
            <a:ln w="19050" cmpd="sng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Ovale 20"/>
            <p:cNvSpPr/>
            <p:nvPr/>
          </p:nvSpPr>
          <p:spPr>
            <a:xfrm>
              <a:off x="1504650" y="2700913"/>
              <a:ext cx="82177" cy="82177"/>
            </a:xfrm>
            <a:prstGeom prst="ellipse">
              <a:avLst/>
            </a:prstGeom>
            <a:solidFill>
              <a:srgbClr val="FFFFFF"/>
            </a:solidFill>
            <a:ln w="19050" cmpd="sng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411344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4" grpId="0" animBg="1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1_2_con occlusion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226BC2"/>
                </a:solidFill>
                <a:cs typeface="Calibri"/>
              </a:rPr>
              <a:t>Skeleton</a:t>
            </a:r>
            <a:r>
              <a:rPr lang="it-IT" sz="3200" dirty="0">
                <a:solidFill>
                  <a:srgbClr val="226BC2"/>
                </a:solidFill>
                <a:cs typeface="Calibri"/>
              </a:rPr>
              <a:t> 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1474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1_3_punti ross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226BC2"/>
                </a:solidFill>
                <a:cs typeface="Calibri"/>
              </a:rPr>
              <a:t>Skeleton</a:t>
            </a:r>
            <a:r>
              <a:rPr lang="it-IT" sz="3200" dirty="0">
                <a:solidFill>
                  <a:srgbClr val="226BC2"/>
                </a:solidFill>
                <a:cs typeface="Calibri"/>
              </a:rPr>
              <a:t> 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0031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1_4_final filteri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96"/>
            <a:ext cx="9144000" cy="3980008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226BC2"/>
                </a:solidFill>
                <a:cs typeface="Calibri"/>
              </a:rPr>
              <a:t>Skeleton</a:t>
            </a:r>
            <a:r>
              <a:rPr lang="it-IT" sz="3200" dirty="0">
                <a:solidFill>
                  <a:srgbClr val="226BC2"/>
                </a:solidFill>
                <a:cs typeface="Calibri"/>
              </a:rPr>
              <a:t> 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filtering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  <p:grpSp>
        <p:nvGrpSpPr>
          <p:cNvPr id="17" name="Gruppo 16"/>
          <p:cNvGrpSpPr/>
          <p:nvPr/>
        </p:nvGrpSpPr>
        <p:grpSpPr>
          <a:xfrm>
            <a:off x="120312" y="5543839"/>
            <a:ext cx="8927208" cy="553998"/>
            <a:chOff x="8691" y="3053252"/>
            <a:chExt cx="8927208" cy="553998"/>
          </a:xfrm>
        </p:grpSpPr>
        <p:cxnSp>
          <p:nvCxnSpPr>
            <p:cNvPr id="18" name="Connettore 1 17"/>
            <p:cNvCxnSpPr/>
            <p:nvPr/>
          </p:nvCxnSpPr>
          <p:spPr bwMode="auto">
            <a:xfrm>
              <a:off x="1444345" y="3319952"/>
              <a:ext cx="6206438" cy="0"/>
            </a:xfrm>
            <a:prstGeom prst="line">
              <a:avLst/>
            </a:prstGeom>
            <a:ln w="57150" cmpd="sng">
              <a:solidFill>
                <a:srgbClr val="226BC2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sellaDiTesto 18"/>
            <p:cNvSpPr txBox="1"/>
            <p:nvPr/>
          </p:nvSpPr>
          <p:spPr bwMode="auto">
            <a:xfrm>
              <a:off x="8691" y="3053252"/>
              <a:ext cx="180764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it-IT" sz="1400" dirty="0">
                  <a:solidFill>
                    <a:srgbClr val="226BC2"/>
                  </a:solidFill>
                </a:rPr>
                <a:t>MIN</a:t>
              </a:r>
            </a:p>
            <a:p>
              <a:pPr algn="ctr">
                <a:defRPr/>
              </a:pPr>
              <a:r>
                <a:rPr lang="it-IT" sz="1600" dirty="0">
                  <a:solidFill>
                    <a:srgbClr val="226BC2"/>
                  </a:solidFill>
                </a:rPr>
                <a:t>OCCLUSION</a:t>
              </a:r>
              <a:endParaRPr lang="it-IT" sz="1400" dirty="0">
                <a:solidFill>
                  <a:srgbClr val="226BC2"/>
                </a:solidFill>
              </a:endParaRPr>
            </a:p>
          </p:txBody>
        </p:sp>
        <p:sp>
          <p:nvSpPr>
            <p:cNvPr id="20" name="CasellaDiTesto 17"/>
            <p:cNvSpPr txBox="1">
              <a:spLocks noChangeArrowheads="1"/>
            </p:cNvSpPr>
            <p:nvPr/>
          </p:nvSpPr>
          <p:spPr bwMode="auto">
            <a:xfrm>
              <a:off x="7318570" y="3058598"/>
              <a:ext cx="1617329" cy="523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/>
              <a:r>
                <a:rPr lang="it-IT" sz="1400" dirty="0">
                  <a:solidFill>
                    <a:srgbClr val="226BC2"/>
                  </a:solidFill>
                </a:rPr>
                <a:t>MAX</a:t>
              </a:r>
            </a:p>
            <a:p>
              <a:pPr algn="ctr" eaLnBrk="1" hangingPunct="1"/>
              <a:r>
                <a:rPr lang="it-IT" sz="1400" dirty="0">
                  <a:solidFill>
                    <a:srgbClr val="226BC2"/>
                  </a:solidFill>
                </a:rPr>
                <a:t>OCCLUSION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6628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 descr="hand_clou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58" y="1533404"/>
            <a:ext cx="2152381" cy="2880000"/>
          </a:xfrm>
          <a:prstGeom prst="rect">
            <a:avLst/>
          </a:prstGeom>
        </p:spPr>
      </p:pic>
      <p:pic>
        <p:nvPicPr>
          <p:cNvPr id="6" name="Immagine 5" descr="1_4_final filtering 2 copi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21" y="3751601"/>
            <a:ext cx="6443579" cy="2959347"/>
          </a:xfrm>
          <a:prstGeom prst="rect">
            <a:avLst/>
          </a:prstGeom>
        </p:spPr>
      </p:pic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Back-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projection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pic>
        <p:nvPicPr>
          <p:cNvPr id="5" name="Immagine 4" descr="Schermata 05-2456435 alle 16.50.0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75" y="1014064"/>
            <a:ext cx="1488869" cy="2007717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>
            <a:off x="2852342" y="5013674"/>
            <a:ext cx="1598706" cy="503199"/>
          </a:xfrm>
          <a:prstGeom prst="line">
            <a:avLst/>
          </a:prstGeom>
          <a:ln w="127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>
            <a:off x="5124824" y="5724802"/>
            <a:ext cx="1613647" cy="0"/>
          </a:xfrm>
          <a:prstGeom prst="line">
            <a:avLst/>
          </a:prstGeom>
          <a:ln w="127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/>
          <p:cNvCxnSpPr/>
          <p:nvPr/>
        </p:nvCxnSpPr>
        <p:spPr>
          <a:xfrm flipV="1">
            <a:off x="7375938" y="5009577"/>
            <a:ext cx="1586096" cy="509247"/>
          </a:xfrm>
          <a:prstGeom prst="line">
            <a:avLst/>
          </a:prstGeom>
          <a:ln w="127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/>
          <p:cNvCxnSpPr/>
          <p:nvPr/>
        </p:nvCxnSpPr>
        <p:spPr>
          <a:xfrm flipV="1">
            <a:off x="3697111" y="3121378"/>
            <a:ext cx="2184400" cy="2156180"/>
          </a:xfrm>
          <a:prstGeom prst="line">
            <a:avLst/>
          </a:prstGeom>
          <a:ln w="12700" cmpd="sng"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19"/>
          <p:cNvCxnSpPr/>
          <p:nvPr/>
        </p:nvCxnSpPr>
        <p:spPr>
          <a:xfrm flipH="1" flipV="1">
            <a:off x="5881511" y="3121378"/>
            <a:ext cx="50800" cy="2603424"/>
          </a:xfrm>
          <a:prstGeom prst="line">
            <a:avLst/>
          </a:prstGeom>
          <a:ln w="12700" cmpd="sng"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/>
          <p:cNvCxnSpPr/>
          <p:nvPr/>
        </p:nvCxnSpPr>
        <p:spPr>
          <a:xfrm flipH="1" flipV="1">
            <a:off x="5881511" y="3121378"/>
            <a:ext cx="2235200" cy="2156179"/>
          </a:xfrm>
          <a:prstGeom prst="line">
            <a:avLst/>
          </a:prstGeom>
          <a:ln w="12700" cmpd="sng"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e 37"/>
          <p:cNvSpPr/>
          <p:nvPr/>
        </p:nvSpPr>
        <p:spPr>
          <a:xfrm>
            <a:off x="5852481" y="3099607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/>
          <p:cNvSpPr/>
          <p:nvPr/>
        </p:nvSpPr>
        <p:spPr>
          <a:xfrm>
            <a:off x="3672516" y="5245709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/>
          <p:cNvSpPr/>
          <p:nvPr/>
        </p:nvSpPr>
        <p:spPr>
          <a:xfrm>
            <a:off x="5904894" y="5692149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/>
          <p:cNvSpPr/>
          <p:nvPr/>
        </p:nvSpPr>
        <p:spPr>
          <a:xfrm>
            <a:off x="8088892" y="5251757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3" name="Immagine 22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689" y="3799226"/>
            <a:ext cx="198000" cy="288000"/>
          </a:xfrm>
          <a:prstGeom prst="rect">
            <a:avLst/>
          </a:prstGeom>
        </p:spPr>
      </p:pic>
      <p:pic>
        <p:nvPicPr>
          <p:cNvPr id="24" name="Immagine 23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619" y="4048086"/>
            <a:ext cx="198000" cy="288000"/>
          </a:xfrm>
          <a:prstGeom prst="rect">
            <a:avLst/>
          </a:prstGeom>
        </p:spPr>
      </p:pic>
      <p:pic>
        <p:nvPicPr>
          <p:cNvPr id="26" name="Immagine 25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119" y="2928107"/>
            <a:ext cx="180000" cy="216000"/>
          </a:xfrm>
          <a:prstGeom prst="rect">
            <a:avLst/>
          </a:prstGeom>
        </p:spPr>
      </p:pic>
      <p:pic>
        <p:nvPicPr>
          <p:cNvPr id="27" name="Immagine 26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788" y="1458884"/>
            <a:ext cx="1155700" cy="1273478"/>
          </a:xfrm>
          <a:prstGeom prst="rect">
            <a:avLst/>
          </a:prstGeom>
        </p:spPr>
      </p:pic>
      <p:pic>
        <p:nvPicPr>
          <p:cNvPr id="28" name="Immagine 27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038" y="3655226"/>
            <a:ext cx="234000" cy="288000"/>
          </a:xfrm>
          <a:prstGeom prst="rect">
            <a:avLst/>
          </a:prstGeom>
        </p:spPr>
      </p:pic>
      <p:pic>
        <p:nvPicPr>
          <p:cNvPr id="9" name="Immagine 8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513" y="5534699"/>
            <a:ext cx="3048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43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magine 44" descr="ksdjnv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907" y="1525210"/>
            <a:ext cx="2167619" cy="2880000"/>
          </a:xfrm>
          <a:prstGeom prst="rect">
            <a:avLst/>
          </a:prstGeom>
        </p:spPr>
      </p:pic>
      <p:pic>
        <p:nvPicPr>
          <p:cNvPr id="6" name="Immagine 5" descr="1_4_final filtering 2 copi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21" y="3751601"/>
            <a:ext cx="6443579" cy="2959347"/>
          </a:xfrm>
          <a:prstGeom prst="rect">
            <a:avLst/>
          </a:prstGeom>
        </p:spPr>
      </p:pic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rgbClr val="226BC2"/>
                </a:solidFill>
                <a:cs typeface="Calibri"/>
              </a:rPr>
              <a:t>Back-</a:t>
            </a:r>
            <a:r>
              <a:rPr lang="it-IT" sz="3200" dirty="0" err="1">
                <a:solidFill>
                  <a:srgbClr val="226BC2"/>
                </a:solidFill>
                <a:cs typeface="Calibri"/>
              </a:rPr>
              <a:t>projection</a:t>
            </a:r>
            <a:endParaRPr lang="it-IT" sz="3200" dirty="0">
              <a:solidFill>
                <a:srgbClr val="226BC2"/>
              </a:solidFill>
              <a:cs typeface="Calibri"/>
            </a:endParaRPr>
          </a:p>
        </p:txBody>
      </p:sp>
      <p:pic>
        <p:nvPicPr>
          <p:cNvPr id="5" name="Immagine 4" descr="Schermata 05-2456435 alle 16.50.0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75" y="1014064"/>
            <a:ext cx="1488869" cy="2007717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>
            <a:off x="2852342" y="5013674"/>
            <a:ext cx="1598706" cy="503199"/>
          </a:xfrm>
          <a:prstGeom prst="line">
            <a:avLst/>
          </a:prstGeom>
          <a:ln w="127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>
            <a:off x="5124824" y="5724802"/>
            <a:ext cx="1613647" cy="0"/>
          </a:xfrm>
          <a:prstGeom prst="line">
            <a:avLst/>
          </a:prstGeom>
          <a:ln w="127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/>
          <p:cNvCxnSpPr/>
          <p:nvPr/>
        </p:nvCxnSpPr>
        <p:spPr>
          <a:xfrm flipV="1">
            <a:off x="7375938" y="5009577"/>
            <a:ext cx="1586096" cy="509247"/>
          </a:xfrm>
          <a:prstGeom prst="line">
            <a:avLst/>
          </a:prstGeom>
          <a:ln w="1270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/>
          <p:cNvCxnSpPr/>
          <p:nvPr/>
        </p:nvCxnSpPr>
        <p:spPr>
          <a:xfrm flipV="1">
            <a:off x="3697111" y="3121378"/>
            <a:ext cx="2184400" cy="2156180"/>
          </a:xfrm>
          <a:prstGeom prst="line">
            <a:avLst/>
          </a:prstGeom>
          <a:ln w="12700" cmpd="sng"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19"/>
          <p:cNvCxnSpPr/>
          <p:nvPr/>
        </p:nvCxnSpPr>
        <p:spPr>
          <a:xfrm flipH="1" flipV="1">
            <a:off x="5881511" y="3121378"/>
            <a:ext cx="50800" cy="2603424"/>
          </a:xfrm>
          <a:prstGeom prst="line">
            <a:avLst/>
          </a:prstGeom>
          <a:ln w="12700" cmpd="sng"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/>
          <p:cNvCxnSpPr/>
          <p:nvPr/>
        </p:nvCxnSpPr>
        <p:spPr>
          <a:xfrm flipH="1" flipV="1">
            <a:off x="5881511" y="3121378"/>
            <a:ext cx="2235200" cy="2156179"/>
          </a:xfrm>
          <a:prstGeom prst="line">
            <a:avLst/>
          </a:prstGeom>
          <a:ln w="12700" cmpd="sng"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e 37"/>
          <p:cNvSpPr/>
          <p:nvPr/>
        </p:nvSpPr>
        <p:spPr>
          <a:xfrm>
            <a:off x="5852481" y="3099607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/>
          <p:cNvSpPr/>
          <p:nvPr/>
        </p:nvSpPr>
        <p:spPr>
          <a:xfrm>
            <a:off x="3672516" y="5245709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/>
          <p:cNvSpPr/>
          <p:nvPr/>
        </p:nvSpPr>
        <p:spPr>
          <a:xfrm>
            <a:off x="5904894" y="5692149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/>
          <p:cNvSpPr/>
          <p:nvPr/>
        </p:nvSpPr>
        <p:spPr>
          <a:xfrm>
            <a:off x="8088892" y="5251757"/>
            <a:ext cx="55638" cy="55638"/>
          </a:xfrm>
          <a:prstGeom prst="ellipse">
            <a:avLst/>
          </a:prstGeom>
          <a:solidFill>
            <a:srgbClr val="226BC2"/>
          </a:solidFill>
          <a:ln>
            <a:solidFill>
              <a:srgbClr val="22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0" name="Immagine 49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689" y="3799226"/>
            <a:ext cx="198000" cy="288000"/>
          </a:xfrm>
          <a:prstGeom prst="rect">
            <a:avLst/>
          </a:prstGeom>
        </p:spPr>
      </p:pic>
      <p:pic>
        <p:nvPicPr>
          <p:cNvPr id="51" name="Immagine 50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619" y="4048086"/>
            <a:ext cx="198000" cy="288000"/>
          </a:xfrm>
          <a:prstGeom prst="rect">
            <a:avLst/>
          </a:prstGeom>
        </p:spPr>
      </p:pic>
      <p:pic>
        <p:nvPicPr>
          <p:cNvPr id="53" name="Immagine 52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119" y="2928107"/>
            <a:ext cx="180000" cy="216000"/>
          </a:xfrm>
          <a:prstGeom prst="rect">
            <a:avLst/>
          </a:prstGeom>
        </p:spPr>
      </p:pic>
      <p:pic>
        <p:nvPicPr>
          <p:cNvPr id="55" name="Immagine 54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788" y="1458884"/>
            <a:ext cx="1155700" cy="1273478"/>
          </a:xfrm>
          <a:prstGeom prst="rect">
            <a:avLst/>
          </a:prstGeom>
        </p:spPr>
      </p:pic>
      <p:pic>
        <p:nvPicPr>
          <p:cNvPr id="56" name="Immagine 55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038" y="3655226"/>
            <a:ext cx="234000" cy="288000"/>
          </a:xfrm>
          <a:prstGeom prst="rect">
            <a:avLst/>
          </a:prstGeom>
        </p:spPr>
      </p:pic>
      <p:pic>
        <p:nvPicPr>
          <p:cNvPr id="57" name="Immagine 56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513" y="5534699"/>
            <a:ext cx="3048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18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rgbClr val="226BC2"/>
                </a:solidFill>
                <a:latin typeface="Calibri"/>
                <a:cs typeface="Calibri"/>
              </a:rPr>
              <a:t>Curve </a:t>
            </a:r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Reconstruction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pic>
        <p:nvPicPr>
          <p:cNvPr id="5" name="Immagine 4" descr="olympics_clou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7" y="4394496"/>
            <a:ext cx="3031943" cy="1440000"/>
          </a:xfrm>
          <a:prstGeom prst="rect">
            <a:avLst/>
          </a:prstGeom>
        </p:spPr>
      </p:pic>
      <p:pic>
        <p:nvPicPr>
          <p:cNvPr id="6" name="Immagine 5" descr="olympic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158" y="4394496"/>
            <a:ext cx="3065242" cy="1440000"/>
          </a:xfrm>
          <a:prstGeom prst="rect">
            <a:avLst/>
          </a:prstGeom>
        </p:spPr>
      </p:pic>
      <p:pic>
        <p:nvPicPr>
          <p:cNvPr id="3" name="Immagine 2" descr="hand_clou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46" y="1365250"/>
            <a:ext cx="1621433" cy="2160000"/>
          </a:xfrm>
          <a:prstGeom prst="rect">
            <a:avLst/>
          </a:prstGeom>
        </p:spPr>
      </p:pic>
      <p:pic>
        <p:nvPicPr>
          <p:cNvPr id="4" name="Immagine 3" descr="hand_goo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754" y="1365250"/>
            <a:ext cx="1583071" cy="2160000"/>
          </a:xfrm>
          <a:prstGeom prst="rect">
            <a:avLst/>
          </a:prstGeom>
        </p:spPr>
      </p:pic>
      <p:grpSp>
        <p:nvGrpSpPr>
          <p:cNvPr id="27" name="Gruppo 26"/>
          <p:cNvGrpSpPr/>
          <p:nvPr/>
        </p:nvGrpSpPr>
        <p:grpSpPr>
          <a:xfrm>
            <a:off x="1645984" y="1419225"/>
            <a:ext cx="2927395" cy="2160000"/>
            <a:chOff x="1645984" y="1419225"/>
            <a:chExt cx="2927395" cy="2160000"/>
          </a:xfrm>
        </p:grpSpPr>
        <p:pic>
          <p:nvPicPr>
            <p:cNvPr id="2" name="Immagine 1" descr="2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379" y="1419225"/>
              <a:ext cx="2160000" cy="2160000"/>
            </a:xfrm>
            <a:prstGeom prst="rect">
              <a:avLst/>
            </a:prstGeom>
            <a:ln>
              <a:solidFill>
                <a:srgbClr val="4F81BD"/>
              </a:solidFill>
            </a:ln>
          </p:spPr>
        </p:pic>
        <p:sp>
          <p:nvSpPr>
            <p:cNvPr id="17" name="Rettangolo 16"/>
            <p:cNvSpPr/>
            <p:nvPr/>
          </p:nvSpPr>
          <p:spPr>
            <a:xfrm>
              <a:off x="1645984" y="2190749"/>
              <a:ext cx="477479" cy="492126"/>
            </a:xfrm>
            <a:prstGeom prst="rect">
              <a:avLst/>
            </a:prstGeom>
            <a:noFill/>
            <a:ln>
              <a:solidFill>
                <a:srgbClr val="226B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9" name="Gruppo 28"/>
          <p:cNvGrpSpPr/>
          <p:nvPr/>
        </p:nvGrpSpPr>
        <p:grpSpPr>
          <a:xfrm>
            <a:off x="2381629" y="3981450"/>
            <a:ext cx="2230041" cy="2160000"/>
            <a:chOff x="2381629" y="3981450"/>
            <a:chExt cx="2230041" cy="2160000"/>
          </a:xfrm>
        </p:grpSpPr>
        <p:pic>
          <p:nvPicPr>
            <p:cNvPr id="23" name="Immagine 22" descr="12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6499" y="3981450"/>
              <a:ext cx="1125171" cy="2160000"/>
            </a:xfrm>
            <a:prstGeom prst="rect">
              <a:avLst/>
            </a:prstGeom>
            <a:ln>
              <a:solidFill>
                <a:srgbClr val="4F81BD"/>
              </a:solidFill>
            </a:ln>
          </p:spPr>
        </p:pic>
        <p:sp>
          <p:nvSpPr>
            <p:cNvPr id="25" name="Rettangolo 24"/>
            <p:cNvSpPr/>
            <p:nvPr/>
          </p:nvSpPr>
          <p:spPr>
            <a:xfrm>
              <a:off x="2381629" y="4851398"/>
              <a:ext cx="477479" cy="887847"/>
            </a:xfrm>
            <a:prstGeom prst="rect">
              <a:avLst/>
            </a:prstGeom>
            <a:noFill/>
            <a:ln>
              <a:solidFill>
                <a:srgbClr val="226B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1" name="Gruppo 30"/>
          <p:cNvGrpSpPr/>
          <p:nvPr/>
        </p:nvGrpSpPr>
        <p:grpSpPr>
          <a:xfrm>
            <a:off x="2667000" y="1419225"/>
            <a:ext cx="6002554" cy="4722225"/>
            <a:chOff x="2667000" y="1419225"/>
            <a:chExt cx="6002554" cy="4722225"/>
          </a:xfrm>
        </p:grpSpPr>
        <p:sp>
          <p:nvSpPr>
            <p:cNvPr id="16" name="CasellaDiTesto 15"/>
            <p:cNvSpPr txBox="1"/>
            <p:nvPr/>
          </p:nvSpPr>
          <p:spPr>
            <a:xfrm>
              <a:off x="2667000" y="3623733"/>
              <a:ext cx="3841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 smtClean="0"/>
                <a:t>1D </a:t>
              </a:r>
              <a:r>
                <a:rPr lang="it-IT" sz="1400" dirty="0" err="1" smtClean="0"/>
                <a:t>Moving</a:t>
              </a:r>
              <a:r>
                <a:rPr lang="it-IT" sz="1400" dirty="0" smtClean="0"/>
                <a:t> </a:t>
              </a:r>
              <a:r>
                <a:rPr lang="it-IT" sz="1400" dirty="0" err="1" smtClean="0"/>
                <a:t>Least</a:t>
              </a:r>
              <a:r>
                <a:rPr lang="it-IT" sz="1400" dirty="0" smtClean="0"/>
                <a:t> </a:t>
              </a:r>
              <a:r>
                <a:rPr lang="it-IT" sz="1400" dirty="0" err="1" smtClean="0"/>
                <a:t>Squares</a:t>
              </a:r>
              <a:r>
                <a:rPr lang="it-IT" sz="1400" dirty="0" smtClean="0"/>
                <a:t> [Lee, 2000]</a:t>
              </a:r>
              <a:endParaRPr lang="it-IT" sz="1400" dirty="0"/>
            </a:p>
          </p:txBody>
        </p:sp>
        <p:grpSp>
          <p:nvGrpSpPr>
            <p:cNvPr id="28" name="Gruppo 27"/>
            <p:cNvGrpSpPr/>
            <p:nvPr/>
          </p:nvGrpSpPr>
          <p:grpSpPr>
            <a:xfrm>
              <a:off x="4588254" y="1419225"/>
              <a:ext cx="4081300" cy="2160000"/>
              <a:chOff x="4588254" y="1419225"/>
              <a:chExt cx="4081300" cy="2160000"/>
            </a:xfrm>
          </p:grpSpPr>
          <p:pic>
            <p:nvPicPr>
              <p:cNvPr id="9" name="Immagine 8" descr="1.png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8254" y="1419225"/>
                <a:ext cx="2160000" cy="2160000"/>
              </a:xfrm>
              <a:prstGeom prst="rect">
                <a:avLst/>
              </a:prstGeom>
              <a:ln>
                <a:solidFill>
                  <a:srgbClr val="4F81BD"/>
                </a:solidFill>
              </a:ln>
            </p:spPr>
          </p:pic>
          <p:sp>
            <p:nvSpPr>
              <p:cNvPr id="18" name="Rettangolo 17"/>
              <p:cNvSpPr/>
              <p:nvPr/>
            </p:nvSpPr>
            <p:spPr>
              <a:xfrm>
                <a:off x="8192075" y="2190749"/>
                <a:ext cx="477479" cy="492126"/>
              </a:xfrm>
              <a:prstGeom prst="rect">
                <a:avLst/>
              </a:prstGeom>
              <a:noFill/>
              <a:ln>
                <a:solidFill>
                  <a:srgbClr val="226BC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30" name="Gruppo 29"/>
            <p:cNvGrpSpPr/>
            <p:nvPr/>
          </p:nvGrpSpPr>
          <p:grpSpPr>
            <a:xfrm>
              <a:off x="4589254" y="3981450"/>
              <a:ext cx="3997679" cy="2160000"/>
              <a:chOff x="4589254" y="3981450"/>
              <a:chExt cx="3997679" cy="2160000"/>
            </a:xfrm>
          </p:grpSpPr>
          <p:pic>
            <p:nvPicPr>
              <p:cNvPr id="24" name="Immagine 23" descr="1.pn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9254" y="3981450"/>
                <a:ext cx="1125171" cy="2160000"/>
              </a:xfrm>
              <a:prstGeom prst="rect">
                <a:avLst/>
              </a:prstGeom>
              <a:ln>
                <a:solidFill>
                  <a:srgbClr val="4F81BD"/>
                </a:solidFill>
              </a:ln>
            </p:spPr>
          </p:pic>
          <p:sp>
            <p:nvSpPr>
              <p:cNvPr id="26" name="Rettangolo 25"/>
              <p:cNvSpPr/>
              <p:nvPr/>
            </p:nvSpPr>
            <p:spPr>
              <a:xfrm>
                <a:off x="8109454" y="4851398"/>
                <a:ext cx="477479" cy="887847"/>
              </a:xfrm>
              <a:prstGeom prst="rect">
                <a:avLst/>
              </a:prstGeom>
              <a:noFill/>
              <a:ln>
                <a:solidFill>
                  <a:srgbClr val="226BC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7818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140094"/>
            <a:ext cx="63627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 smtClean="0">
                <a:solidFill>
                  <a:srgbClr val="226BC2"/>
                </a:solidFill>
                <a:latin typeface="Calibri"/>
                <a:cs typeface="Calibri"/>
              </a:rPr>
              <a:t>Conclusions</a:t>
            </a:r>
            <a:endParaRPr lang="it-IT" sz="3200" dirty="0">
              <a:solidFill>
                <a:srgbClr val="226BC2"/>
              </a:solidFill>
              <a:latin typeface="Calibri"/>
              <a:cs typeface="Calibri"/>
            </a:endParaRPr>
          </a:p>
        </p:txBody>
      </p:sp>
      <p:sp>
        <p:nvSpPr>
          <p:cNvPr id="4" name="CasellaDiTesto 1"/>
          <p:cNvSpPr txBox="1">
            <a:spLocks noChangeArrowheads="1"/>
          </p:cNvSpPr>
          <p:nvPr/>
        </p:nvSpPr>
        <p:spPr bwMode="auto">
          <a:xfrm>
            <a:off x="231774" y="1195388"/>
            <a:ext cx="5356225" cy="16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marL="342900" indent="-342900" eaLnBrk="1" hangingPunct="1">
              <a:lnSpc>
                <a:spcPct val="140000"/>
              </a:lnSpc>
              <a:buFont typeface="Arial"/>
              <a:buChar char="•"/>
            </a:pPr>
            <a:r>
              <a:rPr lang="it-IT" dirty="0" smtClean="0"/>
              <a:t>Silhouette </a:t>
            </a:r>
            <a:r>
              <a:rPr lang="it-IT" dirty="0" err="1" smtClean="0"/>
              <a:t>space</a:t>
            </a:r>
            <a:endParaRPr lang="it-IT" dirty="0" smtClean="0"/>
          </a:p>
          <a:p>
            <a:pPr marL="342900" indent="-342900" eaLnBrk="1" hangingPunct="1">
              <a:lnSpc>
                <a:spcPct val="140000"/>
              </a:lnSpc>
              <a:buFont typeface="Arial"/>
              <a:buChar char="•"/>
            </a:pPr>
            <a:r>
              <a:rPr lang="it-IT" i="1" dirty="0" smtClean="0">
                <a:solidFill>
                  <a:srgbClr val="1F5EAA"/>
                </a:solidFill>
              </a:rPr>
              <a:t>Format</a:t>
            </a:r>
            <a:r>
              <a:rPr lang="it-IT" dirty="0" smtClean="0">
                <a:solidFill>
                  <a:srgbClr val="1F5EAA"/>
                </a:solidFill>
              </a:rPr>
              <a:t> </a:t>
            </a:r>
            <a:r>
              <a:rPr lang="it-IT" dirty="0" err="1" smtClean="0"/>
              <a:t>independence</a:t>
            </a:r>
            <a:endParaRPr lang="it-IT" dirty="0" smtClean="0"/>
          </a:p>
          <a:p>
            <a:pPr marL="342900" indent="-342900" eaLnBrk="1" hangingPunct="1">
              <a:lnSpc>
                <a:spcPct val="140000"/>
              </a:lnSpc>
              <a:buFont typeface="Arial"/>
              <a:buChar char="•"/>
            </a:pPr>
            <a:r>
              <a:rPr lang="it-IT" i="1" dirty="0" err="1" smtClean="0">
                <a:solidFill>
                  <a:srgbClr val="226BC2"/>
                </a:solidFill>
              </a:rPr>
              <a:t>Resolution</a:t>
            </a:r>
            <a:r>
              <a:rPr lang="it-IT" dirty="0" smtClean="0">
                <a:solidFill>
                  <a:srgbClr val="226BC2"/>
                </a:solidFill>
              </a:rPr>
              <a:t> </a:t>
            </a:r>
            <a:r>
              <a:rPr lang="it-IT" dirty="0" err="1" smtClean="0"/>
              <a:t>independence</a:t>
            </a:r>
            <a:endParaRPr lang="it-IT" dirty="0" smtClean="0"/>
          </a:p>
        </p:txBody>
      </p:sp>
      <p:grpSp>
        <p:nvGrpSpPr>
          <p:cNvPr id="2" name="Gruppo 1"/>
          <p:cNvGrpSpPr/>
          <p:nvPr/>
        </p:nvGrpSpPr>
        <p:grpSpPr>
          <a:xfrm>
            <a:off x="98141" y="1030218"/>
            <a:ext cx="9006181" cy="5800316"/>
            <a:chOff x="98141" y="1030218"/>
            <a:chExt cx="9006181" cy="5800316"/>
          </a:xfrm>
        </p:grpSpPr>
        <p:pic>
          <p:nvPicPr>
            <p:cNvPr id="9" name="Immagine 8" descr="eight copia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4266">
              <a:off x="5348873" y="1034172"/>
              <a:ext cx="1417339" cy="2811604"/>
            </a:xfrm>
            <a:prstGeom prst="rect">
              <a:avLst/>
            </a:prstGeom>
          </p:spPr>
        </p:pic>
        <p:pic>
          <p:nvPicPr>
            <p:cNvPr id="10" name="Immagine 9" descr="knot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7519" y="3721387"/>
              <a:ext cx="1647407" cy="1644884"/>
            </a:xfrm>
            <a:prstGeom prst="rect">
              <a:avLst/>
            </a:prstGeom>
          </p:spPr>
        </p:pic>
        <p:pic>
          <p:nvPicPr>
            <p:cNvPr id="11" name="Immagine 10" descr="neptune_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9194">
              <a:off x="98141" y="3400779"/>
              <a:ext cx="1533717" cy="2765778"/>
            </a:xfrm>
            <a:prstGeom prst="rect">
              <a:avLst/>
            </a:prstGeom>
          </p:spPr>
        </p:pic>
        <p:pic>
          <p:nvPicPr>
            <p:cNvPr id="12" name="Immagine 11" descr="knot2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0511" y="3888965"/>
              <a:ext cx="1973811" cy="2423161"/>
            </a:xfrm>
            <a:prstGeom prst="rect">
              <a:avLst/>
            </a:prstGeom>
          </p:spPr>
        </p:pic>
        <p:pic>
          <p:nvPicPr>
            <p:cNvPr id="14" name="Immagine 13" descr="knot1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039808">
              <a:off x="2800820" y="5304429"/>
              <a:ext cx="1523504" cy="1491430"/>
            </a:xfrm>
            <a:prstGeom prst="rect">
              <a:avLst/>
            </a:prstGeom>
          </p:spPr>
        </p:pic>
        <p:pic>
          <p:nvPicPr>
            <p:cNvPr id="15" name="Immagine 14" descr="olivier_hand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4630" y="2999870"/>
              <a:ext cx="1382818" cy="2255276"/>
            </a:xfrm>
            <a:prstGeom prst="rect">
              <a:avLst/>
            </a:prstGeom>
          </p:spPr>
        </p:pic>
        <p:pic>
          <p:nvPicPr>
            <p:cNvPr id="16" name="Immagine 15" descr="spider_127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2723" y="4967867"/>
              <a:ext cx="1794448" cy="1862667"/>
            </a:xfrm>
            <a:prstGeom prst="rect">
              <a:avLst/>
            </a:prstGeom>
          </p:spPr>
        </p:pic>
        <p:pic>
          <p:nvPicPr>
            <p:cNvPr id="17" name="Immagine 16" descr="eight_noisy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20881">
              <a:off x="7027593" y="1030218"/>
              <a:ext cx="1387791" cy="28454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7818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/>
          <p:cNvSpPr txBox="1"/>
          <p:nvPr/>
        </p:nvSpPr>
        <p:spPr>
          <a:xfrm>
            <a:off x="0" y="3075057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dirty="0" err="1" smtClean="0">
                <a:solidFill>
                  <a:srgbClr val="226BC2"/>
                </a:solidFill>
                <a:latin typeface="Calibri"/>
                <a:cs typeface="Calibri"/>
              </a:rPr>
              <a:t>Questions</a:t>
            </a:r>
            <a:endParaRPr lang="it-IT" sz="4000" dirty="0" smtClean="0">
              <a:solidFill>
                <a:srgbClr val="226BC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4552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9036</TotalTime>
  <Words>266</Words>
  <Application>Microsoft Macintosh PowerPoint</Application>
  <PresentationFormat>Presentazione su schermo (4:3)</PresentationFormat>
  <Paragraphs>78</Paragraphs>
  <Slides>20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1" baseType="lpstr">
      <vt:lpstr>Tema di Office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</vt:vector>
  </TitlesOfParts>
  <Company>Università degli studi di Cagliari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Marco Livesu</dc:creator>
  <cp:lastModifiedBy>Marco Livesu</cp:lastModifiedBy>
  <cp:revision>265</cp:revision>
  <dcterms:created xsi:type="dcterms:W3CDTF">2013-05-14T20:22:44Z</dcterms:created>
  <dcterms:modified xsi:type="dcterms:W3CDTF">2013-06-13T14:08:56Z</dcterms:modified>
</cp:coreProperties>
</file>